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4"/>
  </p:notesMasterIdLst>
  <p:handoutMasterIdLst>
    <p:handoutMasterId r:id="rId65"/>
  </p:handoutMasterIdLst>
  <p:sldIdLst>
    <p:sldId id="256" r:id="rId2"/>
    <p:sldId id="257" r:id="rId3"/>
    <p:sldId id="293" r:id="rId4"/>
    <p:sldId id="294" r:id="rId5"/>
    <p:sldId id="346" r:id="rId6"/>
    <p:sldId id="347" r:id="rId7"/>
    <p:sldId id="348" r:id="rId8"/>
    <p:sldId id="295" r:id="rId9"/>
    <p:sldId id="296" r:id="rId10"/>
    <p:sldId id="297" r:id="rId11"/>
    <p:sldId id="298" r:id="rId12"/>
    <p:sldId id="299" r:id="rId13"/>
    <p:sldId id="300" r:id="rId14"/>
    <p:sldId id="301" r:id="rId15"/>
    <p:sldId id="302" r:id="rId16"/>
    <p:sldId id="303" r:id="rId17"/>
    <p:sldId id="304" r:id="rId18"/>
    <p:sldId id="305" r:id="rId19"/>
    <p:sldId id="306" r:id="rId20"/>
    <p:sldId id="307" r:id="rId21"/>
    <p:sldId id="349" r:id="rId22"/>
    <p:sldId id="308" r:id="rId23"/>
    <p:sldId id="309" r:id="rId24"/>
    <p:sldId id="310" r:id="rId25"/>
    <p:sldId id="311" r:id="rId26"/>
    <p:sldId id="312" r:id="rId27"/>
    <p:sldId id="313" r:id="rId28"/>
    <p:sldId id="314" r:id="rId29"/>
    <p:sldId id="315" r:id="rId30"/>
    <p:sldId id="316" r:id="rId31"/>
    <p:sldId id="317" r:id="rId32"/>
    <p:sldId id="318" r:id="rId33"/>
    <p:sldId id="319" r:id="rId34"/>
    <p:sldId id="320" r:id="rId35"/>
    <p:sldId id="321" r:id="rId36"/>
    <p:sldId id="322" r:id="rId37"/>
    <p:sldId id="323" r:id="rId38"/>
    <p:sldId id="324" r:id="rId39"/>
    <p:sldId id="325" r:id="rId40"/>
    <p:sldId id="326" r:id="rId41"/>
    <p:sldId id="327" r:id="rId42"/>
    <p:sldId id="328" r:id="rId43"/>
    <p:sldId id="329" r:id="rId44"/>
    <p:sldId id="330" r:id="rId45"/>
    <p:sldId id="331" r:id="rId46"/>
    <p:sldId id="332" r:id="rId47"/>
    <p:sldId id="333" r:id="rId48"/>
    <p:sldId id="334" r:id="rId49"/>
    <p:sldId id="335" r:id="rId50"/>
    <p:sldId id="336" r:id="rId51"/>
    <p:sldId id="337" r:id="rId52"/>
    <p:sldId id="338" r:id="rId53"/>
    <p:sldId id="339" r:id="rId54"/>
    <p:sldId id="340" r:id="rId55"/>
    <p:sldId id="341" r:id="rId56"/>
    <p:sldId id="342" r:id="rId57"/>
    <p:sldId id="343" r:id="rId58"/>
    <p:sldId id="350" r:id="rId59"/>
    <p:sldId id="351" r:id="rId60"/>
    <p:sldId id="352" r:id="rId61"/>
    <p:sldId id="265" r:id="rId62"/>
    <p:sldId id="279" r:id="rId6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82" autoAdjust="0"/>
    <p:restoredTop sz="94559" autoAdjust="0"/>
  </p:normalViewPr>
  <p:slideViewPr>
    <p:cSldViewPr snapToGrid="0" showGuides="1">
      <p:cViewPr varScale="1">
        <p:scale>
          <a:sx n="63" d="100"/>
          <a:sy n="63" d="100"/>
        </p:scale>
        <p:origin x="96" y="1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2" d="100"/>
          <a:sy n="62" d="100"/>
        </p:scale>
        <p:origin x="3154" y="6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84737E3-B7EF-C36D-3F40-4539A7E3D43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AE193C-EA0C-9D29-0505-F3E10B918A8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120A3A-57DF-4E27-A938-C9CB18371920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86EEDC-13CE-28A8-E844-DC63E59B7E5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35EE97-51CE-81BD-B5CD-D9814F3824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0D7A73-8F03-409A-BE31-6E23BC7710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59423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05AD8A-73DF-4EB2-BCCF-08F085C123AA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242390-4565-48BF-B2BF-3ADAF840DD9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017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42390-4565-48BF-B2BF-3ADAF840DD91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547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svg"/><Relationship Id="rId11" Type="http://schemas.openxmlformats.org/officeDocument/2006/relationships/image" Target="../media/image12.png"/><Relationship Id="rId5" Type="http://schemas.openxmlformats.org/officeDocument/2006/relationships/image" Target="../media/image9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21B6C1D-9A58-FCFD-FC59-B83B334775B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82D007B-2D23-25BC-3840-8B44EAE5DA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880" y="2836506"/>
            <a:ext cx="9598712" cy="1942536"/>
          </a:xfrm>
        </p:spPr>
        <p:txBody>
          <a:bodyPr anchor="b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D05245-A962-B22A-4DDB-C3B335E645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880" y="5108704"/>
            <a:ext cx="9144000" cy="605502"/>
          </a:xfrm>
        </p:spPr>
        <p:txBody>
          <a:bodyPr>
            <a:normAutofit/>
          </a:bodyPr>
          <a:lstStyle>
            <a:lvl1pPr marL="0" indent="0" algn="l"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1E589B6-88B9-49D6-0916-921E66203BF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880" y="1041399"/>
            <a:ext cx="3151259" cy="6868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26ABD9-40D7-AA22-F0C1-650D3C21A1D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880" y="6334744"/>
            <a:ext cx="1725318" cy="36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759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48D5A62-614B-2D12-4D2F-EBF4440B03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303836C-3920-B8E1-6601-C5C5446BE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DB8D-FC27-13BF-343B-91B6E648E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7FC482-F850-8020-F4D8-5B9804E9BE4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641A13F-9C9A-7798-CC1C-CE523E7B96E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78AA40A-965E-4A63-9800-522E13EEDA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80655E-9533-1F3E-EE1F-400B7CC42A2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1" r="25323" b="911"/>
          <a:stretch/>
        </p:blipFill>
        <p:spPr>
          <a:xfrm>
            <a:off x="0" y="0"/>
            <a:ext cx="12164007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0563A23-3EFF-38EB-A383-397C48DB7BBD}"/>
              </a:ext>
            </a:extLst>
          </p:cNvPr>
          <p:cNvSpPr/>
          <p:nvPr userDrawn="1"/>
        </p:nvSpPr>
        <p:spPr>
          <a:xfrm>
            <a:off x="0" y="0"/>
            <a:ext cx="346364" cy="42197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A32BE1-F42E-110C-83BF-0ACBAA7288E6}"/>
              </a:ext>
            </a:extLst>
          </p:cNvPr>
          <p:cNvSpPr/>
          <p:nvPr userDrawn="1"/>
        </p:nvSpPr>
        <p:spPr>
          <a:xfrm>
            <a:off x="0" y="4219720"/>
            <a:ext cx="346364" cy="263827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6C126F-E72F-28EC-ED77-1AAD54999D83}"/>
              </a:ext>
            </a:extLst>
          </p:cNvPr>
          <p:cNvCxnSpPr/>
          <p:nvPr userDrawn="1"/>
        </p:nvCxnSpPr>
        <p:spPr>
          <a:xfrm>
            <a:off x="914400" y="6280030"/>
            <a:ext cx="1863306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04359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05CB1EB-93F5-153E-4764-E6319385D9E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94E9C18-36D4-1EE7-007E-6520B516F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F4AB9D-F129-1D0A-3F18-30A01E3CCC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D8542C-570A-B982-EE49-D7BE0A03C9A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9EF8714-2E62-9E33-0635-B316E158ECA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914BD-BC5D-E404-E474-87D0704C84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5868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17A5C9C-15EB-E01C-A21A-71D8E8B7B4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D6001B-3DD9-17F0-8DD5-9C726E119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DF940-4841-13C0-050D-C893010CE0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A22BF0-4C09-EE31-F1E7-CE5F45A8AA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F9AE5F-CE26-D80C-F042-86377F8A6D7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622AC294-F3E3-1F24-5352-81AB4060EBF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68E6FF1-74DD-DB97-8000-750655DC31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934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D3521FE-8074-3AEE-08BB-863228D4A20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4051E9-43BD-C793-F812-C8B2D5C75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70F60C-4123-6B76-0C69-9257E0884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2"/>
                </a:solidFill>
                <a:latin typeface="Zilla Slab" pitchFamily="2" charset="0"/>
                <a:ea typeface="Zilla Slab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B28564-DC70-E696-0B34-9B756C5B4D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1411CD-ADCF-8C75-C21B-9C8189CDDC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2"/>
                </a:solidFill>
                <a:latin typeface="Zilla Slab" pitchFamily="2" charset="0"/>
                <a:ea typeface="Zilla Slab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A3D30F-8257-0773-224C-A80FD7DCC3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4CB09F-AA67-425D-8664-92FF321FB4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D9773CB4-AA79-2B87-C13D-416A1743F26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51C8CC7-5103-852D-2638-5633A716F9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7241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C190A96-BFCE-EFBD-CCDA-D7646C83B4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D80C1EC-5C4F-4BB4-1D23-1BB6D97E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CC1866-2580-DF83-1482-67DBCC2EA1E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06928A15-0FAE-3D7A-BE88-D42ED256BE3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03D672C-222C-01AE-E0B6-93D6FE1ABD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092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0B72897-6F99-23F4-62FA-97B44DE86C6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B4B1E94-09C1-BD0F-9C7D-EA10237B86C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12804975-758F-47E4-93AA-69CA818075B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3EE3F8D-94C6-6090-7F45-0140F68D96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030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EA1E715-A3C2-1062-72BA-AA6101EFDBA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C33B173-896D-3270-D196-9EA3CDED3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112838"/>
          </a:xfrm>
        </p:spPr>
        <p:txBody>
          <a:bodyPr anchor="b"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4532D-27C9-84A8-A21E-F55F54262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09652A-3B8E-D6FE-0C51-AD79BCB11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6FED96-33F4-AE85-1943-38B458CA6CC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76CCEDC5-EC77-FE15-57BB-7AAC4B5333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09DCED4-9B61-CDC1-9F25-4418EED76E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3393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EF93E89-EC43-508C-91D2-FE01949F0ED8}"/>
              </a:ext>
            </a:extLst>
          </p:cNvPr>
          <p:cNvSpPr/>
          <p:nvPr userDrawn="1"/>
        </p:nvSpPr>
        <p:spPr>
          <a:xfrm>
            <a:off x="5076825" y="885825"/>
            <a:ext cx="6275387" cy="498316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C8168B-13D2-605D-EF13-8460F434101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0864C21-F58A-694E-BDDF-DDA23E0F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112838"/>
          </a:xfrm>
        </p:spPr>
        <p:txBody>
          <a:bodyPr anchor="b"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5008F3-14EF-C275-5009-54A6C0948E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065837" cy="4737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828B4C-F206-DE18-A860-B2259AF8DF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578718"/>
            <a:ext cx="3932237" cy="429026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50AA15-91AB-ED53-47E2-7B264334441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6C2B2FDC-3E39-80E3-47A9-F14E0B22DB6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A1E7417-7698-6DAD-F799-E94ADF9A91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1208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768AD05-1982-0DF0-DB84-69992E3B47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0D3381-9A33-CDE6-A465-39D508AD7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A21791-0209-93DE-4383-04DAF66454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507BB1-3659-8D23-FA89-EA4F4D60D67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DA12D315-2DC9-AE52-4820-DBFE1FD82AA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BA133-188F-1018-3011-9894D2759E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3659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D6172AF-7DA8-B4AB-77FD-93C3CDDBF74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514317-5D4A-3C1D-4027-E4A77FCE8B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BE6995-F9A4-0689-FA08-AC65CBECF2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4AF2B0-44DA-FC23-665D-75C23412D4B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EBA1BCB-5D76-4F42-E4D9-407309BC6F3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9CA00D-4A52-8A7A-BE74-13E98B5DA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18767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hidden="1">
            <a:extLst>
              <a:ext uri="{FF2B5EF4-FFF2-40B4-BE49-F238E27FC236}">
                <a16:creationId xmlns:a16="http://schemas.microsoft.com/office/drawing/2014/main" id="{121B6C1D-9A58-FCFD-FC59-B83B334775B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4796"/>
            <a:ext cx="12192000" cy="6857998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1C00A59F-5699-FFEC-05E4-084B9D01F50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2362" y="3032254"/>
            <a:ext cx="342035" cy="376238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572AEE09-A5AD-AA06-48E6-898E033BA94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9779" y="3926565"/>
            <a:ext cx="307200" cy="38400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A01C56E0-4FF4-A49E-65BE-5A1BF232E4D7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60775" y="4758611"/>
            <a:ext cx="405209" cy="405209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CDEF55D3-82EA-2BAF-B8BF-6C8795BCED9F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09779" y="5676372"/>
            <a:ext cx="3172854" cy="37604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1E589B6-88B9-49D6-0916-921E66203BFF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880" y="1041399"/>
            <a:ext cx="4760571" cy="1037560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659A0B0B-6155-1E7E-4087-A0497CBDBD27}"/>
              </a:ext>
            </a:extLst>
          </p:cNvPr>
          <p:cNvSpPr txBox="1">
            <a:spLocks/>
          </p:cNvSpPr>
          <p:nvPr userDrawn="1"/>
        </p:nvSpPr>
        <p:spPr>
          <a:xfrm>
            <a:off x="1628774" y="3921043"/>
            <a:ext cx="8460106" cy="3639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</a:rPr>
              <a:t>0731 3111500, 0731 3111501 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AC9BAA4C-4941-92F4-0508-9A086B1782D0}"/>
              </a:ext>
            </a:extLst>
          </p:cNvPr>
          <p:cNvSpPr txBox="1">
            <a:spLocks/>
          </p:cNvSpPr>
          <p:nvPr userDrawn="1"/>
        </p:nvSpPr>
        <p:spPr>
          <a:xfrm>
            <a:off x="1628774" y="4797553"/>
            <a:ext cx="8407400" cy="40520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www.medicaps.ac.in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A505A0EF-09C3-A69E-1757-50EC79E03CA8}"/>
              </a:ext>
            </a:extLst>
          </p:cNvPr>
          <p:cNvSpPr txBox="1">
            <a:spLocks/>
          </p:cNvSpPr>
          <p:nvPr userDrawn="1"/>
        </p:nvSpPr>
        <p:spPr>
          <a:xfrm>
            <a:off x="1628774" y="3030245"/>
            <a:ext cx="8460106" cy="3639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A.B. Road, </a:t>
            </a:r>
            <a:r>
              <a:rPr lang="en-US" dirty="0" err="1">
                <a:solidFill>
                  <a:schemeClr val="tx1"/>
                </a:solidFill>
              </a:rPr>
              <a:t>Pigdamber</a:t>
            </a:r>
            <a:r>
              <a:rPr lang="en-US" dirty="0">
                <a:solidFill>
                  <a:schemeClr val="tx1"/>
                </a:solidFill>
              </a:rPr>
              <a:t>, Rau, Indore – 453331 </a:t>
            </a:r>
          </a:p>
        </p:txBody>
      </p:sp>
    </p:spTree>
    <p:extLst>
      <p:ext uri="{BB962C8B-B14F-4D97-AF65-F5344CB8AC3E}">
        <p14:creationId xmlns:p14="http://schemas.microsoft.com/office/powerpoint/2010/main" val="1682911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2AB9EE-315E-A59D-7C69-7297198BE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CD9C6-79F7-5E4F-5997-18FD9FB86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86A633-AE6E-E900-F6C6-2A97DCD181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F33C2-41D7-CC19-A386-62E89AE35F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F264C-5B54-0AB1-A4A1-B9DE1C365F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216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hyperlink" Target="mailto:suggestions@medicaps.ac.in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A047D-7384-7188-237B-A0D05A2053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49978" y="1983882"/>
            <a:ext cx="7838902" cy="1054286"/>
          </a:xfrm>
        </p:spPr>
        <p:txBody>
          <a:bodyPr anchor="t">
            <a:normAutofit/>
          </a:bodyPr>
          <a:lstStyle/>
          <a:p>
            <a:pPr algn="ctr"/>
            <a:r>
              <a:rPr lang="en-IN" dirty="0" smtClean="0"/>
              <a:t>Unit-3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A028DC-049A-2F5E-A96B-81D104E86B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7396" y="3471633"/>
            <a:ext cx="9144000" cy="890314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Course Name:- Software Engineering</a:t>
            </a:r>
            <a:endParaRPr lang="en-US" dirty="0"/>
          </a:p>
          <a:p>
            <a:r>
              <a:rPr lang="en-US" dirty="0" smtClean="0"/>
              <a:t>Course Code:- CS3CO40</a:t>
            </a:r>
            <a:endParaRPr lang="en-US" dirty="0"/>
          </a:p>
          <a:p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FA028DC-049A-2F5E-A96B-81D104E86BBE}"/>
              </a:ext>
            </a:extLst>
          </p:cNvPr>
          <p:cNvSpPr txBox="1">
            <a:spLocks/>
          </p:cNvSpPr>
          <p:nvPr/>
        </p:nvSpPr>
        <p:spPr>
          <a:xfrm>
            <a:off x="944880" y="4951388"/>
            <a:ext cx="9144000" cy="8903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Course Teacher:- Sachin Yele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459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89BED-9991-4511-8E56-B840D096B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CF0D38-FA68-09E4-0AA7-0D1685591C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</a:pPr>
            <a:r>
              <a:rPr lang="en-US" sz="2400" dirty="0"/>
              <a:t> </a:t>
            </a:r>
            <a:r>
              <a:rPr lang="en-US" sz="2400" dirty="0" smtClean="0"/>
              <a:t>Design</a:t>
            </a:r>
            <a:endParaRPr lang="en-US" sz="2400" dirty="0"/>
          </a:p>
          <a:p>
            <a:pPr marL="0" indent="0">
              <a:lnSpc>
                <a:spcPct val="150000"/>
              </a:lnSpc>
            </a:pPr>
            <a:r>
              <a:rPr lang="en-US" sz="2400" dirty="0"/>
              <a:t> </a:t>
            </a:r>
            <a:endParaRPr lang="en-US" sz="2500" dirty="0"/>
          </a:p>
          <a:p>
            <a:pPr marL="0" indent="0">
              <a:buNone/>
            </a:pPr>
            <a:endParaRPr lang="en-US" sz="2500" dirty="0"/>
          </a:p>
          <a:p>
            <a:pPr marL="0" indent="0">
              <a:buNone/>
            </a:pPr>
            <a:endParaRPr lang="en-US" sz="2500" dirty="0"/>
          </a:p>
          <a:p>
            <a:pPr marL="0" indent="0">
              <a:buNone/>
            </a:pPr>
            <a:endParaRPr lang="en-US" sz="2500" dirty="0"/>
          </a:p>
          <a:p>
            <a:pPr marL="0" indent="0">
              <a:buNone/>
            </a:pPr>
            <a:endParaRPr lang="en-US" sz="25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049E90-393B-0DDA-3FCB-DE78D4A64C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2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959084E-2A94-93E2-EDDE-32EACBF01643}"/>
              </a:ext>
            </a:extLst>
          </p:cNvPr>
          <p:cNvCxnSpPr>
            <a:cxnSpLocks/>
          </p:cNvCxnSpPr>
          <p:nvPr/>
        </p:nvCxnSpPr>
        <p:spPr>
          <a:xfrm>
            <a:off x="838200" y="1495245"/>
            <a:ext cx="3498011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36745F0-24AC-C1FC-FD2F-9E8515345474}"/>
              </a:ext>
            </a:extLst>
          </p:cNvPr>
          <p:cNvCxnSpPr>
            <a:cxnSpLocks/>
          </p:cNvCxnSpPr>
          <p:nvPr/>
        </p:nvCxnSpPr>
        <p:spPr>
          <a:xfrm>
            <a:off x="4336211" y="1495245"/>
            <a:ext cx="2760262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8980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72980" y="319059"/>
            <a:ext cx="9994787" cy="696772"/>
          </a:xfrm>
          <a:prstGeom prst="rect">
            <a:avLst/>
          </a:prstGeom>
        </p:spPr>
        <p:txBody>
          <a:bodyPr vert="horz" wrap="square" lIns="0" tIns="1947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53"/>
              </a:spcBef>
            </a:pPr>
            <a:r>
              <a:rPr dirty="0"/>
              <a:t>What</a:t>
            </a:r>
            <a:r>
              <a:rPr spc="-33" dirty="0"/>
              <a:t> </a:t>
            </a:r>
            <a:r>
              <a:rPr dirty="0"/>
              <a:t>is</a:t>
            </a:r>
            <a:r>
              <a:rPr spc="-67" dirty="0"/>
              <a:t> </a:t>
            </a:r>
            <a:r>
              <a:rPr dirty="0"/>
              <a:t>Achieved</a:t>
            </a:r>
            <a:r>
              <a:rPr spc="-152" dirty="0"/>
              <a:t> </a:t>
            </a:r>
            <a:r>
              <a:rPr dirty="0"/>
              <a:t>during</a:t>
            </a:r>
            <a:r>
              <a:rPr spc="-13" dirty="0"/>
              <a:t> </a:t>
            </a:r>
            <a:r>
              <a:rPr dirty="0"/>
              <a:t>design</a:t>
            </a:r>
            <a:r>
              <a:rPr spc="-100" dirty="0"/>
              <a:t> </a:t>
            </a:r>
            <a:r>
              <a:rPr spc="-13" dirty="0"/>
              <a:t>phase?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48929" y="743881"/>
            <a:ext cx="11312438" cy="3078792"/>
          </a:xfrm>
          <a:prstGeom prst="rect">
            <a:avLst/>
          </a:prstGeom>
        </p:spPr>
        <p:txBody>
          <a:bodyPr vert="horz" wrap="square" lIns="0" tIns="335280" rIns="0" bIns="0" rtlCol="0">
            <a:spAutoFit/>
          </a:bodyPr>
          <a:lstStyle/>
          <a:p>
            <a:pPr marL="473275" indent="-456342">
              <a:spcBef>
                <a:spcPts val="2640"/>
              </a:spcBef>
              <a:buFont typeface="Arial MT"/>
              <a:buChar char="•"/>
              <a:tabLst>
                <a:tab pos="473275" algn="l"/>
                <a:tab pos="4389010" algn="l"/>
              </a:tabLst>
            </a:pPr>
            <a:r>
              <a:rPr sz="4000" spc="-40" dirty="0">
                <a:latin typeface="Calibri"/>
                <a:cs typeface="Calibri"/>
              </a:rPr>
              <a:t>Transformation</a:t>
            </a:r>
            <a:r>
              <a:rPr sz="4000" spc="-113" dirty="0">
                <a:latin typeface="Calibri"/>
                <a:cs typeface="Calibri"/>
              </a:rPr>
              <a:t> </a:t>
            </a:r>
            <a:r>
              <a:rPr sz="4000" spc="-33" dirty="0">
                <a:latin typeface="Calibri"/>
                <a:cs typeface="Calibri"/>
              </a:rPr>
              <a:t>of</a:t>
            </a:r>
            <a:r>
              <a:rPr sz="4000" dirty="0">
                <a:latin typeface="Calibri"/>
                <a:cs typeface="Calibri"/>
              </a:rPr>
              <a:t>	SRS</a:t>
            </a:r>
            <a:r>
              <a:rPr sz="4000" spc="-14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document</a:t>
            </a:r>
            <a:r>
              <a:rPr sz="4000" spc="-127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to</a:t>
            </a:r>
            <a:r>
              <a:rPr sz="4000" spc="-133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Design</a:t>
            </a:r>
            <a:r>
              <a:rPr sz="4000" spc="-87" dirty="0">
                <a:latin typeface="Calibri"/>
                <a:cs typeface="Calibri"/>
              </a:rPr>
              <a:t> </a:t>
            </a:r>
            <a:r>
              <a:rPr sz="4000" spc="-13" dirty="0">
                <a:latin typeface="Calibri"/>
                <a:cs typeface="Calibri"/>
              </a:rPr>
              <a:t>document:</a:t>
            </a:r>
            <a:endParaRPr sz="4000" dirty="0">
              <a:latin typeface="Calibri"/>
              <a:cs typeface="Calibri"/>
            </a:endParaRPr>
          </a:p>
          <a:p>
            <a:pPr marL="1010895" marR="1252189" indent="-385224">
              <a:lnSpc>
                <a:spcPct val="120200"/>
              </a:lnSpc>
              <a:spcBef>
                <a:spcPts val="1407"/>
              </a:spcBef>
            </a:pPr>
            <a:r>
              <a:rPr sz="3600" dirty="0">
                <a:latin typeface="Arial MT"/>
                <a:cs typeface="Arial MT"/>
              </a:rPr>
              <a:t>–</a:t>
            </a:r>
            <a:r>
              <a:rPr sz="3600" spc="-73" dirty="0">
                <a:latin typeface="Arial MT"/>
                <a:cs typeface="Arial MT"/>
              </a:rPr>
              <a:t> </a:t>
            </a:r>
            <a:r>
              <a:rPr sz="3600" dirty="0">
                <a:latin typeface="Calibri"/>
                <a:cs typeface="Calibri"/>
              </a:rPr>
              <a:t>A</a:t>
            </a:r>
            <a:r>
              <a:rPr sz="3600" spc="-87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form</a:t>
            </a:r>
            <a:r>
              <a:rPr sz="3600" spc="-73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easily</a:t>
            </a:r>
            <a:r>
              <a:rPr sz="3600" spc="-27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implementable</a:t>
            </a:r>
            <a:r>
              <a:rPr sz="3600" spc="4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in</a:t>
            </a:r>
            <a:r>
              <a:rPr sz="3600" spc="-93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some</a:t>
            </a:r>
            <a:r>
              <a:rPr sz="3600" spc="-87" dirty="0">
                <a:latin typeface="Calibri"/>
                <a:cs typeface="Calibri"/>
              </a:rPr>
              <a:t> </a:t>
            </a:r>
            <a:r>
              <a:rPr sz="3600" spc="-13" dirty="0">
                <a:latin typeface="Calibri"/>
                <a:cs typeface="Calibri"/>
              </a:rPr>
              <a:t>programming language.</a:t>
            </a:r>
            <a:endParaRPr sz="36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071190" y="3687509"/>
            <a:ext cx="3089487" cy="1567180"/>
            <a:chOff x="5303392" y="2765631"/>
            <a:chExt cx="2317115" cy="1175385"/>
          </a:xfrm>
        </p:grpSpPr>
        <p:sp>
          <p:nvSpPr>
            <p:cNvPr id="5" name="object 5"/>
            <p:cNvSpPr/>
            <p:nvPr/>
          </p:nvSpPr>
          <p:spPr>
            <a:xfrm>
              <a:off x="5321807" y="2784046"/>
              <a:ext cx="2280285" cy="1138555"/>
            </a:xfrm>
            <a:custGeom>
              <a:avLst/>
              <a:gdLst/>
              <a:ahLst/>
              <a:cxnLst/>
              <a:rect l="l" t="t" r="r" b="b"/>
              <a:pathLst>
                <a:path w="2280284" h="1138554">
                  <a:moveTo>
                    <a:pt x="760539" y="0"/>
                  </a:moveTo>
                  <a:lnTo>
                    <a:pt x="748192" y="3101"/>
                  </a:lnTo>
                  <a:lnTo>
                    <a:pt x="735964" y="27479"/>
                  </a:lnTo>
                  <a:lnTo>
                    <a:pt x="681706" y="36601"/>
                  </a:lnTo>
                  <a:lnTo>
                    <a:pt x="628399" y="48911"/>
                  </a:lnTo>
                  <a:lnTo>
                    <a:pt x="575652" y="63086"/>
                  </a:lnTo>
                  <a:lnTo>
                    <a:pt x="523076" y="77804"/>
                  </a:lnTo>
                  <a:lnTo>
                    <a:pt x="470280" y="91741"/>
                  </a:lnTo>
                  <a:lnTo>
                    <a:pt x="424385" y="114588"/>
                  </a:lnTo>
                  <a:lnTo>
                    <a:pt x="377312" y="136215"/>
                  </a:lnTo>
                  <a:lnTo>
                    <a:pt x="329533" y="156733"/>
                  </a:lnTo>
                  <a:lnTo>
                    <a:pt x="281521" y="176257"/>
                  </a:lnTo>
                  <a:lnTo>
                    <a:pt x="233749" y="194899"/>
                  </a:lnTo>
                  <a:lnTo>
                    <a:pt x="186689" y="212772"/>
                  </a:lnTo>
                  <a:lnTo>
                    <a:pt x="153398" y="245854"/>
                  </a:lnTo>
                  <a:lnTo>
                    <a:pt x="85909" y="309302"/>
                  </a:lnTo>
                  <a:lnTo>
                    <a:pt x="52831" y="342312"/>
                  </a:lnTo>
                  <a:lnTo>
                    <a:pt x="23796" y="386746"/>
                  </a:lnTo>
                  <a:lnTo>
                    <a:pt x="12166" y="411660"/>
                  </a:lnTo>
                  <a:lnTo>
                    <a:pt x="0" y="434895"/>
                  </a:lnTo>
                  <a:lnTo>
                    <a:pt x="1926" y="441694"/>
                  </a:lnTo>
                  <a:lnTo>
                    <a:pt x="3508" y="448992"/>
                  </a:lnTo>
                  <a:lnTo>
                    <a:pt x="5589" y="456005"/>
                  </a:lnTo>
                  <a:lnTo>
                    <a:pt x="41100" y="486251"/>
                  </a:lnTo>
                  <a:lnTo>
                    <a:pt x="62229" y="499030"/>
                  </a:lnTo>
                  <a:lnTo>
                    <a:pt x="69266" y="513415"/>
                  </a:lnTo>
                  <a:lnTo>
                    <a:pt x="78041" y="526764"/>
                  </a:lnTo>
                  <a:lnTo>
                    <a:pt x="85768" y="540089"/>
                  </a:lnTo>
                  <a:lnTo>
                    <a:pt x="89662" y="554402"/>
                  </a:lnTo>
                  <a:lnTo>
                    <a:pt x="86740" y="607270"/>
                  </a:lnTo>
                  <a:lnTo>
                    <a:pt x="74390" y="658161"/>
                  </a:lnTo>
                  <a:lnTo>
                    <a:pt x="58372" y="708100"/>
                  </a:lnTo>
                  <a:lnTo>
                    <a:pt x="44450" y="758110"/>
                  </a:lnTo>
                  <a:lnTo>
                    <a:pt x="58981" y="804596"/>
                  </a:lnTo>
                  <a:lnTo>
                    <a:pt x="81930" y="828151"/>
                  </a:lnTo>
                  <a:lnTo>
                    <a:pt x="115190" y="839799"/>
                  </a:lnTo>
                  <a:lnTo>
                    <a:pt x="160654" y="850566"/>
                  </a:lnTo>
                  <a:lnTo>
                    <a:pt x="254999" y="875987"/>
                  </a:lnTo>
                  <a:lnTo>
                    <a:pt x="302114" y="888356"/>
                  </a:lnTo>
                  <a:lnTo>
                    <a:pt x="349235" y="900404"/>
                  </a:lnTo>
                  <a:lnTo>
                    <a:pt x="396395" y="912064"/>
                  </a:lnTo>
                  <a:lnTo>
                    <a:pt x="443629" y="923267"/>
                  </a:lnTo>
                  <a:lnTo>
                    <a:pt x="490970" y="933942"/>
                  </a:lnTo>
                  <a:lnTo>
                    <a:pt x="538450" y="944021"/>
                  </a:lnTo>
                  <a:lnTo>
                    <a:pt x="586104" y="953436"/>
                  </a:lnTo>
                  <a:lnTo>
                    <a:pt x="631134" y="969014"/>
                  </a:lnTo>
                  <a:lnTo>
                    <a:pt x="678658" y="981800"/>
                  </a:lnTo>
                  <a:lnTo>
                    <a:pt x="727797" y="992468"/>
                  </a:lnTo>
                  <a:lnTo>
                    <a:pt x="777671" y="1001695"/>
                  </a:lnTo>
                  <a:lnTo>
                    <a:pt x="876107" y="1018524"/>
                  </a:lnTo>
                  <a:lnTo>
                    <a:pt x="922908" y="1027477"/>
                  </a:lnTo>
                  <a:lnTo>
                    <a:pt x="974366" y="1038635"/>
                  </a:lnTo>
                  <a:lnTo>
                    <a:pt x="1025648" y="1050751"/>
                  </a:lnTo>
                  <a:lnTo>
                    <a:pt x="1076804" y="1063539"/>
                  </a:lnTo>
                  <a:lnTo>
                    <a:pt x="1230023" y="1103073"/>
                  </a:lnTo>
                  <a:lnTo>
                    <a:pt x="1281179" y="1115686"/>
                  </a:lnTo>
                  <a:lnTo>
                    <a:pt x="1332461" y="1127540"/>
                  </a:lnTo>
                  <a:lnTo>
                    <a:pt x="1383918" y="1138348"/>
                  </a:lnTo>
                  <a:lnTo>
                    <a:pt x="1429028" y="1124799"/>
                  </a:lnTo>
                  <a:lnTo>
                    <a:pt x="1467974" y="1104274"/>
                  </a:lnTo>
                  <a:lnTo>
                    <a:pt x="1503860" y="1079437"/>
                  </a:lnTo>
                  <a:lnTo>
                    <a:pt x="1539789" y="1052950"/>
                  </a:lnTo>
                  <a:lnTo>
                    <a:pt x="1578864" y="1027477"/>
                  </a:lnTo>
                  <a:lnTo>
                    <a:pt x="1620095" y="1007164"/>
                  </a:lnTo>
                  <a:lnTo>
                    <a:pt x="1664082" y="991954"/>
                  </a:lnTo>
                  <a:lnTo>
                    <a:pt x="1709678" y="980486"/>
                  </a:lnTo>
                  <a:lnTo>
                    <a:pt x="1755737" y="971402"/>
                  </a:lnTo>
                  <a:lnTo>
                    <a:pt x="1801114" y="963342"/>
                  </a:lnTo>
                  <a:lnTo>
                    <a:pt x="1851860" y="945899"/>
                  </a:lnTo>
                  <a:lnTo>
                    <a:pt x="1903410" y="931182"/>
                  </a:lnTo>
                  <a:lnTo>
                    <a:pt x="2007390" y="904239"/>
                  </a:lnTo>
                  <a:lnTo>
                    <a:pt x="2059050" y="889174"/>
                  </a:lnTo>
                  <a:lnTo>
                    <a:pt x="2083637" y="873474"/>
                  </a:lnTo>
                  <a:lnTo>
                    <a:pt x="2109533" y="861107"/>
                  </a:lnTo>
                  <a:lnTo>
                    <a:pt x="2136667" y="851027"/>
                  </a:lnTo>
                  <a:lnTo>
                    <a:pt x="2164968" y="842184"/>
                  </a:lnTo>
                  <a:lnTo>
                    <a:pt x="2179177" y="833997"/>
                  </a:lnTo>
                  <a:lnTo>
                    <a:pt x="2218182" y="805100"/>
                  </a:lnTo>
                  <a:lnTo>
                    <a:pt x="2253615" y="749728"/>
                  </a:lnTo>
                  <a:lnTo>
                    <a:pt x="2259899" y="728519"/>
                  </a:lnTo>
                  <a:lnTo>
                    <a:pt x="2273278" y="686863"/>
                  </a:lnTo>
                  <a:lnTo>
                    <a:pt x="2279776" y="665654"/>
                  </a:lnTo>
                  <a:lnTo>
                    <a:pt x="2278814" y="634329"/>
                  </a:lnTo>
                  <a:lnTo>
                    <a:pt x="2278364" y="602503"/>
                  </a:lnTo>
                  <a:lnTo>
                    <a:pt x="2261616" y="545639"/>
                  </a:lnTo>
                  <a:lnTo>
                    <a:pt x="2224432" y="524369"/>
                  </a:lnTo>
                  <a:lnTo>
                    <a:pt x="2208784" y="517445"/>
                  </a:lnTo>
                  <a:lnTo>
                    <a:pt x="2172905" y="492861"/>
                  </a:lnTo>
                  <a:lnTo>
                    <a:pt x="2132870" y="460813"/>
                  </a:lnTo>
                  <a:lnTo>
                    <a:pt x="2090642" y="425942"/>
                  </a:lnTo>
                  <a:lnTo>
                    <a:pt x="2048180" y="392891"/>
                  </a:lnTo>
                  <a:lnTo>
                    <a:pt x="2007447" y="366303"/>
                  </a:lnTo>
                  <a:lnTo>
                    <a:pt x="1970405" y="350821"/>
                  </a:lnTo>
                  <a:lnTo>
                    <a:pt x="1920334" y="341023"/>
                  </a:lnTo>
                  <a:lnTo>
                    <a:pt x="1869806" y="335476"/>
                  </a:lnTo>
                  <a:lnTo>
                    <a:pt x="1818939" y="333053"/>
                  </a:lnTo>
                  <a:lnTo>
                    <a:pt x="1767849" y="332625"/>
                  </a:lnTo>
                  <a:lnTo>
                    <a:pt x="1716654" y="333063"/>
                  </a:lnTo>
                  <a:lnTo>
                    <a:pt x="1665473" y="333240"/>
                  </a:lnTo>
                  <a:lnTo>
                    <a:pt x="1614423" y="332025"/>
                  </a:lnTo>
                  <a:lnTo>
                    <a:pt x="1578774" y="318722"/>
                  </a:lnTo>
                  <a:lnTo>
                    <a:pt x="1554305" y="299704"/>
                  </a:lnTo>
                  <a:lnTo>
                    <a:pt x="1533288" y="276304"/>
                  </a:lnTo>
                  <a:lnTo>
                    <a:pt x="1507997" y="249856"/>
                  </a:lnTo>
                  <a:lnTo>
                    <a:pt x="1482072" y="229739"/>
                  </a:lnTo>
                  <a:lnTo>
                    <a:pt x="1456801" y="215312"/>
                  </a:lnTo>
                  <a:lnTo>
                    <a:pt x="1430363" y="204315"/>
                  </a:lnTo>
                  <a:lnTo>
                    <a:pt x="1400937" y="194484"/>
                  </a:lnTo>
                  <a:lnTo>
                    <a:pt x="1355002" y="166110"/>
                  </a:lnTo>
                  <a:lnTo>
                    <a:pt x="1312544" y="150844"/>
                  </a:lnTo>
                  <a:lnTo>
                    <a:pt x="1265705" y="143460"/>
                  </a:lnTo>
                  <a:lnTo>
                    <a:pt x="1206626" y="138731"/>
                  </a:lnTo>
                  <a:lnTo>
                    <a:pt x="1155636" y="124668"/>
                  </a:lnTo>
                  <a:lnTo>
                    <a:pt x="1104451" y="111240"/>
                  </a:lnTo>
                  <a:lnTo>
                    <a:pt x="1001871" y="85105"/>
                  </a:lnTo>
                  <a:lnTo>
                    <a:pt x="950659" y="71811"/>
                  </a:lnTo>
                  <a:lnTo>
                    <a:pt x="899624" y="57971"/>
                  </a:lnTo>
                  <a:lnTo>
                    <a:pt x="848856" y="43292"/>
                  </a:lnTo>
                  <a:lnTo>
                    <a:pt x="798449" y="27479"/>
                  </a:lnTo>
                  <a:lnTo>
                    <a:pt x="776220" y="10638"/>
                  </a:lnTo>
                  <a:lnTo>
                    <a:pt x="760539" y="0"/>
                  </a:lnTo>
                  <a:close/>
                </a:path>
              </a:pathLst>
            </a:custGeom>
            <a:solidFill>
              <a:srgbClr val="CC66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5321807" y="2784046"/>
              <a:ext cx="2280285" cy="1138555"/>
            </a:xfrm>
            <a:custGeom>
              <a:avLst/>
              <a:gdLst/>
              <a:ahLst/>
              <a:cxnLst/>
              <a:rect l="l" t="t" r="r" b="b"/>
              <a:pathLst>
                <a:path w="2280284" h="1138554">
                  <a:moveTo>
                    <a:pt x="735964" y="27479"/>
                  </a:moveTo>
                  <a:lnTo>
                    <a:pt x="681706" y="36601"/>
                  </a:lnTo>
                  <a:lnTo>
                    <a:pt x="628399" y="48911"/>
                  </a:lnTo>
                  <a:lnTo>
                    <a:pt x="575652" y="63086"/>
                  </a:lnTo>
                  <a:lnTo>
                    <a:pt x="523076" y="77804"/>
                  </a:lnTo>
                  <a:lnTo>
                    <a:pt x="470280" y="91741"/>
                  </a:lnTo>
                  <a:lnTo>
                    <a:pt x="424385" y="114588"/>
                  </a:lnTo>
                  <a:lnTo>
                    <a:pt x="377312" y="136215"/>
                  </a:lnTo>
                  <a:lnTo>
                    <a:pt x="329533" y="156733"/>
                  </a:lnTo>
                  <a:lnTo>
                    <a:pt x="281521" y="176257"/>
                  </a:lnTo>
                  <a:lnTo>
                    <a:pt x="233749" y="194899"/>
                  </a:lnTo>
                  <a:lnTo>
                    <a:pt x="186689" y="212772"/>
                  </a:lnTo>
                  <a:lnTo>
                    <a:pt x="153398" y="245854"/>
                  </a:lnTo>
                  <a:lnTo>
                    <a:pt x="119618" y="277590"/>
                  </a:lnTo>
                  <a:lnTo>
                    <a:pt x="85909" y="309302"/>
                  </a:lnTo>
                  <a:lnTo>
                    <a:pt x="52831" y="342312"/>
                  </a:lnTo>
                  <a:lnTo>
                    <a:pt x="23796" y="386746"/>
                  </a:lnTo>
                  <a:lnTo>
                    <a:pt x="12166" y="411660"/>
                  </a:lnTo>
                  <a:lnTo>
                    <a:pt x="0" y="434895"/>
                  </a:lnTo>
                  <a:lnTo>
                    <a:pt x="1926" y="441694"/>
                  </a:lnTo>
                  <a:lnTo>
                    <a:pt x="3508" y="448992"/>
                  </a:lnTo>
                  <a:lnTo>
                    <a:pt x="5589" y="456005"/>
                  </a:lnTo>
                  <a:lnTo>
                    <a:pt x="41100" y="486251"/>
                  </a:lnTo>
                  <a:lnTo>
                    <a:pt x="62229" y="499030"/>
                  </a:lnTo>
                  <a:lnTo>
                    <a:pt x="69266" y="513415"/>
                  </a:lnTo>
                  <a:lnTo>
                    <a:pt x="78041" y="526764"/>
                  </a:lnTo>
                  <a:lnTo>
                    <a:pt x="85768" y="540089"/>
                  </a:lnTo>
                  <a:lnTo>
                    <a:pt x="89662" y="554402"/>
                  </a:lnTo>
                  <a:lnTo>
                    <a:pt x="86740" y="607270"/>
                  </a:lnTo>
                  <a:lnTo>
                    <a:pt x="74390" y="658161"/>
                  </a:lnTo>
                  <a:lnTo>
                    <a:pt x="58372" y="708100"/>
                  </a:lnTo>
                  <a:lnTo>
                    <a:pt x="44450" y="758110"/>
                  </a:lnTo>
                  <a:lnTo>
                    <a:pt x="58981" y="804596"/>
                  </a:lnTo>
                  <a:lnTo>
                    <a:pt x="81930" y="828151"/>
                  </a:lnTo>
                  <a:lnTo>
                    <a:pt x="115190" y="839799"/>
                  </a:lnTo>
                  <a:lnTo>
                    <a:pt x="160654" y="850566"/>
                  </a:lnTo>
                  <a:lnTo>
                    <a:pt x="207857" y="863368"/>
                  </a:lnTo>
                  <a:lnTo>
                    <a:pt x="254999" y="875987"/>
                  </a:lnTo>
                  <a:lnTo>
                    <a:pt x="302114" y="888356"/>
                  </a:lnTo>
                  <a:lnTo>
                    <a:pt x="349235" y="900404"/>
                  </a:lnTo>
                  <a:lnTo>
                    <a:pt x="396395" y="912064"/>
                  </a:lnTo>
                  <a:lnTo>
                    <a:pt x="443629" y="923267"/>
                  </a:lnTo>
                  <a:lnTo>
                    <a:pt x="490970" y="933942"/>
                  </a:lnTo>
                  <a:lnTo>
                    <a:pt x="538450" y="944021"/>
                  </a:lnTo>
                  <a:lnTo>
                    <a:pt x="586104" y="953436"/>
                  </a:lnTo>
                  <a:lnTo>
                    <a:pt x="631134" y="969014"/>
                  </a:lnTo>
                  <a:lnTo>
                    <a:pt x="678658" y="981800"/>
                  </a:lnTo>
                  <a:lnTo>
                    <a:pt x="727797" y="992468"/>
                  </a:lnTo>
                  <a:lnTo>
                    <a:pt x="777671" y="1001695"/>
                  </a:lnTo>
                  <a:lnTo>
                    <a:pt x="827401" y="1010155"/>
                  </a:lnTo>
                  <a:lnTo>
                    <a:pt x="876107" y="1018524"/>
                  </a:lnTo>
                  <a:lnTo>
                    <a:pt x="922908" y="1027477"/>
                  </a:lnTo>
                  <a:lnTo>
                    <a:pt x="974366" y="1038635"/>
                  </a:lnTo>
                  <a:lnTo>
                    <a:pt x="1025648" y="1050751"/>
                  </a:lnTo>
                  <a:lnTo>
                    <a:pt x="1076804" y="1063539"/>
                  </a:lnTo>
                  <a:lnTo>
                    <a:pt x="1127885" y="1076713"/>
                  </a:lnTo>
                  <a:lnTo>
                    <a:pt x="1178942" y="1089987"/>
                  </a:lnTo>
                  <a:lnTo>
                    <a:pt x="1230023" y="1103073"/>
                  </a:lnTo>
                  <a:lnTo>
                    <a:pt x="1281179" y="1115686"/>
                  </a:lnTo>
                  <a:lnTo>
                    <a:pt x="1332461" y="1127540"/>
                  </a:lnTo>
                  <a:lnTo>
                    <a:pt x="1383918" y="1138348"/>
                  </a:lnTo>
                  <a:lnTo>
                    <a:pt x="1429028" y="1124799"/>
                  </a:lnTo>
                  <a:lnTo>
                    <a:pt x="1467974" y="1104274"/>
                  </a:lnTo>
                  <a:lnTo>
                    <a:pt x="1503860" y="1079437"/>
                  </a:lnTo>
                  <a:lnTo>
                    <a:pt x="1539789" y="1052950"/>
                  </a:lnTo>
                  <a:lnTo>
                    <a:pt x="1578864" y="1027477"/>
                  </a:lnTo>
                  <a:lnTo>
                    <a:pt x="1620095" y="1007164"/>
                  </a:lnTo>
                  <a:lnTo>
                    <a:pt x="1664082" y="991954"/>
                  </a:lnTo>
                  <a:lnTo>
                    <a:pt x="1709678" y="980486"/>
                  </a:lnTo>
                  <a:lnTo>
                    <a:pt x="1755737" y="971402"/>
                  </a:lnTo>
                  <a:lnTo>
                    <a:pt x="1801114" y="963342"/>
                  </a:lnTo>
                  <a:lnTo>
                    <a:pt x="1851860" y="945899"/>
                  </a:lnTo>
                  <a:lnTo>
                    <a:pt x="1903410" y="931182"/>
                  </a:lnTo>
                  <a:lnTo>
                    <a:pt x="1955382" y="917768"/>
                  </a:lnTo>
                  <a:lnTo>
                    <a:pt x="2007390" y="904239"/>
                  </a:lnTo>
                  <a:lnTo>
                    <a:pt x="2059050" y="889174"/>
                  </a:lnTo>
                  <a:lnTo>
                    <a:pt x="2083637" y="873474"/>
                  </a:lnTo>
                  <a:lnTo>
                    <a:pt x="2109533" y="861107"/>
                  </a:lnTo>
                  <a:lnTo>
                    <a:pt x="2136667" y="851027"/>
                  </a:lnTo>
                  <a:lnTo>
                    <a:pt x="2164968" y="842184"/>
                  </a:lnTo>
                  <a:lnTo>
                    <a:pt x="2179177" y="833997"/>
                  </a:lnTo>
                  <a:lnTo>
                    <a:pt x="2193956" y="826119"/>
                  </a:lnTo>
                  <a:lnTo>
                    <a:pt x="2207545" y="817002"/>
                  </a:lnTo>
                  <a:lnTo>
                    <a:pt x="2218182" y="805100"/>
                  </a:lnTo>
                  <a:lnTo>
                    <a:pt x="2228433" y="788733"/>
                  </a:lnTo>
                  <a:lnTo>
                    <a:pt x="2240089" y="770556"/>
                  </a:lnTo>
                  <a:lnTo>
                    <a:pt x="2249650" y="755808"/>
                  </a:lnTo>
                  <a:lnTo>
                    <a:pt x="2253615" y="749728"/>
                  </a:lnTo>
                  <a:lnTo>
                    <a:pt x="2259899" y="728519"/>
                  </a:lnTo>
                  <a:lnTo>
                    <a:pt x="2266553" y="707691"/>
                  </a:lnTo>
                  <a:lnTo>
                    <a:pt x="2273278" y="686863"/>
                  </a:lnTo>
                  <a:lnTo>
                    <a:pt x="2279776" y="665654"/>
                  </a:lnTo>
                  <a:lnTo>
                    <a:pt x="2278814" y="634329"/>
                  </a:lnTo>
                  <a:lnTo>
                    <a:pt x="2278364" y="602503"/>
                  </a:lnTo>
                  <a:lnTo>
                    <a:pt x="2274079" y="572250"/>
                  </a:lnTo>
                  <a:lnTo>
                    <a:pt x="2261616" y="545639"/>
                  </a:lnTo>
                  <a:lnTo>
                    <a:pt x="2248538" y="533358"/>
                  </a:lnTo>
                  <a:lnTo>
                    <a:pt x="2236914" y="527970"/>
                  </a:lnTo>
                  <a:lnTo>
                    <a:pt x="2224432" y="524369"/>
                  </a:lnTo>
                  <a:lnTo>
                    <a:pt x="2208784" y="517445"/>
                  </a:lnTo>
                  <a:lnTo>
                    <a:pt x="2172905" y="492861"/>
                  </a:lnTo>
                  <a:lnTo>
                    <a:pt x="2132870" y="460813"/>
                  </a:lnTo>
                  <a:lnTo>
                    <a:pt x="2090642" y="425942"/>
                  </a:lnTo>
                  <a:lnTo>
                    <a:pt x="2048180" y="392891"/>
                  </a:lnTo>
                  <a:lnTo>
                    <a:pt x="2007447" y="366303"/>
                  </a:lnTo>
                  <a:lnTo>
                    <a:pt x="1970405" y="350821"/>
                  </a:lnTo>
                  <a:lnTo>
                    <a:pt x="1920334" y="341023"/>
                  </a:lnTo>
                  <a:lnTo>
                    <a:pt x="1869806" y="335476"/>
                  </a:lnTo>
                  <a:lnTo>
                    <a:pt x="1818939" y="333053"/>
                  </a:lnTo>
                  <a:lnTo>
                    <a:pt x="1767849" y="332625"/>
                  </a:lnTo>
                  <a:lnTo>
                    <a:pt x="1716654" y="333063"/>
                  </a:lnTo>
                  <a:lnTo>
                    <a:pt x="1665473" y="333240"/>
                  </a:lnTo>
                  <a:lnTo>
                    <a:pt x="1614423" y="332025"/>
                  </a:lnTo>
                  <a:lnTo>
                    <a:pt x="1578774" y="318722"/>
                  </a:lnTo>
                  <a:lnTo>
                    <a:pt x="1554305" y="299704"/>
                  </a:lnTo>
                  <a:lnTo>
                    <a:pt x="1533288" y="276304"/>
                  </a:lnTo>
                  <a:lnTo>
                    <a:pt x="1507997" y="249856"/>
                  </a:lnTo>
                  <a:lnTo>
                    <a:pt x="1482072" y="229739"/>
                  </a:lnTo>
                  <a:lnTo>
                    <a:pt x="1456801" y="215312"/>
                  </a:lnTo>
                  <a:lnTo>
                    <a:pt x="1430363" y="204315"/>
                  </a:lnTo>
                  <a:lnTo>
                    <a:pt x="1400937" y="194484"/>
                  </a:lnTo>
                  <a:lnTo>
                    <a:pt x="1355002" y="166110"/>
                  </a:lnTo>
                  <a:lnTo>
                    <a:pt x="1312544" y="150844"/>
                  </a:lnTo>
                  <a:lnTo>
                    <a:pt x="1265705" y="143460"/>
                  </a:lnTo>
                  <a:lnTo>
                    <a:pt x="1206626" y="138731"/>
                  </a:lnTo>
                  <a:lnTo>
                    <a:pt x="1155636" y="124668"/>
                  </a:lnTo>
                  <a:lnTo>
                    <a:pt x="1104451" y="111240"/>
                  </a:lnTo>
                  <a:lnTo>
                    <a:pt x="1053165" y="98150"/>
                  </a:lnTo>
                  <a:lnTo>
                    <a:pt x="1001871" y="85105"/>
                  </a:lnTo>
                  <a:lnTo>
                    <a:pt x="950659" y="71811"/>
                  </a:lnTo>
                  <a:lnTo>
                    <a:pt x="899624" y="57971"/>
                  </a:lnTo>
                  <a:lnTo>
                    <a:pt x="848856" y="43292"/>
                  </a:lnTo>
                  <a:lnTo>
                    <a:pt x="798449" y="27479"/>
                  </a:lnTo>
                  <a:lnTo>
                    <a:pt x="776220" y="10638"/>
                  </a:lnTo>
                  <a:lnTo>
                    <a:pt x="760539" y="0"/>
                  </a:lnTo>
                  <a:lnTo>
                    <a:pt x="748192" y="3101"/>
                  </a:lnTo>
                  <a:lnTo>
                    <a:pt x="735964" y="27479"/>
                  </a:lnTo>
                </a:path>
              </a:pathLst>
            </a:custGeom>
            <a:ln w="365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751244" y="3950207"/>
            <a:ext cx="2614507" cy="1267459"/>
            <a:chOff x="1313433" y="2962655"/>
            <a:chExt cx="1960880" cy="950594"/>
          </a:xfrm>
        </p:grpSpPr>
        <p:sp>
          <p:nvSpPr>
            <p:cNvPr id="8" name="object 8"/>
            <p:cNvSpPr/>
            <p:nvPr/>
          </p:nvSpPr>
          <p:spPr>
            <a:xfrm>
              <a:off x="1331721" y="2980943"/>
              <a:ext cx="1924050" cy="914400"/>
            </a:xfrm>
            <a:custGeom>
              <a:avLst/>
              <a:gdLst/>
              <a:ahLst/>
              <a:cxnLst/>
              <a:rect l="l" t="t" r="r" b="b"/>
              <a:pathLst>
                <a:path w="1924050" h="914400">
                  <a:moveTo>
                    <a:pt x="1417320" y="0"/>
                  </a:moveTo>
                  <a:lnTo>
                    <a:pt x="1368149" y="5255"/>
                  </a:lnTo>
                  <a:lnTo>
                    <a:pt x="1319744" y="12774"/>
                  </a:lnTo>
                  <a:lnTo>
                    <a:pt x="1271919" y="21999"/>
                  </a:lnTo>
                  <a:lnTo>
                    <a:pt x="1224489" y="32371"/>
                  </a:lnTo>
                  <a:lnTo>
                    <a:pt x="1130074" y="54327"/>
                  </a:lnTo>
                  <a:lnTo>
                    <a:pt x="1082719" y="64794"/>
                  </a:lnTo>
                  <a:lnTo>
                    <a:pt x="1035019" y="74176"/>
                  </a:lnTo>
                  <a:lnTo>
                    <a:pt x="986790" y="81914"/>
                  </a:lnTo>
                  <a:lnTo>
                    <a:pt x="934550" y="78622"/>
                  </a:lnTo>
                  <a:lnTo>
                    <a:pt x="883435" y="74080"/>
                  </a:lnTo>
                  <a:lnTo>
                    <a:pt x="833119" y="68574"/>
                  </a:lnTo>
                  <a:lnTo>
                    <a:pt x="783272" y="62388"/>
                  </a:lnTo>
                  <a:lnTo>
                    <a:pt x="683680" y="49125"/>
                  </a:lnTo>
                  <a:lnTo>
                    <a:pt x="633280" y="42618"/>
                  </a:lnTo>
                  <a:lnTo>
                    <a:pt x="582041" y="36575"/>
                  </a:lnTo>
                  <a:lnTo>
                    <a:pt x="527731" y="39964"/>
                  </a:lnTo>
                  <a:lnTo>
                    <a:pt x="474701" y="44660"/>
                  </a:lnTo>
                  <a:lnTo>
                    <a:pt x="422693" y="50842"/>
                  </a:lnTo>
                  <a:lnTo>
                    <a:pt x="371454" y="58689"/>
                  </a:lnTo>
                  <a:lnTo>
                    <a:pt x="320728" y="68380"/>
                  </a:lnTo>
                  <a:lnTo>
                    <a:pt x="270260" y="80094"/>
                  </a:lnTo>
                  <a:lnTo>
                    <a:pt x="219796" y="94009"/>
                  </a:lnTo>
                  <a:lnTo>
                    <a:pt x="169079" y="110304"/>
                  </a:lnTo>
                  <a:lnTo>
                    <a:pt x="117856" y="129158"/>
                  </a:lnTo>
                  <a:lnTo>
                    <a:pt x="97837" y="160640"/>
                  </a:lnTo>
                  <a:lnTo>
                    <a:pt x="100536" y="155543"/>
                  </a:lnTo>
                  <a:lnTo>
                    <a:pt x="102484" y="149620"/>
                  </a:lnTo>
                  <a:lnTo>
                    <a:pt x="96762" y="152671"/>
                  </a:lnTo>
                  <a:lnTo>
                    <a:pt x="76453" y="174498"/>
                  </a:lnTo>
                  <a:lnTo>
                    <a:pt x="54453" y="204370"/>
                  </a:lnTo>
                  <a:lnTo>
                    <a:pt x="35702" y="237172"/>
                  </a:lnTo>
                  <a:lnTo>
                    <a:pt x="18214" y="270831"/>
                  </a:lnTo>
                  <a:lnTo>
                    <a:pt x="0" y="303275"/>
                  </a:lnTo>
                  <a:lnTo>
                    <a:pt x="319" y="345646"/>
                  </a:lnTo>
                  <a:lnTo>
                    <a:pt x="15780" y="396721"/>
                  </a:lnTo>
                  <a:lnTo>
                    <a:pt x="41166" y="448747"/>
                  </a:lnTo>
                  <a:lnTo>
                    <a:pt x="71258" y="493971"/>
                  </a:lnTo>
                  <a:lnTo>
                    <a:pt x="100837" y="524637"/>
                  </a:lnTo>
                  <a:lnTo>
                    <a:pt x="133828" y="568099"/>
                  </a:lnTo>
                  <a:lnTo>
                    <a:pt x="173284" y="602205"/>
                  </a:lnTo>
                  <a:lnTo>
                    <a:pt x="217566" y="628840"/>
                  </a:lnTo>
                  <a:lnTo>
                    <a:pt x="265034" y="649887"/>
                  </a:lnTo>
                  <a:lnTo>
                    <a:pt x="314048" y="667229"/>
                  </a:lnTo>
                  <a:lnTo>
                    <a:pt x="412410" y="698660"/>
                  </a:lnTo>
                  <a:lnTo>
                    <a:pt x="610788" y="765041"/>
                  </a:lnTo>
                  <a:lnTo>
                    <a:pt x="660604" y="781216"/>
                  </a:lnTo>
                  <a:lnTo>
                    <a:pt x="710538" y="796779"/>
                  </a:lnTo>
                  <a:lnTo>
                    <a:pt x="760603" y="811509"/>
                  </a:lnTo>
                  <a:lnTo>
                    <a:pt x="810815" y="825185"/>
                  </a:lnTo>
                  <a:lnTo>
                    <a:pt x="861186" y="837585"/>
                  </a:lnTo>
                  <a:lnTo>
                    <a:pt x="911733" y="848487"/>
                  </a:lnTo>
                  <a:lnTo>
                    <a:pt x="958793" y="865653"/>
                  </a:lnTo>
                  <a:lnTo>
                    <a:pt x="1007614" y="879564"/>
                  </a:lnTo>
                  <a:lnTo>
                    <a:pt x="1057278" y="891445"/>
                  </a:lnTo>
                  <a:lnTo>
                    <a:pt x="1106861" y="902521"/>
                  </a:lnTo>
                  <a:lnTo>
                    <a:pt x="1155446" y="914019"/>
                  </a:lnTo>
                  <a:lnTo>
                    <a:pt x="1192717" y="895389"/>
                  </a:lnTo>
                  <a:lnTo>
                    <a:pt x="1223418" y="866270"/>
                  </a:lnTo>
                  <a:lnTo>
                    <a:pt x="1249808" y="830073"/>
                  </a:lnTo>
                  <a:lnTo>
                    <a:pt x="1298706" y="750094"/>
                  </a:lnTo>
                  <a:lnTo>
                    <a:pt x="1325736" y="713137"/>
                  </a:lnTo>
                  <a:lnTo>
                    <a:pt x="1357503" y="682752"/>
                  </a:lnTo>
                  <a:lnTo>
                    <a:pt x="1447006" y="693991"/>
                  </a:lnTo>
                  <a:lnTo>
                    <a:pt x="1487162" y="695825"/>
                  </a:lnTo>
                  <a:lnTo>
                    <a:pt x="1535557" y="692658"/>
                  </a:lnTo>
                  <a:lnTo>
                    <a:pt x="1566531" y="675209"/>
                  </a:lnTo>
                  <a:lnTo>
                    <a:pt x="1599041" y="662797"/>
                  </a:lnTo>
                  <a:lnTo>
                    <a:pt x="1631622" y="651027"/>
                  </a:lnTo>
                  <a:lnTo>
                    <a:pt x="1662811" y="635508"/>
                  </a:lnTo>
                  <a:lnTo>
                    <a:pt x="1701232" y="610225"/>
                  </a:lnTo>
                  <a:lnTo>
                    <a:pt x="1736629" y="585549"/>
                  </a:lnTo>
                  <a:lnTo>
                    <a:pt x="1772931" y="562802"/>
                  </a:lnTo>
                  <a:lnTo>
                    <a:pt x="1814067" y="543306"/>
                  </a:lnTo>
                  <a:lnTo>
                    <a:pt x="1834509" y="521237"/>
                  </a:lnTo>
                  <a:lnTo>
                    <a:pt x="1847103" y="503062"/>
                  </a:lnTo>
                  <a:lnTo>
                    <a:pt x="1851626" y="481959"/>
                  </a:lnTo>
                  <a:lnTo>
                    <a:pt x="1847850" y="451104"/>
                  </a:lnTo>
                  <a:lnTo>
                    <a:pt x="1873781" y="447258"/>
                  </a:lnTo>
                  <a:lnTo>
                    <a:pt x="1915287" y="424433"/>
                  </a:lnTo>
                  <a:lnTo>
                    <a:pt x="1923764" y="391763"/>
                  </a:lnTo>
                  <a:lnTo>
                    <a:pt x="1922906" y="350519"/>
                  </a:lnTo>
                  <a:lnTo>
                    <a:pt x="1911697" y="319039"/>
                  </a:lnTo>
                  <a:lnTo>
                    <a:pt x="1896951" y="299561"/>
                  </a:lnTo>
                  <a:lnTo>
                    <a:pt x="1876419" y="287083"/>
                  </a:lnTo>
                  <a:lnTo>
                    <a:pt x="1847850" y="276606"/>
                  </a:lnTo>
                  <a:lnTo>
                    <a:pt x="1834197" y="268033"/>
                  </a:lnTo>
                  <a:lnTo>
                    <a:pt x="1827704" y="263640"/>
                  </a:lnTo>
                  <a:lnTo>
                    <a:pt x="1821688" y="258318"/>
                  </a:lnTo>
                  <a:lnTo>
                    <a:pt x="1816945" y="251281"/>
                  </a:lnTo>
                  <a:lnTo>
                    <a:pt x="1809793" y="235922"/>
                  </a:lnTo>
                  <a:lnTo>
                    <a:pt x="1805051" y="229743"/>
                  </a:lnTo>
                  <a:lnTo>
                    <a:pt x="1777245" y="205525"/>
                  </a:lnTo>
                  <a:lnTo>
                    <a:pt x="1745773" y="182308"/>
                  </a:lnTo>
                  <a:lnTo>
                    <a:pt x="1712539" y="162234"/>
                  </a:lnTo>
                  <a:lnTo>
                    <a:pt x="1679448" y="147447"/>
                  </a:lnTo>
                  <a:lnTo>
                    <a:pt x="1651513" y="127831"/>
                  </a:lnTo>
                  <a:lnTo>
                    <a:pt x="1622758" y="109680"/>
                  </a:lnTo>
                  <a:lnTo>
                    <a:pt x="1592883" y="94029"/>
                  </a:lnTo>
                  <a:lnTo>
                    <a:pt x="1561592" y="81914"/>
                  </a:lnTo>
                  <a:lnTo>
                    <a:pt x="1526440" y="58721"/>
                  </a:lnTo>
                  <a:lnTo>
                    <a:pt x="1490503" y="38385"/>
                  </a:lnTo>
                  <a:lnTo>
                    <a:pt x="141732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" name="object 9"/>
            <p:cNvSpPr/>
            <p:nvPr/>
          </p:nvSpPr>
          <p:spPr>
            <a:xfrm>
              <a:off x="1331721" y="2980943"/>
              <a:ext cx="1924050" cy="914400"/>
            </a:xfrm>
            <a:custGeom>
              <a:avLst/>
              <a:gdLst/>
              <a:ahLst/>
              <a:cxnLst/>
              <a:rect l="l" t="t" r="r" b="b"/>
              <a:pathLst>
                <a:path w="1924050" h="914400">
                  <a:moveTo>
                    <a:pt x="1922906" y="350519"/>
                  </a:moveTo>
                  <a:lnTo>
                    <a:pt x="1911697" y="319039"/>
                  </a:lnTo>
                  <a:lnTo>
                    <a:pt x="1896951" y="299561"/>
                  </a:lnTo>
                  <a:lnTo>
                    <a:pt x="1876419" y="287083"/>
                  </a:lnTo>
                  <a:lnTo>
                    <a:pt x="1847850" y="276606"/>
                  </a:lnTo>
                  <a:lnTo>
                    <a:pt x="1840976" y="272141"/>
                  </a:lnTo>
                  <a:lnTo>
                    <a:pt x="1813369" y="243459"/>
                  </a:lnTo>
                  <a:lnTo>
                    <a:pt x="1809793" y="235922"/>
                  </a:lnTo>
                  <a:lnTo>
                    <a:pt x="1777245" y="205525"/>
                  </a:lnTo>
                  <a:lnTo>
                    <a:pt x="1745773" y="182308"/>
                  </a:lnTo>
                  <a:lnTo>
                    <a:pt x="1712539" y="162234"/>
                  </a:lnTo>
                  <a:lnTo>
                    <a:pt x="1679448" y="147447"/>
                  </a:lnTo>
                  <a:lnTo>
                    <a:pt x="1651513" y="127831"/>
                  </a:lnTo>
                  <a:lnTo>
                    <a:pt x="1622758" y="109680"/>
                  </a:lnTo>
                  <a:lnTo>
                    <a:pt x="1592883" y="94029"/>
                  </a:lnTo>
                  <a:lnTo>
                    <a:pt x="1561592" y="81914"/>
                  </a:lnTo>
                  <a:lnTo>
                    <a:pt x="1526440" y="58721"/>
                  </a:lnTo>
                  <a:lnTo>
                    <a:pt x="1490503" y="38385"/>
                  </a:lnTo>
                  <a:lnTo>
                    <a:pt x="1454042" y="19335"/>
                  </a:lnTo>
                  <a:lnTo>
                    <a:pt x="1417320" y="0"/>
                  </a:lnTo>
                  <a:lnTo>
                    <a:pt x="1368149" y="5255"/>
                  </a:lnTo>
                  <a:lnTo>
                    <a:pt x="1319744" y="12774"/>
                  </a:lnTo>
                  <a:lnTo>
                    <a:pt x="1271919" y="21999"/>
                  </a:lnTo>
                  <a:lnTo>
                    <a:pt x="1224489" y="32371"/>
                  </a:lnTo>
                  <a:lnTo>
                    <a:pt x="1177269" y="43334"/>
                  </a:lnTo>
                  <a:lnTo>
                    <a:pt x="1130074" y="54327"/>
                  </a:lnTo>
                  <a:lnTo>
                    <a:pt x="1082719" y="64794"/>
                  </a:lnTo>
                  <a:lnTo>
                    <a:pt x="1035019" y="74176"/>
                  </a:lnTo>
                  <a:lnTo>
                    <a:pt x="986790" y="81914"/>
                  </a:lnTo>
                  <a:lnTo>
                    <a:pt x="934550" y="78622"/>
                  </a:lnTo>
                  <a:lnTo>
                    <a:pt x="883435" y="74080"/>
                  </a:lnTo>
                  <a:lnTo>
                    <a:pt x="833119" y="68574"/>
                  </a:lnTo>
                  <a:lnTo>
                    <a:pt x="783272" y="62388"/>
                  </a:lnTo>
                  <a:lnTo>
                    <a:pt x="733568" y="55810"/>
                  </a:lnTo>
                  <a:lnTo>
                    <a:pt x="683680" y="49125"/>
                  </a:lnTo>
                  <a:lnTo>
                    <a:pt x="633280" y="42618"/>
                  </a:lnTo>
                  <a:lnTo>
                    <a:pt x="582041" y="36575"/>
                  </a:lnTo>
                  <a:lnTo>
                    <a:pt x="527731" y="39964"/>
                  </a:lnTo>
                  <a:lnTo>
                    <a:pt x="474701" y="44660"/>
                  </a:lnTo>
                  <a:lnTo>
                    <a:pt x="422693" y="50842"/>
                  </a:lnTo>
                  <a:lnTo>
                    <a:pt x="371454" y="58689"/>
                  </a:lnTo>
                  <a:lnTo>
                    <a:pt x="320728" y="68380"/>
                  </a:lnTo>
                  <a:lnTo>
                    <a:pt x="270260" y="80094"/>
                  </a:lnTo>
                  <a:lnTo>
                    <a:pt x="219796" y="94009"/>
                  </a:lnTo>
                  <a:lnTo>
                    <a:pt x="169079" y="110304"/>
                  </a:lnTo>
                  <a:lnTo>
                    <a:pt x="117856" y="129158"/>
                  </a:lnTo>
                  <a:lnTo>
                    <a:pt x="97837" y="160640"/>
                  </a:lnTo>
                  <a:lnTo>
                    <a:pt x="100536" y="155543"/>
                  </a:lnTo>
                  <a:lnTo>
                    <a:pt x="102484" y="149620"/>
                  </a:lnTo>
                  <a:lnTo>
                    <a:pt x="96762" y="152671"/>
                  </a:lnTo>
                  <a:lnTo>
                    <a:pt x="76453" y="174498"/>
                  </a:lnTo>
                  <a:lnTo>
                    <a:pt x="54453" y="204370"/>
                  </a:lnTo>
                  <a:lnTo>
                    <a:pt x="35702" y="237172"/>
                  </a:lnTo>
                  <a:lnTo>
                    <a:pt x="18214" y="270831"/>
                  </a:lnTo>
                  <a:lnTo>
                    <a:pt x="0" y="303275"/>
                  </a:lnTo>
                  <a:lnTo>
                    <a:pt x="319" y="345646"/>
                  </a:lnTo>
                  <a:lnTo>
                    <a:pt x="15780" y="396721"/>
                  </a:lnTo>
                  <a:lnTo>
                    <a:pt x="41166" y="448747"/>
                  </a:lnTo>
                  <a:lnTo>
                    <a:pt x="71258" y="493971"/>
                  </a:lnTo>
                  <a:lnTo>
                    <a:pt x="100837" y="524637"/>
                  </a:lnTo>
                  <a:lnTo>
                    <a:pt x="133828" y="568099"/>
                  </a:lnTo>
                  <a:lnTo>
                    <a:pt x="173284" y="602205"/>
                  </a:lnTo>
                  <a:lnTo>
                    <a:pt x="217566" y="628840"/>
                  </a:lnTo>
                  <a:lnTo>
                    <a:pt x="265034" y="649887"/>
                  </a:lnTo>
                  <a:lnTo>
                    <a:pt x="314048" y="667229"/>
                  </a:lnTo>
                  <a:lnTo>
                    <a:pt x="362966" y="682752"/>
                  </a:lnTo>
                  <a:lnTo>
                    <a:pt x="412410" y="698660"/>
                  </a:lnTo>
                  <a:lnTo>
                    <a:pt x="461900" y="715065"/>
                  </a:lnTo>
                  <a:lnTo>
                    <a:pt x="511450" y="731744"/>
                  </a:lnTo>
                  <a:lnTo>
                    <a:pt x="561074" y="748477"/>
                  </a:lnTo>
                  <a:lnTo>
                    <a:pt x="610788" y="765041"/>
                  </a:lnTo>
                  <a:lnTo>
                    <a:pt x="660604" y="781216"/>
                  </a:lnTo>
                  <a:lnTo>
                    <a:pt x="710538" y="796779"/>
                  </a:lnTo>
                  <a:lnTo>
                    <a:pt x="760603" y="811509"/>
                  </a:lnTo>
                  <a:lnTo>
                    <a:pt x="810815" y="825185"/>
                  </a:lnTo>
                  <a:lnTo>
                    <a:pt x="861186" y="837585"/>
                  </a:lnTo>
                  <a:lnTo>
                    <a:pt x="911733" y="848487"/>
                  </a:lnTo>
                  <a:lnTo>
                    <a:pt x="958793" y="865653"/>
                  </a:lnTo>
                  <a:lnTo>
                    <a:pt x="1007614" y="879564"/>
                  </a:lnTo>
                  <a:lnTo>
                    <a:pt x="1057278" y="891445"/>
                  </a:lnTo>
                  <a:lnTo>
                    <a:pt x="1106861" y="902521"/>
                  </a:lnTo>
                  <a:lnTo>
                    <a:pt x="1155446" y="914019"/>
                  </a:lnTo>
                  <a:lnTo>
                    <a:pt x="1192717" y="895389"/>
                  </a:lnTo>
                  <a:lnTo>
                    <a:pt x="1223418" y="866270"/>
                  </a:lnTo>
                  <a:lnTo>
                    <a:pt x="1249808" y="830073"/>
                  </a:lnTo>
                  <a:lnTo>
                    <a:pt x="1274150" y="790210"/>
                  </a:lnTo>
                  <a:lnTo>
                    <a:pt x="1298706" y="750094"/>
                  </a:lnTo>
                  <a:lnTo>
                    <a:pt x="1325736" y="713137"/>
                  </a:lnTo>
                  <a:lnTo>
                    <a:pt x="1357503" y="682752"/>
                  </a:lnTo>
                  <a:lnTo>
                    <a:pt x="1406612" y="689014"/>
                  </a:lnTo>
                  <a:lnTo>
                    <a:pt x="1447006" y="693991"/>
                  </a:lnTo>
                  <a:lnTo>
                    <a:pt x="1487162" y="695825"/>
                  </a:lnTo>
                  <a:lnTo>
                    <a:pt x="1535557" y="692658"/>
                  </a:lnTo>
                  <a:lnTo>
                    <a:pt x="1566531" y="675209"/>
                  </a:lnTo>
                  <a:lnTo>
                    <a:pt x="1599041" y="662797"/>
                  </a:lnTo>
                  <a:lnTo>
                    <a:pt x="1631622" y="651027"/>
                  </a:lnTo>
                  <a:lnTo>
                    <a:pt x="1662811" y="635508"/>
                  </a:lnTo>
                  <a:lnTo>
                    <a:pt x="1701232" y="610225"/>
                  </a:lnTo>
                  <a:lnTo>
                    <a:pt x="1736629" y="585549"/>
                  </a:lnTo>
                  <a:lnTo>
                    <a:pt x="1772931" y="562802"/>
                  </a:lnTo>
                  <a:lnTo>
                    <a:pt x="1814067" y="543306"/>
                  </a:lnTo>
                  <a:lnTo>
                    <a:pt x="1834509" y="521237"/>
                  </a:lnTo>
                  <a:lnTo>
                    <a:pt x="1847103" y="503062"/>
                  </a:lnTo>
                  <a:lnTo>
                    <a:pt x="1851626" y="481959"/>
                  </a:lnTo>
                  <a:lnTo>
                    <a:pt x="1847850" y="451104"/>
                  </a:lnTo>
                  <a:lnTo>
                    <a:pt x="1873781" y="447258"/>
                  </a:lnTo>
                  <a:lnTo>
                    <a:pt x="1915287" y="424433"/>
                  </a:lnTo>
                  <a:lnTo>
                    <a:pt x="1923764" y="391763"/>
                  </a:lnTo>
                  <a:lnTo>
                    <a:pt x="1923466" y="379214"/>
                  </a:lnTo>
                  <a:lnTo>
                    <a:pt x="1922906" y="350519"/>
                  </a:lnTo>
                </a:path>
              </a:pathLst>
            </a:custGeom>
            <a:ln w="365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1259" y="4067319"/>
            <a:ext cx="750147" cy="446276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6933">
              <a:spcBef>
                <a:spcPts val="120"/>
              </a:spcBef>
            </a:pPr>
            <a:r>
              <a:rPr sz="2800" b="1" spc="-33" dirty="0">
                <a:solidFill>
                  <a:srgbClr val="FFFF00"/>
                </a:solidFill>
                <a:latin typeface="Comic Sans MS"/>
                <a:cs typeface="Comic Sans MS"/>
              </a:rPr>
              <a:t>SRS</a:t>
            </a:r>
            <a:endParaRPr sz="2800">
              <a:latin typeface="Comic Sans MS"/>
              <a:cs typeface="Comic Sans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81259" y="4372626"/>
            <a:ext cx="1663700" cy="446276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6933">
              <a:spcBef>
                <a:spcPts val="120"/>
              </a:spcBef>
            </a:pPr>
            <a:r>
              <a:rPr sz="2800" b="1" spc="-13" dirty="0">
                <a:solidFill>
                  <a:srgbClr val="FFFF00"/>
                </a:solidFill>
                <a:latin typeface="Comic Sans MS"/>
                <a:cs typeface="Comic Sans MS"/>
              </a:rPr>
              <a:t>Document</a:t>
            </a:r>
            <a:endParaRPr sz="2800">
              <a:latin typeface="Comic Sans MS"/>
              <a:cs typeface="Comic Sans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38039" y="4451367"/>
            <a:ext cx="98044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b="1" spc="-13" dirty="0">
                <a:solidFill>
                  <a:srgbClr val="800000"/>
                </a:solidFill>
                <a:latin typeface="Comic Sans MS"/>
                <a:cs typeface="Comic Sans MS"/>
              </a:rPr>
              <a:t>Design</a:t>
            </a:r>
            <a:endParaRPr sz="2400">
              <a:latin typeface="Comic Sans MS"/>
              <a:cs typeface="Comic Sans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38040" y="4720099"/>
            <a:ext cx="1431713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b="1" spc="-13" dirty="0">
                <a:solidFill>
                  <a:srgbClr val="800000"/>
                </a:solidFill>
                <a:latin typeface="Comic Sans MS"/>
                <a:cs typeface="Comic Sans MS"/>
              </a:rPr>
              <a:t>Activities</a:t>
            </a:r>
            <a:endParaRPr sz="2400">
              <a:latin typeface="Comic Sans MS"/>
              <a:cs typeface="Comic Sans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693660" y="3930498"/>
            <a:ext cx="1302173" cy="512106"/>
          </a:xfrm>
          <a:prstGeom prst="rect">
            <a:avLst/>
          </a:prstGeom>
        </p:spPr>
        <p:txBody>
          <a:bodyPr vert="horz" wrap="square" lIns="0" tIns="19473" rIns="0" bIns="0" rtlCol="0">
            <a:spAutoFit/>
          </a:bodyPr>
          <a:lstStyle/>
          <a:p>
            <a:pPr marL="16933">
              <a:spcBef>
                <a:spcPts val="153"/>
              </a:spcBef>
            </a:pPr>
            <a:r>
              <a:rPr sz="3200" b="1" spc="-13" dirty="0">
                <a:latin typeface="Comic Sans MS"/>
                <a:cs typeface="Comic Sans MS"/>
              </a:rPr>
              <a:t>Design</a:t>
            </a:r>
            <a:endParaRPr sz="3200">
              <a:latin typeface="Comic Sans MS"/>
              <a:cs typeface="Comic Sans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693660" y="4284405"/>
            <a:ext cx="2111587" cy="512106"/>
          </a:xfrm>
          <a:prstGeom prst="rect">
            <a:avLst/>
          </a:prstGeom>
        </p:spPr>
        <p:txBody>
          <a:bodyPr vert="horz" wrap="square" lIns="0" tIns="19473" rIns="0" bIns="0" rtlCol="0">
            <a:spAutoFit/>
          </a:bodyPr>
          <a:lstStyle/>
          <a:p>
            <a:pPr marL="16933">
              <a:spcBef>
                <a:spcPts val="153"/>
              </a:spcBef>
            </a:pPr>
            <a:r>
              <a:rPr sz="3200" b="1" spc="-13" dirty="0">
                <a:latin typeface="Comic Sans MS"/>
                <a:cs typeface="Comic Sans MS"/>
              </a:rPr>
              <a:t>Documents</a:t>
            </a:r>
            <a:endParaRPr sz="3200">
              <a:latin typeface="Comic Sans MS"/>
              <a:cs typeface="Comic Sans M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340182" y="4341368"/>
            <a:ext cx="2950633" cy="243840"/>
          </a:xfrm>
          <a:custGeom>
            <a:avLst/>
            <a:gdLst/>
            <a:ahLst/>
            <a:cxnLst/>
            <a:rect l="l" t="t" r="r" b="b"/>
            <a:pathLst>
              <a:path w="2212975" h="182879">
                <a:moveTo>
                  <a:pt x="2029714" y="0"/>
                </a:moveTo>
                <a:lnTo>
                  <a:pt x="2030476" y="182880"/>
                </a:lnTo>
                <a:lnTo>
                  <a:pt x="2175369" y="109677"/>
                </a:lnTo>
                <a:lnTo>
                  <a:pt x="2048510" y="109677"/>
                </a:lnTo>
                <a:lnTo>
                  <a:pt x="2048378" y="90678"/>
                </a:lnTo>
                <a:lnTo>
                  <a:pt x="2048256" y="73100"/>
                </a:lnTo>
                <a:lnTo>
                  <a:pt x="2177451" y="73100"/>
                </a:lnTo>
                <a:lnTo>
                  <a:pt x="2029714" y="0"/>
                </a:lnTo>
                <a:close/>
              </a:path>
              <a:path w="2212975" h="182879">
                <a:moveTo>
                  <a:pt x="2030018" y="73100"/>
                </a:moveTo>
                <a:lnTo>
                  <a:pt x="0" y="81534"/>
                </a:lnTo>
                <a:lnTo>
                  <a:pt x="195" y="109677"/>
                </a:lnTo>
                <a:lnTo>
                  <a:pt x="253" y="118110"/>
                </a:lnTo>
                <a:lnTo>
                  <a:pt x="2030170" y="109677"/>
                </a:lnTo>
                <a:lnTo>
                  <a:pt x="2030053" y="81534"/>
                </a:lnTo>
                <a:lnTo>
                  <a:pt x="2030018" y="73100"/>
                </a:lnTo>
                <a:close/>
              </a:path>
              <a:path w="2212975" h="182879">
                <a:moveTo>
                  <a:pt x="2177451" y="73100"/>
                </a:moveTo>
                <a:lnTo>
                  <a:pt x="2048256" y="73100"/>
                </a:lnTo>
                <a:lnTo>
                  <a:pt x="2048510" y="109677"/>
                </a:lnTo>
                <a:lnTo>
                  <a:pt x="2175369" y="109677"/>
                </a:lnTo>
                <a:lnTo>
                  <a:pt x="2212975" y="90678"/>
                </a:lnTo>
                <a:lnTo>
                  <a:pt x="2177451" y="73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32109" y="5286519"/>
            <a:ext cx="762000" cy="762000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75647" y="3023615"/>
            <a:ext cx="1066800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797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91206" y="304910"/>
            <a:ext cx="9122599" cy="674608"/>
          </a:xfrm>
          <a:prstGeom prst="rect">
            <a:avLst/>
          </a:prstGeom>
        </p:spPr>
        <p:txBody>
          <a:bodyPr vert="horz" wrap="square" lIns="0" tIns="17780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40"/>
              </a:spcBef>
            </a:pPr>
            <a:r>
              <a:rPr sz="4267" dirty="0"/>
              <a:t>Items</a:t>
            </a:r>
            <a:r>
              <a:rPr sz="4267" spc="-60" dirty="0"/>
              <a:t> </a:t>
            </a:r>
            <a:r>
              <a:rPr sz="4267" dirty="0"/>
              <a:t>Designed</a:t>
            </a:r>
            <a:r>
              <a:rPr sz="4267" spc="-87" dirty="0"/>
              <a:t> </a:t>
            </a:r>
            <a:r>
              <a:rPr sz="4267" dirty="0"/>
              <a:t>During</a:t>
            </a:r>
            <a:r>
              <a:rPr sz="4267" spc="-67" dirty="0"/>
              <a:t> </a:t>
            </a:r>
            <a:r>
              <a:rPr sz="4267" dirty="0"/>
              <a:t>Design</a:t>
            </a:r>
            <a:r>
              <a:rPr sz="4267" spc="-93" dirty="0"/>
              <a:t> </a:t>
            </a:r>
            <a:r>
              <a:rPr sz="4267" spc="-13" dirty="0"/>
              <a:t>Phase</a:t>
            </a:r>
            <a:endParaRPr sz="4267" dirty="0"/>
          </a:p>
        </p:txBody>
      </p:sp>
      <p:sp>
        <p:nvSpPr>
          <p:cNvPr id="3" name="object 3"/>
          <p:cNvSpPr txBox="1"/>
          <p:nvPr/>
        </p:nvSpPr>
        <p:spPr>
          <a:xfrm>
            <a:off x="779742" y="869364"/>
            <a:ext cx="8972973" cy="5197684"/>
          </a:xfrm>
          <a:prstGeom prst="rect">
            <a:avLst/>
          </a:prstGeom>
        </p:spPr>
        <p:txBody>
          <a:bodyPr vert="horz" wrap="square" lIns="0" tIns="209973" rIns="0" bIns="0" rtlCol="0">
            <a:spAutoFit/>
          </a:bodyPr>
          <a:lstStyle/>
          <a:p>
            <a:pPr marL="473275" indent="-456342">
              <a:spcBef>
                <a:spcPts val="1653"/>
              </a:spcBef>
              <a:buFont typeface="Arial MT"/>
              <a:buChar char="•"/>
              <a:tabLst>
                <a:tab pos="473275" algn="l"/>
              </a:tabLst>
            </a:pPr>
            <a:r>
              <a:rPr sz="3733" dirty="0">
                <a:solidFill>
                  <a:srgbClr val="000099"/>
                </a:solidFill>
                <a:latin typeface="Calibri"/>
                <a:cs typeface="Calibri"/>
              </a:rPr>
              <a:t>Module</a:t>
            </a:r>
            <a:r>
              <a:rPr sz="3733" spc="-20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3733" spc="-13" dirty="0">
                <a:solidFill>
                  <a:srgbClr val="000099"/>
                </a:solidFill>
                <a:latin typeface="Calibri"/>
                <a:cs typeface="Calibri"/>
              </a:rPr>
              <a:t>structure,</a:t>
            </a:r>
            <a:endParaRPr sz="3733" dirty="0">
              <a:latin typeface="Calibri"/>
              <a:cs typeface="Calibri"/>
            </a:endParaRPr>
          </a:p>
          <a:p>
            <a:pPr marL="473275" indent="-456342">
              <a:spcBef>
                <a:spcPts val="1527"/>
              </a:spcBef>
              <a:buFont typeface="Arial MT"/>
              <a:buChar char="•"/>
              <a:tabLst>
                <a:tab pos="473275" algn="l"/>
              </a:tabLst>
            </a:pPr>
            <a:r>
              <a:rPr sz="3733" dirty="0">
                <a:solidFill>
                  <a:srgbClr val="000099"/>
                </a:solidFill>
                <a:latin typeface="Calibri"/>
                <a:cs typeface="Calibri"/>
              </a:rPr>
              <a:t>Control</a:t>
            </a:r>
            <a:r>
              <a:rPr sz="3733" spc="-87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3733" spc="-13" dirty="0">
                <a:solidFill>
                  <a:srgbClr val="000099"/>
                </a:solidFill>
                <a:latin typeface="Calibri"/>
                <a:cs typeface="Calibri"/>
              </a:rPr>
              <a:t>relationship</a:t>
            </a:r>
            <a:r>
              <a:rPr sz="3733" spc="-120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3733" dirty="0">
                <a:solidFill>
                  <a:srgbClr val="000099"/>
                </a:solidFill>
                <a:latin typeface="Calibri"/>
                <a:cs typeface="Calibri"/>
              </a:rPr>
              <a:t>among</a:t>
            </a:r>
            <a:r>
              <a:rPr sz="3733" spc="-20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3733" dirty="0">
                <a:solidFill>
                  <a:srgbClr val="000099"/>
                </a:solidFill>
                <a:latin typeface="Calibri"/>
                <a:cs typeface="Calibri"/>
              </a:rPr>
              <a:t>the</a:t>
            </a:r>
            <a:r>
              <a:rPr sz="3733" spc="-60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3733" spc="-13" dirty="0">
                <a:solidFill>
                  <a:srgbClr val="000099"/>
                </a:solidFill>
                <a:latin typeface="Calibri"/>
                <a:cs typeface="Calibri"/>
              </a:rPr>
              <a:t>modules</a:t>
            </a:r>
            <a:endParaRPr sz="3733" dirty="0">
              <a:latin typeface="Calibri"/>
              <a:cs typeface="Calibri"/>
            </a:endParaRPr>
          </a:p>
          <a:p>
            <a:pPr marL="1010048" lvl="1" indent="-383530">
              <a:spcBef>
                <a:spcPts val="1533"/>
              </a:spcBef>
              <a:buFont typeface="Arial MT"/>
              <a:buChar char="–"/>
              <a:tabLst>
                <a:tab pos="1010048" algn="l"/>
              </a:tabLst>
            </a:pPr>
            <a:r>
              <a:rPr sz="3200" dirty="0">
                <a:solidFill>
                  <a:srgbClr val="000099"/>
                </a:solidFill>
                <a:latin typeface="Calibri"/>
                <a:cs typeface="Calibri"/>
              </a:rPr>
              <a:t>call</a:t>
            </a:r>
            <a:r>
              <a:rPr sz="3200" spc="-93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3200" spc="-13" dirty="0">
                <a:solidFill>
                  <a:srgbClr val="000099"/>
                </a:solidFill>
                <a:latin typeface="Calibri"/>
                <a:cs typeface="Calibri"/>
              </a:rPr>
              <a:t>relationship</a:t>
            </a:r>
            <a:r>
              <a:rPr sz="3200" spc="-40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0099"/>
                </a:solidFill>
                <a:latin typeface="Calibri"/>
                <a:cs typeface="Calibri"/>
              </a:rPr>
              <a:t>or</a:t>
            </a:r>
            <a:r>
              <a:rPr sz="3200" spc="-93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3200" spc="-13" dirty="0">
                <a:solidFill>
                  <a:srgbClr val="000099"/>
                </a:solidFill>
                <a:latin typeface="Calibri"/>
                <a:cs typeface="Calibri"/>
              </a:rPr>
              <a:t>invocation</a:t>
            </a:r>
            <a:r>
              <a:rPr sz="3200" spc="-40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3200" spc="-13" dirty="0">
                <a:solidFill>
                  <a:srgbClr val="000099"/>
                </a:solidFill>
                <a:latin typeface="Calibri"/>
                <a:cs typeface="Calibri"/>
              </a:rPr>
              <a:t>relationship</a:t>
            </a:r>
            <a:endParaRPr sz="3200" dirty="0">
              <a:latin typeface="Calibri"/>
              <a:cs typeface="Calibri"/>
            </a:endParaRPr>
          </a:p>
          <a:p>
            <a:pPr marL="473275" indent="-456342">
              <a:spcBef>
                <a:spcPts val="1440"/>
              </a:spcBef>
              <a:buFont typeface="Arial MT"/>
              <a:buChar char="•"/>
              <a:tabLst>
                <a:tab pos="473275" algn="l"/>
              </a:tabLst>
            </a:pPr>
            <a:r>
              <a:rPr sz="3733" spc="-13" dirty="0">
                <a:solidFill>
                  <a:srgbClr val="000099"/>
                </a:solidFill>
                <a:latin typeface="Calibri"/>
                <a:cs typeface="Calibri"/>
              </a:rPr>
              <a:t>Interface</a:t>
            </a:r>
            <a:r>
              <a:rPr sz="3733" spc="-127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3733" dirty="0">
                <a:solidFill>
                  <a:srgbClr val="000099"/>
                </a:solidFill>
                <a:latin typeface="Calibri"/>
                <a:cs typeface="Calibri"/>
              </a:rPr>
              <a:t>among</a:t>
            </a:r>
            <a:r>
              <a:rPr sz="3733" spc="-120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3733" spc="-13" dirty="0">
                <a:solidFill>
                  <a:srgbClr val="000099"/>
                </a:solidFill>
                <a:latin typeface="Calibri"/>
                <a:cs typeface="Calibri"/>
              </a:rPr>
              <a:t>different</a:t>
            </a:r>
            <a:r>
              <a:rPr sz="3733" spc="-133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3733" spc="-13" dirty="0">
                <a:solidFill>
                  <a:srgbClr val="000099"/>
                </a:solidFill>
                <a:latin typeface="Calibri"/>
                <a:cs typeface="Calibri"/>
              </a:rPr>
              <a:t>modules,</a:t>
            </a:r>
            <a:endParaRPr sz="3733" dirty="0">
              <a:latin typeface="Calibri"/>
              <a:cs typeface="Calibri"/>
            </a:endParaRPr>
          </a:p>
          <a:p>
            <a:pPr marL="1010048" lvl="1" indent="-383530">
              <a:spcBef>
                <a:spcPts val="1527"/>
              </a:spcBef>
              <a:buFont typeface="Arial MT"/>
              <a:buChar char="–"/>
              <a:tabLst>
                <a:tab pos="1010048" algn="l"/>
              </a:tabLst>
            </a:pPr>
            <a:r>
              <a:rPr sz="3200" dirty="0">
                <a:solidFill>
                  <a:srgbClr val="000099"/>
                </a:solidFill>
                <a:latin typeface="Calibri"/>
                <a:cs typeface="Calibri"/>
              </a:rPr>
              <a:t>data</a:t>
            </a:r>
            <a:r>
              <a:rPr sz="3200" spc="-113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0099"/>
                </a:solidFill>
                <a:latin typeface="Calibri"/>
                <a:cs typeface="Calibri"/>
              </a:rPr>
              <a:t>items</a:t>
            </a:r>
            <a:r>
              <a:rPr sz="3200" spc="-133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3200" spc="-13" dirty="0">
                <a:solidFill>
                  <a:srgbClr val="000099"/>
                </a:solidFill>
                <a:latin typeface="Calibri"/>
                <a:cs typeface="Calibri"/>
              </a:rPr>
              <a:t>exchanged</a:t>
            </a:r>
            <a:r>
              <a:rPr sz="3200" spc="-133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0099"/>
                </a:solidFill>
                <a:latin typeface="Calibri"/>
                <a:cs typeface="Calibri"/>
              </a:rPr>
              <a:t>among</a:t>
            </a:r>
            <a:r>
              <a:rPr sz="3200" spc="-180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3200" spc="-13" dirty="0">
                <a:solidFill>
                  <a:srgbClr val="000099"/>
                </a:solidFill>
                <a:latin typeface="Calibri"/>
                <a:cs typeface="Calibri"/>
              </a:rPr>
              <a:t>different</a:t>
            </a:r>
            <a:r>
              <a:rPr sz="3200" spc="13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3200" spc="-13" dirty="0">
                <a:solidFill>
                  <a:srgbClr val="000099"/>
                </a:solidFill>
                <a:latin typeface="Calibri"/>
                <a:cs typeface="Calibri"/>
              </a:rPr>
              <a:t>modules,</a:t>
            </a:r>
            <a:endParaRPr sz="3200" dirty="0">
              <a:latin typeface="Calibri"/>
              <a:cs typeface="Calibri"/>
            </a:endParaRPr>
          </a:p>
          <a:p>
            <a:pPr marL="473275" indent="-456342">
              <a:spcBef>
                <a:spcPts val="1440"/>
              </a:spcBef>
              <a:buFont typeface="Arial MT"/>
              <a:buChar char="•"/>
              <a:tabLst>
                <a:tab pos="473275" algn="l"/>
              </a:tabLst>
            </a:pPr>
            <a:r>
              <a:rPr sz="3733" dirty="0">
                <a:solidFill>
                  <a:srgbClr val="000099"/>
                </a:solidFill>
                <a:latin typeface="Calibri"/>
                <a:cs typeface="Calibri"/>
              </a:rPr>
              <a:t>Data</a:t>
            </a:r>
            <a:r>
              <a:rPr sz="3733" spc="-80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3733" dirty="0">
                <a:solidFill>
                  <a:srgbClr val="000099"/>
                </a:solidFill>
                <a:latin typeface="Calibri"/>
                <a:cs typeface="Calibri"/>
              </a:rPr>
              <a:t>structures</a:t>
            </a:r>
            <a:r>
              <a:rPr sz="3733" spc="-80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3733" dirty="0">
                <a:solidFill>
                  <a:srgbClr val="000099"/>
                </a:solidFill>
                <a:latin typeface="Calibri"/>
                <a:cs typeface="Calibri"/>
              </a:rPr>
              <a:t>of</a:t>
            </a:r>
            <a:r>
              <a:rPr sz="3733" spc="-107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3733" dirty="0">
                <a:solidFill>
                  <a:srgbClr val="000099"/>
                </a:solidFill>
                <a:latin typeface="Calibri"/>
                <a:cs typeface="Calibri"/>
              </a:rPr>
              <a:t>individual</a:t>
            </a:r>
            <a:r>
              <a:rPr sz="3733" spc="-93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3733" spc="-13" dirty="0">
                <a:solidFill>
                  <a:srgbClr val="000099"/>
                </a:solidFill>
                <a:latin typeface="Calibri"/>
                <a:cs typeface="Calibri"/>
              </a:rPr>
              <a:t>modules,</a:t>
            </a:r>
            <a:endParaRPr sz="3733" dirty="0">
              <a:latin typeface="Calibri"/>
              <a:cs typeface="Calibri"/>
            </a:endParaRPr>
          </a:p>
          <a:p>
            <a:pPr marL="473275" indent="-456342">
              <a:spcBef>
                <a:spcPts val="1527"/>
              </a:spcBef>
              <a:buFont typeface="Arial MT"/>
              <a:buChar char="•"/>
              <a:tabLst>
                <a:tab pos="473275" algn="l"/>
              </a:tabLst>
            </a:pPr>
            <a:r>
              <a:rPr sz="3733" dirty="0">
                <a:solidFill>
                  <a:srgbClr val="000099"/>
                </a:solidFill>
                <a:latin typeface="Calibri"/>
                <a:cs typeface="Calibri"/>
              </a:rPr>
              <a:t>algorithms</a:t>
            </a:r>
            <a:r>
              <a:rPr sz="3733" spc="-93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3733" dirty="0">
                <a:solidFill>
                  <a:srgbClr val="000099"/>
                </a:solidFill>
                <a:latin typeface="Calibri"/>
                <a:cs typeface="Calibri"/>
              </a:rPr>
              <a:t>for</a:t>
            </a:r>
            <a:r>
              <a:rPr sz="3733" spc="-73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3733" dirty="0">
                <a:solidFill>
                  <a:srgbClr val="000099"/>
                </a:solidFill>
                <a:latin typeface="Calibri"/>
                <a:cs typeface="Calibri"/>
              </a:rPr>
              <a:t>individual</a:t>
            </a:r>
            <a:r>
              <a:rPr sz="3733" spc="-140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3733" spc="-13" dirty="0">
                <a:solidFill>
                  <a:srgbClr val="000099"/>
                </a:solidFill>
                <a:latin typeface="Calibri"/>
                <a:cs typeface="Calibri"/>
              </a:rPr>
              <a:t>modules.</a:t>
            </a:r>
            <a:endParaRPr sz="3733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49719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Design Principles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en-US" dirty="0"/>
              <a:t>S/W design is both a process and a model.</a:t>
            </a:r>
          </a:p>
          <a:p>
            <a:pPr>
              <a:lnSpc>
                <a:spcPct val="150000"/>
              </a:lnSpc>
            </a:pPr>
            <a:r>
              <a:rPr lang="en-US" altLang="en-US" i="1" dirty="0"/>
              <a:t>Design process</a:t>
            </a:r>
            <a:r>
              <a:rPr lang="en-US" altLang="en-US" dirty="0"/>
              <a:t> - sequence of steps that enable the designer to describe all aspects of the software to be built.</a:t>
            </a:r>
          </a:p>
          <a:p>
            <a:pPr>
              <a:lnSpc>
                <a:spcPct val="150000"/>
              </a:lnSpc>
            </a:pPr>
            <a:r>
              <a:rPr lang="en-US" altLang="en-US" i="1" dirty="0"/>
              <a:t>Design model</a:t>
            </a:r>
            <a:r>
              <a:rPr lang="en-US" altLang="en-US" dirty="0"/>
              <a:t> - created for software provides a variety of different views of the computer software</a:t>
            </a:r>
          </a:p>
        </p:txBody>
      </p:sp>
    </p:spTree>
    <p:extLst>
      <p:ext uri="{BB962C8B-B14F-4D97-AF65-F5344CB8AC3E}">
        <p14:creationId xmlns:p14="http://schemas.microsoft.com/office/powerpoint/2010/main" val="2753437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Design Principles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200" i="1"/>
              <a:t>The design process </a:t>
            </a:r>
            <a:r>
              <a:rPr lang="en-US" altLang="en-US" sz="2200" i="1" u="sng"/>
              <a:t>should not suffer from ‘tunnel vision</a:t>
            </a:r>
            <a:r>
              <a:rPr lang="en-US" altLang="en-US" sz="2200"/>
              <a:t>.’  -  Designer should consider alternative approaches.</a:t>
            </a:r>
          </a:p>
          <a:p>
            <a:pPr>
              <a:lnSpc>
                <a:spcPct val="90000"/>
              </a:lnSpc>
            </a:pPr>
            <a:r>
              <a:rPr lang="en-US" altLang="en-US" sz="2200" i="1"/>
              <a:t>The design should be </a:t>
            </a:r>
            <a:r>
              <a:rPr lang="en-US" altLang="en-US" sz="2200" i="1" u="sng"/>
              <a:t>traceable to the analysis model</a:t>
            </a:r>
            <a:r>
              <a:rPr lang="en-US" altLang="en-US" sz="2200"/>
              <a:t> - a single element of the design model often traces to multiple requirements, it is necessary to have a means for tracking how requirements have been satisfied by the design model.</a:t>
            </a:r>
          </a:p>
          <a:p>
            <a:pPr>
              <a:lnSpc>
                <a:spcPct val="90000"/>
              </a:lnSpc>
            </a:pPr>
            <a:r>
              <a:rPr lang="en-US" altLang="en-US" sz="2200" i="1"/>
              <a:t>The design should </a:t>
            </a:r>
            <a:r>
              <a:rPr lang="en-US" altLang="en-US" sz="2200" i="1" u="sng"/>
              <a:t>not reinvent the wheel</a:t>
            </a:r>
            <a:r>
              <a:rPr lang="en-US" altLang="en-US" sz="2200" i="1"/>
              <a:t>-  </a:t>
            </a:r>
            <a:r>
              <a:rPr lang="en-US" altLang="en-US" sz="2200"/>
              <a:t>use already exists design pattern because time is short and resource are limited.</a:t>
            </a:r>
          </a:p>
          <a:p>
            <a:pPr>
              <a:lnSpc>
                <a:spcPct val="90000"/>
              </a:lnSpc>
            </a:pPr>
            <a:r>
              <a:rPr lang="en-US" altLang="en-US" sz="2200" i="1"/>
              <a:t>The design should “</a:t>
            </a:r>
            <a:r>
              <a:rPr lang="en-US" altLang="en-US" sz="2200" i="1" u="sng"/>
              <a:t>minimize the intellectual distance</a:t>
            </a:r>
            <a:r>
              <a:rPr lang="en-US" altLang="en-US" sz="2200" i="1"/>
              <a:t>” between the software and the problem as it exists in the real world. – </a:t>
            </a:r>
            <a:r>
              <a:rPr lang="en-US" altLang="en-US" sz="2200"/>
              <a:t>design should be self-explanatory </a:t>
            </a:r>
          </a:p>
        </p:txBody>
      </p:sp>
    </p:spTree>
    <p:extLst>
      <p:ext uri="{BB962C8B-B14F-4D97-AF65-F5344CB8AC3E}">
        <p14:creationId xmlns:p14="http://schemas.microsoft.com/office/powerpoint/2010/main" val="2089491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Design Principles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200" i="1" dirty="0"/>
              <a:t>The design should </a:t>
            </a:r>
            <a:r>
              <a:rPr lang="en-US" altLang="en-US" sz="2200" i="1" u="sng" dirty="0"/>
              <a:t>exhibit uniformity and integration</a:t>
            </a:r>
            <a:r>
              <a:rPr lang="en-US" altLang="en-US" sz="2200" dirty="0"/>
              <a:t> – before design work begins rules of styles and format should be defined for a design team. </a:t>
            </a:r>
          </a:p>
          <a:p>
            <a:pPr>
              <a:lnSpc>
                <a:spcPct val="80000"/>
              </a:lnSpc>
            </a:pPr>
            <a:r>
              <a:rPr lang="en-US" altLang="en-US" sz="2200" i="1" dirty="0"/>
              <a:t>The design should be </a:t>
            </a:r>
            <a:r>
              <a:rPr lang="en-US" altLang="en-US" sz="2200" i="1" u="sng" dirty="0"/>
              <a:t>structured to accommodate change</a:t>
            </a:r>
            <a:endParaRPr lang="en-US" altLang="en-US" sz="2200" i="1" dirty="0"/>
          </a:p>
          <a:p>
            <a:pPr>
              <a:lnSpc>
                <a:spcPct val="80000"/>
              </a:lnSpc>
            </a:pPr>
            <a:r>
              <a:rPr lang="en-US" altLang="en-US" sz="2200" i="1" dirty="0"/>
              <a:t>The design should be structured to </a:t>
            </a:r>
            <a:r>
              <a:rPr lang="en-US" altLang="en-US" sz="2200" i="1" u="sng" dirty="0"/>
              <a:t>degrade gently</a:t>
            </a:r>
            <a:r>
              <a:rPr lang="en-US" altLang="en-US" sz="2200" i="1" dirty="0"/>
              <a:t>, even when unusual data, events, or operating conditions are encountered. </a:t>
            </a:r>
          </a:p>
          <a:p>
            <a:pPr>
              <a:lnSpc>
                <a:spcPct val="80000"/>
              </a:lnSpc>
            </a:pPr>
            <a:r>
              <a:rPr lang="en-US" altLang="en-US" sz="2200" i="1" dirty="0"/>
              <a:t>Design is not coding, coding is not design. </a:t>
            </a:r>
          </a:p>
          <a:p>
            <a:pPr>
              <a:lnSpc>
                <a:spcPct val="80000"/>
              </a:lnSpc>
            </a:pPr>
            <a:r>
              <a:rPr lang="en-US" altLang="en-US" sz="2200" i="1" dirty="0"/>
              <a:t>The design should be assessed for quality as it is being created, not after the fact</a:t>
            </a:r>
          </a:p>
          <a:p>
            <a:pPr>
              <a:lnSpc>
                <a:spcPct val="80000"/>
              </a:lnSpc>
            </a:pPr>
            <a:r>
              <a:rPr lang="en-US" altLang="en-US" sz="2200" i="1" dirty="0"/>
              <a:t>The design should be reviewed to minimize conceptual (semantic) errors.</a:t>
            </a:r>
          </a:p>
          <a:p>
            <a:pPr>
              <a:lnSpc>
                <a:spcPct val="80000"/>
              </a:lnSpc>
            </a:pPr>
            <a:endParaRPr lang="en-US" altLang="en-US" sz="2200" i="1" dirty="0"/>
          </a:p>
        </p:txBody>
      </p:sp>
    </p:spTree>
    <p:extLst>
      <p:ext uri="{BB962C8B-B14F-4D97-AF65-F5344CB8AC3E}">
        <p14:creationId xmlns:p14="http://schemas.microsoft.com/office/powerpoint/2010/main" val="2643221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77834" y="280396"/>
            <a:ext cx="2269913" cy="851515"/>
          </a:xfrm>
          <a:prstGeom prst="rect">
            <a:avLst/>
          </a:prstGeom>
        </p:spPr>
        <p:txBody>
          <a:bodyPr vert="horz" wrap="square" lIns="0" tIns="20320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60"/>
              </a:spcBef>
            </a:pPr>
            <a:r>
              <a:rPr sz="5400" spc="-13" dirty="0"/>
              <a:t>Module</a:t>
            </a:r>
            <a:endParaRPr sz="5400"/>
          </a:p>
        </p:txBody>
      </p:sp>
      <p:sp>
        <p:nvSpPr>
          <p:cNvPr id="3" name="object 3"/>
          <p:cNvSpPr txBox="1"/>
          <p:nvPr/>
        </p:nvSpPr>
        <p:spPr>
          <a:xfrm>
            <a:off x="604689" y="1216687"/>
            <a:ext cx="5964767" cy="2180083"/>
          </a:xfrm>
          <a:prstGeom prst="rect">
            <a:avLst/>
          </a:prstGeom>
        </p:spPr>
        <p:txBody>
          <a:bodyPr vert="horz" wrap="square" lIns="0" tIns="172719" rIns="0" bIns="0" rtlCol="0">
            <a:spAutoFit/>
          </a:bodyPr>
          <a:lstStyle/>
          <a:p>
            <a:pPr marL="474121" indent="-457189">
              <a:spcBef>
                <a:spcPts val="1359"/>
              </a:spcBef>
              <a:buFont typeface="Arial MT"/>
              <a:buChar char="•"/>
              <a:tabLst>
                <a:tab pos="474121" algn="l"/>
              </a:tabLst>
            </a:pPr>
            <a:r>
              <a:rPr sz="4000" dirty="0">
                <a:latin typeface="Calibri"/>
                <a:cs typeface="Calibri"/>
              </a:rPr>
              <a:t>A</a:t>
            </a:r>
            <a:r>
              <a:rPr sz="4000" spc="-14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module</a:t>
            </a:r>
            <a:r>
              <a:rPr sz="4000" spc="-152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consists</a:t>
            </a:r>
            <a:r>
              <a:rPr sz="4000" spc="-60" dirty="0">
                <a:latin typeface="Calibri"/>
                <a:cs typeface="Calibri"/>
              </a:rPr>
              <a:t> </a:t>
            </a:r>
            <a:r>
              <a:rPr sz="4000" spc="-33" dirty="0">
                <a:latin typeface="Calibri"/>
                <a:cs typeface="Calibri"/>
              </a:rPr>
              <a:t>of:</a:t>
            </a:r>
            <a:endParaRPr sz="4000" dirty="0">
              <a:latin typeface="Calibri"/>
              <a:cs typeface="Calibri"/>
            </a:endParaRPr>
          </a:p>
          <a:p>
            <a:pPr marL="1010048" lvl="1" indent="-383530">
              <a:spcBef>
                <a:spcPts val="1125"/>
              </a:spcBef>
              <a:buFont typeface="Arial MT"/>
              <a:buChar char="–"/>
              <a:tabLst>
                <a:tab pos="1010048" algn="l"/>
              </a:tabLst>
            </a:pPr>
            <a:r>
              <a:rPr sz="3600" dirty="0">
                <a:latin typeface="Calibri"/>
                <a:cs typeface="Calibri"/>
              </a:rPr>
              <a:t>several</a:t>
            </a:r>
            <a:r>
              <a:rPr sz="3600" spc="-200" dirty="0">
                <a:latin typeface="Calibri"/>
                <a:cs typeface="Calibri"/>
              </a:rPr>
              <a:t> </a:t>
            </a:r>
            <a:r>
              <a:rPr sz="3600" spc="-13" dirty="0">
                <a:latin typeface="Calibri"/>
                <a:cs typeface="Calibri"/>
              </a:rPr>
              <a:t>functions</a:t>
            </a:r>
            <a:endParaRPr sz="3600" dirty="0">
              <a:latin typeface="Calibri"/>
              <a:cs typeface="Calibri"/>
            </a:endParaRPr>
          </a:p>
          <a:p>
            <a:pPr marL="1010048" lvl="1" indent="-383530">
              <a:spcBef>
                <a:spcPts val="1107"/>
              </a:spcBef>
              <a:buFont typeface="Arial MT"/>
              <a:buChar char="–"/>
              <a:tabLst>
                <a:tab pos="1010048" algn="l"/>
              </a:tabLst>
            </a:pPr>
            <a:r>
              <a:rPr sz="3600" dirty="0">
                <a:latin typeface="Calibri"/>
                <a:cs typeface="Calibri"/>
              </a:rPr>
              <a:t>associated</a:t>
            </a:r>
            <a:r>
              <a:rPr sz="3600" spc="-18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data</a:t>
            </a:r>
            <a:r>
              <a:rPr sz="3600" spc="-160" dirty="0">
                <a:latin typeface="Calibri"/>
                <a:cs typeface="Calibri"/>
              </a:rPr>
              <a:t> </a:t>
            </a:r>
            <a:r>
              <a:rPr sz="3600" spc="-13" dirty="0">
                <a:latin typeface="Calibri"/>
                <a:cs typeface="Calibri"/>
              </a:rPr>
              <a:t>structures.</a:t>
            </a:r>
            <a:endParaRPr sz="36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949439" y="2511552"/>
            <a:ext cx="4432300" cy="2597573"/>
            <a:chOff x="5212079" y="1883664"/>
            <a:chExt cx="3324225" cy="1948180"/>
          </a:xfrm>
        </p:grpSpPr>
        <p:sp>
          <p:nvSpPr>
            <p:cNvPr id="5" name="object 5"/>
            <p:cNvSpPr/>
            <p:nvPr/>
          </p:nvSpPr>
          <p:spPr>
            <a:xfrm>
              <a:off x="5216652" y="1888489"/>
              <a:ext cx="3314700" cy="621030"/>
            </a:xfrm>
            <a:custGeom>
              <a:avLst/>
              <a:gdLst/>
              <a:ahLst/>
              <a:cxnLst/>
              <a:rect l="l" t="t" r="r" b="b"/>
              <a:pathLst>
                <a:path w="3314700" h="621030">
                  <a:moveTo>
                    <a:pt x="3314700" y="0"/>
                  </a:moveTo>
                  <a:lnTo>
                    <a:pt x="0" y="0"/>
                  </a:lnTo>
                  <a:lnTo>
                    <a:pt x="0" y="1270"/>
                  </a:lnTo>
                  <a:lnTo>
                    <a:pt x="0" y="621030"/>
                  </a:lnTo>
                  <a:lnTo>
                    <a:pt x="3314700" y="621030"/>
                  </a:lnTo>
                  <a:lnTo>
                    <a:pt x="3314700" y="1270"/>
                  </a:lnTo>
                  <a:lnTo>
                    <a:pt x="3314700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5216651" y="1888236"/>
              <a:ext cx="3314700" cy="622300"/>
            </a:xfrm>
            <a:custGeom>
              <a:avLst/>
              <a:gdLst/>
              <a:ahLst/>
              <a:cxnLst/>
              <a:rect l="l" t="t" r="r" b="b"/>
              <a:pathLst>
                <a:path w="3314700" h="622300">
                  <a:moveTo>
                    <a:pt x="0" y="1269"/>
                  </a:moveTo>
                  <a:lnTo>
                    <a:pt x="0" y="635"/>
                  </a:lnTo>
                  <a:lnTo>
                    <a:pt x="635" y="0"/>
                  </a:lnTo>
                  <a:lnTo>
                    <a:pt x="1270" y="0"/>
                  </a:lnTo>
                  <a:lnTo>
                    <a:pt x="3313429" y="0"/>
                  </a:lnTo>
                  <a:lnTo>
                    <a:pt x="3314065" y="0"/>
                  </a:lnTo>
                  <a:lnTo>
                    <a:pt x="3314700" y="635"/>
                  </a:lnTo>
                  <a:lnTo>
                    <a:pt x="3314700" y="1269"/>
                  </a:lnTo>
                  <a:lnTo>
                    <a:pt x="3314700" y="620521"/>
                  </a:lnTo>
                  <a:lnTo>
                    <a:pt x="3314700" y="621157"/>
                  </a:lnTo>
                  <a:lnTo>
                    <a:pt x="3314065" y="621791"/>
                  </a:lnTo>
                  <a:lnTo>
                    <a:pt x="3313429" y="621791"/>
                  </a:lnTo>
                  <a:lnTo>
                    <a:pt x="1270" y="621791"/>
                  </a:lnTo>
                  <a:lnTo>
                    <a:pt x="635" y="621791"/>
                  </a:lnTo>
                  <a:lnTo>
                    <a:pt x="0" y="621157"/>
                  </a:lnTo>
                  <a:lnTo>
                    <a:pt x="0" y="620521"/>
                  </a:lnTo>
                  <a:lnTo>
                    <a:pt x="0" y="1269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" name="object 7"/>
            <p:cNvSpPr/>
            <p:nvPr/>
          </p:nvSpPr>
          <p:spPr>
            <a:xfrm>
              <a:off x="5216652" y="2514599"/>
              <a:ext cx="3314700" cy="1311910"/>
            </a:xfrm>
            <a:custGeom>
              <a:avLst/>
              <a:gdLst/>
              <a:ahLst/>
              <a:cxnLst/>
              <a:rect l="l" t="t" r="r" b="b"/>
              <a:pathLst>
                <a:path w="3314700" h="1311910">
                  <a:moveTo>
                    <a:pt x="3314700" y="0"/>
                  </a:moveTo>
                  <a:lnTo>
                    <a:pt x="0" y="0"/>
                  </a:lnTo>
                  <a:lnTo>
                    <a:pt x="0" y="1270"/>
                  </a:lnTo>
                  <a:lnTo>
                    <a:pt x="0" y="1311910"/>
                  </a:lnTo>
                  <a:lnTo>
                    <a:pt x="3314700" y="1311910"/>
                  </a:lnTo>
                  <a:lnTo>
                    <a:pt x="3314700" y="1270"/>
                  </a:lnTo>
                  <a:lnTo>
                    <a:pt x="3314700" y="0"/>
                  </a:lnTo>
                  <a:close/>
                </a:path>
              </a:pathLst>
            </a:custGeom>
            <a:solidFill>
              <a:srgbClr val="9DB9FA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" name="object 8"/>
            <p:cNvSpPr/>
            <p:nvPr/>
          </p:nvSpPr>
          <p:spPr>
            <a:xfrm>
              <a:off x="5216651" y="2514600"/>
              <a:ext cx="3314700" cy="1312545"/>
            </a:xfrm>
            <a:custGeom>
              <a:avLst/>
              <a:gdLst/>
              <a:ahLst/>
              <a:cxnLst/>
              <a:rect l="l" t="t" r="r" b="b"/>
              <a:pathLst>
                <a:path w="3314700" h="1312545">
                  <a:moveTo>
                    <a:pt x="0" y="1269"/>
                  </a:moveTo>
                  <a:lnTo>
                    <a:pt x="0" y="507"/>
                  </a:lnTo>
                  <a:lnTo>
                    <a:pt x="508" y="0"/>
                  </a:lnTo>
                  <a:lnTo>
                    <a:pt x="1270" y="0"/>
                  </a:lnTo>
                  <a:lnTo>
                    <a:pt x="3313429" y="0"/>
                  </a:lnTo>
                  <a:lnTo>
                    <a:pt x="3314192" y="0"/>
                  </a:lnTo>
                  <a:lnTo>
                    <a:pt x="3314700" y="507"/>
                  </a:lnTo>
                  <a:lnTo>
                    <a:pt x="3314700" y="1269"/>
                  </a:lnTo>
                  <a:lnTo>
                    <a:pt x="3314700" y="1310894"/>
                  </a:lnTo>
                  <a:lnTo>
                    <a:pt x="3314700" y="1311656"/>
                  </a:lnTo>
                  <a:lnTo>
                    <a:pt x="3314192" y="1312164"/>
                  </a:lnTo>
                  <a:lnTo>
                    <a:pt x="3313429" y="1312164"/>
                  </a:lnTo>
                  <a:lnTo>
                    <a:pt x="1270" y="1312164"/>
                  </a:lnTo>
                  <a:lnTo>
                    <a:pt x="508" y="1312164"/>
                  </a:lnTo>
                  <a:lnTo>
                    <a:pt x="0" y="1311656"/>
                  </a:lnTo>
                  <a:lnTo>
                    <a:pt x="0" y="1310894"/>
                  </a:lnTo>
                  <a:lnTo>
                    <a:pt x="0" y="1269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" name="object 9"/>
            <p:cNvSpPr/>
            <p:nvPr/>
          </p:nvSpPr>
          <p:spPr>
            <a:xfrm>
              <a:off x="6176771" y="3200400"/>
              <a:ext cx="457200" cy="530225"/>
            </a:xfrm>
            <a:custGeom>
              <a:avLst/>
              <a:gdLst/>
              <a:ahLst/>
              <a:cxnLst/>
              <a:rect l="l" t="t" r="r" b="b"/>
              <a:pathLst>
                <a:path w="457200" h="530225">
                  <a:moveTo>
                    <a:pt x="453898" y="0"/>
                  </a:moveTo>
                  <a:lnTo>
                    <a:pt x="350011" y="0"/>
                  </a:lnTo>
                  <a:lnTo>
                    <a:pt x="346328" y="4191"/>
                  </a:lnTo>
                  <a:lnTo>
                    <a:pt x="346328" y="62356"/>
                  </a:lnTo>
                  <a:lnTo>
                    <a:pt x="327786" y="62356"/>
                  </a:lnTo>
                  <a:lnTo>
                    <a:pt x="324865" y="67056"/>
                  </a:lnTo>
                  <a:lnTo>
                    <a:pt x="324865" y="125856"/>
                  </a:lnTo>
                  <a:lnTo>
                    <a:pt x="305562" y="125856"/>
                  </a:lnTo>
                  <a:lnTo>
                    <a:pt x="302387" y="130175"/>
                  </a:lnTo>
                  <a:lnTo>
                    <a:pt x="302387" y="215900"/>
                  </a:lnTo>
                  <a:lnTo>
                    <a:pt x="283463" y="215900"/>
                  </a:lnTo>
                  <a:lnTo>
                    <a:pt x="280162" y="220344"/>
                  </a:lnTo>
                  <a:lnTo>
                    <a:pt x="280162" y="278511"/>
                  </a:lnTo>
                  <a:lnTo>
                    <a:pt x="261619" y="278511"/>
                  </a:lnTo>
                  <a:lnTo>
                    <a:pt x="258444" y="283210"/>
                  </a:lnTo>
                  <a:lnTo>
                    <a:pt x="258444" y="372618"/>
                  </a:lnTo>
                  <a:lnTo>
                    <a:pt x="239013" y="372618"/>
                  </a:lnTo>
                  <a:lnTo>
                    <a:pt x="235838" y="377063"/>
                  </a:lnTo>
                  <a:lnTo>
                    <a:pt x="235838" y="432053"/>
                  </a:lnTo>
                  <a:lnTo>
                    <a:pt x="220599" y="432053"/>
                  </a:lnTo>
                  <a:lnTo>
                    <a:pt x="220599" y="377063"/>
                  </a:lnTo>
                  <a:lnTo>
                    <a:pt x="216915" y="372618"/>
                  </a:lnTo>
                  <a:lnTo>
                    <a:pt x="198881" y="372618"/>
                  </a:lnTo>
                  <a:lnTo>
                    <a:pt x="198881" y="314198"/>
                  </a:lnTo>
                  <a:lnTo>
                    <a:pt x="195961" y="309752"/>
                  </a:lnTo>
                  <a:lnTo>
                    <a:pt x="176656" y="309752"/>
                  </a:lnTo>
                  <a:lnTo>
                    <a:pt x="176656" y="251587"/>
                  </a:lnTo>
                  <a:lnTo>
                    <a:pt x="173354" y="246887"/>
                  </a:lnTo>
                  <a:lnTo>
                    <a:pt x="154431" y="246887"/>
                  </a:lnTo>
                  <a:lnTo>
                    <a:pt x="154431" y="188087"/>
                  </a:lnTo>
                  <a:lnTo>
                    <a:pt x="151129" y="183642"/>
                  </a:lnTo>
                  <a:lnTo>
                    <a:pt x="131825" y="183642"/>
                  </a:lnTo>
                  <a:lnTo>
                    <a:pt x="131825" y="130175"/>
                  </a:lnTo>
                  <a:lnTo>
                    <a:pt x="129412" y="125856"/>
                  </a:lnTo>
                  <a:lnTo>
                    <a:pt x="110108" y="125856"/>
                  </a:lnTo>
                  <a:lnTo>
                    <a:pt x="110108" y="67056"/>
                  </a:lnTo>
                  <a:lnTo>
                    <a:pt x="106806" y="62356"/>
                  </a:lnTo>
                  <a:lnTo>
                    <a:pt x="87883" y="62356"/>
                  </a:lnTo>
                  <a:lnTo>
                    <a:pt x="87883" y="4191"/>
                  </a:lnTo>
                  <a:lnTo>
                    <a:pt x="85089" y="0"/>
                  </a:lnTo>
                  <a:lnTo>
                    <a:pt x="2920" y="0"/>
                  </a:lnTo>
                  <a:lnTo>
                    <a:pt x="0" y="4191"/>
                  </a:lnTo>
                  <a:lnTo>
                    <a:pt x="0" y="30099"/>
                  </a:lnTo>
                  <a:lnTo>
                    <a:pt x="2920" y="35432"/>
                  </a:lnTo>
                  <a:lnTo>
                    <a:pt x="43941" y="35432"/>
                  </a:lnTo>
                  <a:lnTo>
                    <a:pt x="43941" y="494665"/>
                  </a:lnTo>
                  <a:lnTo>
                    <a:pt x="2920" y="494665"/>
                  </a:lnTo>
                  <a:lnTo>
                    <a:pt x="0" y="499109"/>
                  </a:lnTo>
                  <a:lnTo>
                    <a:pt x="0" y="525653"/>
                  </a:lnTo>
                  <a:lnTo>
                    <a:pt x="2920" y="530097"/>
                  </a:lnTo>
                  <a:lnTo>
                    <a:pt x="106806" y="530097"/>
                  </a:lnTo>
                  <a:lnTo>
                    <a:pt x="110108" y="525653"/>
                  </a:lnTo>
                  <a:lnTo>
                    <a:pt x="110108" y="499109"/>
                  </a:lnTo>
                  <a:lnTo>
                    <a:pt x="106806" y="494665"/>
                  </a:lnTo>
                  <a:lnTo>
                    <a:pt x="66166" y="494665"/>
                  </a:lnTo>
                  <a:lnTo>
                    <a:pt x="66166" y="130175"/>
                  </a:lnTo>
                  <a:lnTo>
                    <a:pt x="85089" y="130175"/>
                  </a:lnTo>
                  <a:lnTo>
                    <a:pt x="85089" y="183642"/>
                  </a:lnTo>
                  <a:lnTo>
                    <a:pt x="87883" y="188087"/>
                  </a:lnTo>
                  <a:lnTo>
                    <a:pt x="106806" y="188087"/>
                  </a:lnTo>
                  <a:lnTo>
                    <a:pt x="106806" y="246887"/>
                  </a:lnTo>
                  <a:lnTo>
                    <a:pt x="110108" y="251587"/>
                  </a:lnTo>
                  <a:lnTo>
                    <a:pt x="129412" y="251587"/>
                  </a:lnTo>
                  <a:lnTo>
                    <a:pt x="129412" y="309752"/>
                  </a:lnTo>
                  <a:lnTo>
                    <a:pt x="131825" y="314198"/>
                  </a:lnTo>
                  <a:lnTo>
                    <a:pt x="151129" y="314198"/>
                  </a:lnTo>
                  <a:lnTo>
                    <a:pt x="151129" y="372618"/>
                  </a:lnTo>
                  <a:lnTo>
                    <a:pt x="154431" y="377063"/>
                  </a:lnTo>
                  <a:lnTo>
                    <a:pt x="173354" y="377063"/>
                  </a:lnTo>
                  <a:lnTo>
                    <a:pt x="173354" y="432053"/>
                  </a:lnTo>
                  <a:lnTo>
                    <a:pt x="176656" y="436499"/>
                  </a:lnTo>
                  <a:lnTo>
                    <a:pt x="195961" y="436499"/>
                  </a:lnTo>
                  <a:lnTo>
                    <a:pt x="195961" y="494665"/>
                  </a:lnTo>
                  <a:lnTo>
                    <a:pt x="198881" y="499109"/>
                  </a:lnTo>
                  <a:lnTo>
                    <a:pt x="216915" y="499109"/>
                  </a:lnTo>
                  <a:lnTo>
                    <a:pt x="216915" y="525653"/>
                  </a:lnTo>
                  <a:lnTo>
                    <a:pt x="220599" y="530097"/>
                  </a:lnTo>
                  <a:lnTo>
                    <a:pt x="235838" y="530097"/>
                  </a:lnTo>
                  <a:lnTo>
                    <a:pt x="239013" y="525653"/>
                  </a:lnTo>
                  <a:lnTo>
                    <a:pt x="239013" y="436499"/>
                  </a:lnTo>
                  <a:lnTo>
                    <a:pt x="258444" y="436499"/>
                  </a:lnTo>
                  <a:lnTo>
                    <a:pt x="261619" y="432053"/>
                  </a:lnTo>
                  <a:lnTo>
                    <a:pt x="261619" y="377063"/>
                  </a:lnTo>
                  <a:lnTo>
                    <a:pt x="280162" y="377063"/>
                  </a:lnTo>
                  <a:lnTo>
                    <a:pt x="283463" y="372618"/>
                  </a:lnTo>
                  <a:lnTo>
                    <a:pt x="283463" y="283210"/>
                  </a:lnTo>
                  <a:lnTo>
                    <a:pt x="302387" y="283210"/>
                  </a:lnTo>
                  <a:lnTo>
                    <a:pt x="305562" y="278511"/>
                  </a:lnTo>
                  <a:lnTo>
                    <a:pt x="305562" y="220344"/>
                  </a:lnTo>
                  <a:lnTo>
                    <a:pt x="324865" y="220344"/>
                  </a:lnTo>
                  <a:lnTo>
                    <a:pt x="327786" y="215900"/>
                  </a:lnTo>
                  <a:lnTo>
                    <a:pt x="327786" y="130175"/>
                  </a:lnTo>
                  <a:lnTo>
                    <a:pt x="346328" y="130175"/>
                  </a:lnTo>
                  <a:lnTo>
                    <a:pt x="350011" y="125856"/>
                  </a:lnTo>
                  <a:lnTo>
                    <a:pt x="350011" y="67056"/>
                  </a:lnTo>
                  <a:lnTo>
                    <a:pt x="368426" y="67056"/>
                  </a:lnTo>
                  <a:lnTo>
                    <a:pt x="368426" y="494665"/>
                  </a:lnTo>
                  <a:lnTo>
                    <a:pt x="327786" y="494665"/>
                  </a:lnTo>
                  <a:lnTo>
                    <a:pt x="324865" y="499109"/>
                  </a:lnTo>
                  <a:lnTo>
                    <a:pt x="324865" y="525653"/>
                  </a:lnTo>
                  <a:lnTo>
                    <a:pt x="327786" y="530097"/>
                  </a:lnTo>
                  <a:lnTo>
                    <a:pt x="453898" y="530097"/>
                  </a:lnTo>
                  <a:lnTo>
                    <a:pt x="456819" y="525653"/>
                  </a:lnTo>
                  <a:lnTo>
                    <a:pt x="456819" y="499109"/>
                  </a:lnTo>
                  <a:lnTo>
                    <a:pt x="453898" y="494665"/>
                  </a:lnTo>
                  <a:lnTo>
                    <a:pt x="412876" y="494665"/>
                  </a:lnTo>
                  <a:lnTo>
                    <a:pt x="412876" y="35432"/>
                  </a:lnTo>
                  <a:lnTo>
                    <a:pt x="453898" y="35432"/>
                  </a:lnTo>
                  <a:lnTo>
                    <a:pt x="456819" y="30099"/>
                  </a:lnTo>
                  <a:lnTo>
                    <a:pt x="456819" y="4191"/>
                  </a:lnTo>
                  <a:lnTo>
                    <a:pt x="453898" y="0"/>
                  </a:lnTo>
                  <a:close/>
                </a:path>
              </a:pathLst>
            </a:custGeom>
            <a:solidFill>
              <a:srgbClr val="3333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" name="object 10"/>
            <p:cNvSpPr/>
            <p:nvPr/>
          </p:nvSpPr>
          <p:spPr>
            <a:xfrm>
              <a:off x="6176771" y="3200400"/>
              <a:ext cx="457200" cy="530225"/>
            </a:xfrm>
            <a:custGeom>
              <a:avLst/>
              <a:gdLst/>
              <a:ahLst/>
              <a:cxnLst/>
              <a:rect l="l" t="t" r="r" b="b"/>
              <a:pathLst>
                <a:path w="457200" h="530225">
                  <a:moveTo>
                    <a:pt x="2920" y="0"/>
                  </a:moveTo>
                  <a:lnTo>
                    <a:pt x="85089" y="0"/>
                  </a:lnTo>
                  <a:lnTo>
                    <a:pt x="87883" y="4191"/>
                  </a:lnTo>
                  <a:lnTo>
                    <a:pt x="87883" y="62356"/>
                  </a:lnTo>
                  <a:lnTo>
                    <a:pt x="106806" y="62356"/>
                  </a:lnTo>
                  <a:lnTo>
                    <a:pt x="110108" y="67056"/>
                  </a:lnTo>
                  <a:lnTo>
                    <a:pt x="110108" y="125856"/>
                  </a:lnTo>
                  <a:lnTo>
                    <a:pt x="129412" y="125856"/>
                  </a:lnTo>
                  <a:lnTo>
                    <a:pt x="131825" y="130175"/>
                  </a:lnTo>
                  <a:lnTo>
                    <a:pt x="131825" y="183642"/>
                  </a:lnTo>
                  <a:lnTo>
                    <a:pt x="151129" y="183642"/>
                  </a:lnTo>
                  <a:lnTo>
                    <a:pt x="154431" y="188087"/>
                  </a:lnTo>
                  <a:lnTo>
                    <a:pt x="154431" y="246887"/>
                  </a:lnTo>
                  <a:lnTo>
                    <a:pt x="173354" y="246887"/>
                  </a:lnTo>
                  <a:lnTo>
                    <a:pt x="176656" y="251587"/>
                  </a:lnTo>
                  <a:lnTo>
                    <a:pt x="176656" y="309752"/>
                  </a:lnTo>
                  <a:lnTo>
                    <a:pt x="195961" y="309752"/>
                  </a:lnTo>
                  <a:lnTo>
                    <a:pt x="198881" y="314198"/>
                  </a:lnTo>
                  <a:lnTo>
                    <a:pt x="198881" y="372618"/>
                  </a:lnTo>
                  <a:lnTo>
                    <a:pt x="216915" y="372618"/>
                  </a:lnTo>
                  <a:lnTo>
                    <a:pt x="220599" y="377063"/>
                  </a:lnTo>
                  <a:lnTo>
                    <a:pt x="220599" y="432053"/>
                  </a:lnTo>
                  <a:lnTo>
                    <a:pt x="235838" y="432053"/>
                  </a:lnTo>
                  <a:lnTo>
                    <a:pt x="235838" y="377063"/>
                  </a:lnTo>
                  <a:lnTo>
                    <a:pt x="239013" y="372618"/>
                  </a:lnTo>
                  <a:lnTo>
                    <a:pt x="258444" y="372618"/>
                  </a:lnTo>
                  <a:lnTo>
                    <a:pt x="258444" y="283210"/>
                  </a:lnTo>
                  <a:lnTo>
                    <a:pt x="261619" y="278511"/>
                  </a:lnTo>
                  <a:lnTo>
                    <a:pt x="280162" y="278511"/>
                  </a:lnTo>
                  <a:lnTo>
                    <a:pt x="280162" y="220344"/>
                  </a:lnTo>
                  <a:lnTo>
                    <a:pt x="283463" y="215900"/>
                  </a:lnTo>
                  <a:lnTo>
                    <a:pt x="302387" y="215900"/>
                  </a:lnTo>
                  <a:lnTo>
                    <a:pt x="302387" y="130175"/>
                  </a:lnTo>
                  <a:lnTo>
                    <a:pt x="305562" y="125856"/>
                  </a:lnTo>
                  <a:lnTo>
                    <a:pt x="324865" y="125856"/>
                  </a:lnTo>
                  <a:lnTo>
                    <a:pt x="324865" y="67056"/>
                  </a:lnTo>
                  <a:lnTo>
                    <a:pt x="327786" y="62356"/>
                  </a:lnTo>
                  <a:lnTo>
                    <a:pt x="346328" y="62356"/>
                  </a:lnTo>
                  <a:lnTo>
                    <a:pt x="346328" y="4191"/>
                  </a:lnTo>
                  <a:lnTo>
                    <a:pt x="350011" y="0"/>
                  </a:lnTo>
                  <a:lnTo>
                    <a:pt x="453898" y="0"/>
                  </a:lnTo>
                  <a:lnTo>
                    <a:pt x="456819" y="4191"/>
                  </a:lnTo>
                  <a:lnTo>
                    <a:pt x="456819" y="30099"/>
                  </a:lnTo>
                  <a:lnTo>
                    <a:pt x="453898" y="35432"/>
                  </a:lnTo>
                  <a:lnTo>
                    <a:pt x="412876" y="35432"/>
                  </a:lnTo>
                  <a:lnTo>
                    <a:pt x="412876" y="494665"/>
                  </a:lnTo>
                  <a:lnTo>
                    <a:pt x="453898" y="494665"/>
                  </a:lnTo>
                  <a:lnTo>
                    <a:pt x="456819" y="499109"/>
                  </a:lnTo>
                  <a:lnTo>
                    <a:pt x="456819" y="525653"/>
                  </a:lnTo>
                  <a:lnTo>
                    <a:pt x="453898" y="530097"/>
                  </a:lnTo>
                  <a:lnTo>
                    <a:pt x="327786" y="530097"/>
                  </a:lnTo>
                  <a:lnTo>
                    <a:pt x="324865" y="525653"/>
                  </a:lnTo>
                  <a:lnTo>
                    <a:pt x="324865" y="499109"/>
                  </a:lnTo>
                  <a:lnTo>
                    <a:pt x="327786" y="494665"/>
                  </a:lnTo>
                  <a:lnTo>
                    <a:pt x="368426" y="494665"/>
                  </a:lnTo>
                  <a:lnTo>
                    <a:pt x="368426" y="67056"/>
                  </a:lnTo>
                  <a:lnTo>
                    <a:pt x="350011" y="67056"/>
                  </a:lnTo>
                  <a:lnTo>
                    <a:pt x="350011" y="125856"/>
                  </a:lnTo>
                  <a:lnTo>
                    <a:pt x="346328" y="130175"/>
                  </a:lnTo>
                  <a:lnTo>
                    <a:pt x="327786" y="130175"/>
                  </a:lnTo>
                  <a:lnTo>
                    <a:pt x="327786" y="215900"/>
                  </a:lnTo>
                  <a:lnTo>
                    <a:pt x="324865" y="220344"/>
                  </a:lnTo>
                  <a:lnTo>
                    <a:pt x="305562" y="220344"/>
                  </a:lnTo>
                  <a:lnTo>
                    <a:pt x="305562" y="278511"/>
                  </a:lnTo>
                  <a:lnTo>
                    <a:pt x="302387" y="283210"/>
                  </a:lnTo>
                  <a:lnTo>
                    <a:pt x="283463" y="283210"/>
                  </a:lnTo>
                  <a:lnTo>
                    <a:pt x="283463" y="372618"/>
                  </a:lnTo>
                  <a:lnTo>
                    <a:pt x="280162" y="377063"/>
                  </a:lnTo>
                  <a:lnTo>
                    <a:pt x="261619" y="377063"/>
                  </a:lnTo>
                  <a:lnTo>
                    <a:pt x="261619" y="432053"/>
                  </a:lnTo>
                  <a:lnTo>
                    <a:pt x="258444" y="436499"/>
                  </a:lnTo>
                  <a:lnTo>
                    <a:pt x="239013" y="436499"/>
                  </a:lnTo>
                  <a:lnTo>
                    <a:pt x="239013" y="525653"/>
                  </a:lnTo>
                  <a:lnTo>
                    <a:pt x="235838" y="530097"/>
                  </a:lnTo>
                  <a:lnTo>
                    <a:pt x="220599" y="530097"/>
                  </a:lnTo>
                  <a:lnTo>
                    <a:pt x="216915" y="525653"/>
                  </a:lnTo>
                  <a:lnTo>
                    <a:pt x="216915" y="499109"/>
                  </a:lnTo>
                  <a:lnTo>
                    <a:pt x="198881" y="499109"/>
                  </a:lnTo>
                  <a:lnTo>
                    <a:pt x="195961" y="494665"/>
                  </a:lnTo>
                  <a:lnTo>
                    <a:pt x="195961" y="436499"/>
                  </a:lnTo>
                  <a:lnTo>
                    <a:pt x="176656" y="436499"/>
                  </a:lnTo>
                  <a:lnTo>
                    <a:pt x="173354" y="432053"/>
                  </a:lnTo>
                  <a:lnTo>
                    <a:pt x="173354" y="377063"/>
                  </a:lnTo>
                  <a:lnTo>
                    <a:pt x="154431" y="377063"/>
                  </a:lnTo>
                  <a:lnTo>
                    <a:pt x="151129" y="372618"/>
                  </a:lnTo>
                  <a:lnTo>
                    <a:pt x="151129" y="314198"/>
                  </a:lnTo>
                  <a:lnTo>
                    <a:pt x="131825" y="314198"/>
                  </a:lnTo>
                  <a:lnTo>
                    <a:pt x="129412" y="309752"/>
                  </a:lnTo>
                  <a:lnTo>
                    <a:pt x="129412" y="251587"/>
                  </a:lnTo>
                  <a:lnTo>
                    <a:pt x="110108" y="251587"/>
                  </a:lnTo>
                  <a:lnTo>
                    <a:pt x="106806" y="246887"/>
                  </a:lnTo>
                  <a:lnTo>
                    <a:pt x="106806" y="188087"/>
                  </a:lnTo>
                  <a:lnTo>
                    <a:pt x="87883" y="188087"/>
                  </a:lnTo>
                  <a:lnTo>
                    <a:pt x="85089" y="183642"/>
                  </a:lnTo>
                  <a:lnTo>
                    <a:pt x="85089" y="130175"/>
                  </a:lnTo>
                  <a:lnTo>
                    <a:pt x="66166" y="130175"/>
                  </a:lnTo>
                  <a:lnTo>
                    <a:pt x="66166" y="494665"/>
                  </a:lnTo>
                  <a:lnTo>
                    <a:pt x="106806" y="494665"/>
                  </a:lnTo>
                  <a:lnTo>
                    <a:pt x="110108" y="499109"/>
                  </a:lnTo>
                  <a:lnTo>
                    <a:pt x="110108" y="525653"/>
                  </a:lnTo>
                  <a:lnTo>
                    <a:pt x="106806" y="530097"/>
                  </a:lnTo>
                  <a:lnTo>
                    <a:pt x="2920" y="530097"/>
                  </a:lnTo>
                  <a:lnTo>
                    <a:pt x="0" y="525653"/>
                  </a:lnTo>
                  <a:lnTo>
                    <a:pt x="0" y="499109"/>
                  </a:lnTo>
                  <a:lnTo>
                    <a:pt x="2920" y="494665"/>
                  </a:lnTo>
                  <a:lnTo>
                    <a:pt x="43941" y="494665"/>
                  </a:lnTo>
                  <a:lnTo>
                    <a:pt x="43941" y="35432"/>
                  </a:lnTo>
                  <a:lnTo>
                    <a:pt x="2920" y="35432"/>
                  </a:lnTo>
                  <a:lnTo>
                    <a:pt x="0" y="30099"/>
                  </a:lnTo>
                  <a:lnTo>
                    <a:pt x="0" y="4191"/>
                  </a:lnTo>
                  <a:lnTo>
                    <a:pt x="2920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6665975" y="3360420"/>
              <a:ext cx="214629" cy="370205"/>
            </a:xfrm>
            <a:custGeom>
              <a:avLst/>
              <a:gdLst/>
              <a:ahLst/>
              <a:cxnLst/>
              <a:rect l="l" t="t" r="r" b="b"/>
              <a:pathLst>
                <a:path w="214629" h="370204">
                  <a:moveTo>
                    <a:pt x="149605" y="339470"/>
                  </a:moveTo>
                  <a:lnTo>
                    <a:pt x="61214" y="339470"/>
                  </a:lnTo>
                  <a:lnTo>
                    <a:pt x="61214" y="365632"/>
                  </a:lnTo>
                  <a:lnTo>
                    <a:pt x="64897" y="370077"/>
                  </a:lnTo>
                  <a:lnTo>
                    <a:pt x="146812" y="370077"/>
                  </a:lnTo>
                  <a:lnTo>
                    <a:pt x="149605" y="365632"/>
                  </a:lnTo>
                  <a:lnTo>
                    <a:pt x="149605" y="339470"/>
                  </a:lnTo>
                  <a:close/>
                </a:path>
                <a:path w="214629" h="370204">
                  <a:moveTo>
                    <a:pt x="190119" y="26161"/>
                  </a:moveTo>
                  <a:lnTo>
                    <a:pt x="24765" y="26161"/>
                  </a:lnTo>
                  <a:lnTo>
                    <a:pt x="21463" y="30479"/>
                  </a:lnTo>
                  <a:lnTo>
                    <a:pt x="21463" y="88899"/>
                  </a:lnTo>
                  <a:lnTo>
                    <a:pt x="2794" y="88899"/>
                  </a:lnTo>
                  <a:lnTo>
                    <a:pt x="0" y="93598"/>
                  </a:lnTo>
                  <a:lnTo>
                    <a:pt x="0" y="272668"/>
                  </a:lnTo>
                  <a:lnTo>
                    <a:pt x="2794" y="276986"/>
                  </a:lnTo>
                  <a:lnTo>
                    <a:pt x="21463" y="276986"/>
                  </a:lnTo>
                  <a:lnTo>
                    <a:pt x="21463" y="334771"/>
                  </a:lnTo>
                  <a:lnTo>
                    <a:pt x="24765" y="339470"/>
                  </a:lnTo>
                  <a:lnTo>
                    <a:pt x="190119" y="339470"/>
                  </a:lnTo>
                  <a:lnTo>
                    <a:pt x="193040" y="334771"/>
                  </a:lnTo>
                  <a:lnTo>
                    <a:pt x="85978" y="334771"/>
                  </a:lnTo>
                  <a:lnTo>
                    <a:pt x="85978" y="308101"/>
                  </a:lnTo>
                  <a:lnTo>
                    <a:pt x="83057" y="303402"/>
                  </a:lnTo>
                  <a:lnTo>
                    <a:pt x="64897" y="303402"/>
                  </a:lnTo>
                  <a:lnTo>
                    <a:pt x="64897" y="276986"/>
                  </a:lnTo>
                  <a:lnTo>
                    <a:pt x="61214" y="272668"/>
                  </a:lnTo>
                  <a:lnTo>
                    <a:pt x="46227" y="272668"/>
                  </a:lnTo>
                  <a:lnTo>
                    <a:pt x="46227" y="93598"/>
                  </a:lnTo>
                  <a:lnTo>
                    <a:pt x="61214" y="93598"/>
                  </a:lnTo>
                  <a:lnTo>
                    <a:pt x="64897" y="88899"/>
                  </a:lnTo>
                  <a:lnTo>
                    <a:pt x="64897" y="62483"/>
                  </a:lnTo>
                  <a:lnTo>
                    <a:pt x="83057" y="62483"/>
                  </a:lnTo>
                  <a:lnTo>
                    <a:pt x="85978" y="58165"/>
                  </a:lnTo>
                  <a:lnTo>
                    <a:pt x="85978" y="30479"/>
                  </a:lnTo>
                  <a:lnTo>
                    <a:pt x="193040" y="30479"/>
                  </a:lnTo>
                  <a:lnTo>
                    <a:pt x="190119" y="26161"/>
                  </a:lnTo>
                  <a:close/>
                </a:path>
                <a:path w="214629" h="370204">
                  <a:moveTo>
                    <a:pt x="193040" y="30479"/>
                  </a:moveTo>
                  <a:lnTo>
                    <a:pt x="126110" y="30479"/>
                  </a:lnTo>
                  <a:lnTo>
                    <a:pt x="126110" y="58165"/>
                  </a:lnTo>
                  <a:lnTo>
                    <a:pt x="128524" y="62483"/>
                  </a:lnTo>
                  <a:lnTo>
                    <a:pt x="146812" y="62483"/>
                  </a:lnTo>
                  <a:lnTo>
                    <a:pt x="146812" y="88899"/>
                  </a:lnTo>
                  <a:lnTo>
                    <a:pt x="149605" y="93598"/>
                  </a:lnTo>
                  <a:lnTo>
                    <a:pt x="168275" y="93598"/>
                  </a:lnTo>
                  <a:lnTo>
                    <a:pt x="168275" y="272668"/>
                  </a:lnTo>
                  <a:lnTo>
                    <a:pt x="149605" y="272668"/>
                  </a:lnTo>
                  <a:lnTo>
                    <a:pt x="146812" y="276986"/>
                  </a:lnTo>
                  <a:lnTo>
                    <a:pt x="146812" y="303402"/>
                  </a:lnTo>
                  <a:lnTo>
                    <a:pt x="128524" y="303402"/>
                  </a:lnTo>
                  <a:lnTo>
                    <a:pt x="126110" y="308101"/>
                  </a:lnTo>
                  <a:lnTo>
                    <a:pt x="126110" y="334771"/>
                  </a:lnTo>
                  <a:lnTo>
                    <a:pt x="193040" y="334771"/>
                  </a:lnTo>
                  <a:lnTo>
                    <a:pt x="193040" y="276986"/>
                  </a:lnTo>
                  <a:lnTo>
                    <a:pt x="211200" y="276986"/>
                  </a:lnTo>
                  <a:lnTo>
                    <a:pt x="214502" y="272668"/>
                  </a:lnTo>
                  <a:lnTo>
                    <a:pt x="214502" y="93598"/>
                  </a:lnTo>
                  <a:lnTo>
                    <a:pt x="211200" y="88899"/>
                  </a:lnTo>
                  <a:lnTo>
                    <a:pt x="193040" y="88899"/>
                  </a:lnTo>
                  <a:lnTo>
                    <a:pt x="193040" y="30479"/>
                  </a:lnTo>
                  <a:close/>
                </a:path>
                <a:path w="214629" h="370204">
                  <a:moveTo>
                    <a:pt x="146812" y="0"/>
                  </a:moveTo>
                  <a:lnTo>
                    <a:pt x="64897" y="0"/>
                  </a:lnTo>
                  <a:lnTo>
                    <a:pt x="61214" y="4063"/>
                  </a:lnTo>
                  <a:lnTo>
                    <a:pt x="61214" y="26161"/>
                  </a:lnTo>
                  <a:lnTo>
                    <a:pt x="149605" y="26161"/>
                  </a:lnTo>
                  <a:lnTo>
                    <a:pt x="149605" y="4063"/>
                  </a:lnTo>
                  <a:lnTo>
                    <a:pt x="146812" y="0"/>
                  </a:lnTo>
                  <a:close/>
                </a:path>
              </a:pathLst>
            </a:custGeom>
            <a:solidFill>
              <a:srgbClr val="3333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" name="object 12"/>
            <p:cNvSpPr/>
            <p:nvPr/>
          </p:nvSpPr>
          <p:spPr>
            <a:xfrm>
              <a:off x="6665975" y="3360420"/>
              <a:ext cx="214629" cy="370205"/>
            </a:xfrm>
            <a:custGeom>
              <a:avLst/>
              <a:gdLst/>
              <a:ahLst/>
              <a:cxnLst/>
              <a:rect l="l" t="t" r="r" b="b"/>
              <a:pathLst>
                <a:path w="214629" h="370204">
                  <a:moveTo>
                    <a:pt x="85978" y="30479"/>
                  </a:moveTo>
                  <a:lnTo>
                    <a:pt x="126110" y="30479"/>
                  </a:lnTo>
                  <a:lnTo>
                    <a:pt x="126110" y="58165"/>
                  </a:lnTo>
                  <a:lnTo>
                    <a:pt x="128524" y="62483"/>
                  </a:lnTo>
                  <a:lnTo>
                    <a:pt x="146812" y="62483"/>
                  </a:lnTo>
                  <a:lnTo>
                    <a:pt x="146812" y="88899"/>
                  </a:lnTo>
                  <a:lnTo>
                    <a:pt x="149605" y="93598"/>
                  </a:lnTo>
                  <a:lnTo>
                    <a:pt x="168275" y="93598"/>
                  </a:lnTo>
                  <a:lnTo>
                    <a:pt x="168275" y="272668"/>
                  </a:lnTo>
                  <a:lnTo>
                    <a:pt x="149605" y="272668"/>
                  </a:lnTo>
                  <a:lnTo>
                    <a:pt x="146812" y="276986"/>
                  </a:lnTo>
                  <a:lnTo>
                    <a:pt x="146812" y="303402"/>
                  </a:lnTo>
                  <a:lnTo>
                    <a:pt x="128524" y="303402"/>
                  </a:lnTo>
                  <a:lnTo>
                    <a:pt x="126110" y="308101"/>
                  </a:lnTo>
                  <a:lnTo>
                    <a:pt x="126110" y="334771"/>
                  </a:lnTo>
                  <a:lnTo>
                    <a:pt x="85978" y="334771"/>
                  </a:lnTo>
                  <a:lnTo>
                    <a:pt x="85978" y="308101"/>
                  </a:lnTo>
                  <a:lnTo>
                    <a:pt x="83057" y="303402"/>
                  </a:lnTo>
                  <a:lnTo>
                    <a:pt x="64897" y="303402"/>
                  </a:lnTo>
                  <a:lnTo>
                    <a:pt x="64897" y="276986"/>
                  </a:lnTo>
                  <a:lnTo>
                    <a:pt x="61214" y="272668"/>
                  </a:lnTo>
                  <a:lnTo>
                    <a:pt x="46227" y="272668"/>
                  </a:lnTo>
                  <a:lnTo>
                    <a:pt x="46227" y="93598"/>
                  </a:lnTo>
                  <a:lnTo>
                    <a:pt x="61214" y="93598"/>
                  </a:lnTo>
                  <a:lnTo>
                    <a:pt x="64897" y="88899"/>
                  </a:lnTo>
                  <a:lnTo>
                    <a:pt x="64897" y="62483"/>
                  </a:lnTo>
                  <a:lnTo>
                    <a:pt x="83057" y="62483"/>
                  </a:lnTo>
                  <a:lnTo>
                    <a:pt x="85978" y="58165"/>
                  </a:lnTo>
                  <a:lnTo>
                    <a:pt x="85978" y="30479"/>
                  </a:lnTo>
                  <a:close/>
                </a:path>
                <a:path w="214629" h="370204">
                  <a:moveTo>
                    <a:pt x="64897" y="0"/>
                  </a:moveTo>
                  <a:lnTo>
                    <a:pt x="146812" y="0"/>
                  </a:lnTo>
                  <a:lnTo>
                    <a:pt x="149605" y="4063"/>
                  </a:lnTo>
                  <a:lnTo>
                    <a:pt x="149605" y="26161"/>
                  </a:lnTo>
                  <a:lnTo>
                    <a:pt x="190119" y="26161"/>
                  </a:lnTo>
                  <a:lnTo>
                    <a:pt x="193040" y="30479"/>
                  </a:lnTo>
                  <a:lnTo>
                    <a:pt x="193040" y="88899"/>
                  </a:lnTo>
                  <a:lnTo>
                    <a:pt x="211200" y="88899"/>
                  </a:lnTo>
                  <a:lnTo>
                    <a:pt x="214502" y="93598"/>
                  </a:lnTo>
                  <a:lnTo>
                    <a:pt x="214502" y="272668"/>
                  </a:lnTo>
                  <a:lnTo>
                    <a:pt x="211200" y="276986"/>
                  </a:lnTo>
                  <a:lnTo>
                    <a:pt x="193040" y="276986"/>
                  </a:lnTo>
                  <a:lnTo>
                    <a:pt x="193040" y="334771"/>
                  </a:lnTo>
                  <a:lnTo>
                    <a:pt x="190119" y="339470"/>
                  </a:lnTo>
                  <a:lnTo>
                    <a:pt x="149605" y="339470"/>
                  </a:lnTo>
                  <a:lnTo>
                    <a:pt x="149605" y="365632"/>
                  </a:lnTo>
                  <a:lnTo>
                    <a:pt x="146812" y="370077"/>
                  </a:lnTo>
                  <a:lnTo>
                    <a:pt x="64897" y="370077"/>
                  </a:lnTo>
                  <a:lnTo>
                    <a:pt x="61214" y="365632"/>
                  </a:lnTo>
                  <a:lnTo>
                    <a:pt x="61214" y="339470"/>
                  </a:lnTo>
                  <a:lnTo>
                    <a:pt x="24765" y="339470"/>
                  </a:lnTo>
                  <a:lnTo>
                    <a:pt x="21463" y="334771"/>
                  </a:lnTo>
                  <a:lnTo>
                    <a:pt x="21463" y="276986"/>
                  </a:lnTo>
                  <a:lnTo>
                    <a:pt x="2794" y="276986"/>
                  </a:lnTo>
                  <a:lnTo>
                    <a:pt x="0" y="272668"/>
                  </a:lnTo>
                  <a:lnTo>
                    <a:pt x="0" y="93598"/>
                  </a:lnTo>
                  <a:lnTo>
                    <a:pt x="2794" y="88899"/>
                  </a:lnTo>
                  <a:lnTo>
                    <a:pt x="21463" y="88899"/>
                  </a:lnTo>
                  <a:lnTo>
                    <a:pt x="21463" y="30479"/>
                  </a:lnTo>
                  <a:lnTo>
                    <a:pt x="24765" y="26161"/>
                  </a:lnTo>
                  <a:lnTo>
                    <a:pt x="61214" y="26161"/>
                  </a:lnTo>
                  <a:lnTo>
                    <a:pt x="61214" y="4063"/>
                  </a:lnTo>
                  <a:lnTo>
                    <a:pt x="64897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" name="object 13"/>
            <p:cNvSpPr/>
            <p:nvPr/>
          </p:nvSpPr>
          <p:spPr>
            <a:xfrm>
              <a:off x="6940295" y="3200400"/>
              <a:ext cx="214629" cy="530225"/>
            </a:xfrm>
            <a:custGeom>
              <a:avLst/>
              <a:gdLst/>
              <a:ahLst/>
              <a:cxnLst/>
              <a:rect l="l" t="t" r="r" b="b"/>
              <a:pathLst>
                <a:path w="214629" h="530225">
                  <a:moveTo>
                    <a:pt x="149605" y="499109"/>
                  </a:moveTo>
                  <a:lnTo>
                    <a:pt x="61213" y="499109"/>
                  </a:lnTo>
                  <a:lnTo>
                    <a:pt x="61213" y="525653"/>
                  </a:lnTo>
                  <a:lnTo>
                    <a:pt x="64515" y="530097"/>
                  </a:lnTo>
                  <a:lnTo>
                    <a:pt x="146811" y="530097"/>
                  </a:lnTo>
                  <a:lnTo>
                    <a:pt x="149605" y="525653"/>
                  </a:lnTo>
                  <a:lnTo>
                    <a:pt x="149605" y="499109"/>
                  </a:lnTo>
                  <a:close/>
                </a:path>
                <a:path w="214629" h="530225">
                  <a:moveTo>
                    <a:pt x="189737" y="0"/>
                  </a:moveTo>
                  <a:lnTo>
                    <a:pt x="128143" y="0"/>
                  </a:lnTo>
                  <a:lnTo>
                    <a:pt x="125222" y="4191"/>
                  </a:lnTo>
                  <a:lnTo>
                    <a:pt x="125222" y="30099"/>
                  </a:lnTo>
                  <a:lnTo>
                    <a:pt x="128143" y="35432"/>
                  </a:lnTo>
                  <a:lnTo>
                    <a:pt x="146811" y="35432"/>
                  </a:lnTo>
                  <a:lnTo>
                    <a:pt x="146811" y="183642"/>
                  </a:lnTo>
                  <a:lnTo>
                    <a:pt x="24383" y="183642"/>
                  </a:lnTo>
                  <a:lnTo>
                    <a:pt x="21462" y="188087"/>
                  </a:lnTo>
                  <a:lnTo>
                    <a:pt x="21462" y="246887"/>
                  </a:lnTo>
                  <a:lnTo>
                    <a:pt x="2794" y="246887"/>
                  </a:lnTo>
                  <a:lnTo>
                    <a:pt x="0" y="251587"/>
                  </a:lnTo>
                  <a:lnTo>
                    <a:pt x="0" y="432053"/>
                  </a:lnTo>
                  <a:lnTo>
                    <a:pt x="2794" y="436499"/>
                  </a:lnTo>
                  <a:lnTo>
                    <a:pt x="21462" y="436499"/>
                  </a:lnTo>
                  <a:lnTo>
                    <a:pt x="21462" y="494665"/>
                  </a:lnTo>
                  <a:lnTo>
                    <a:pt x="24383" y="499109"/>
                  </a:lnTo>
                  <a:lnTo>
                    <a:pt x="168275" y="499109"/>
                  </a:lnTo>
                  <a:lnTo>
                    <a:pt x="168275" y="525653"/>
                  </a:lnTo>
                  <a:lnTo>
                    <a:pt x="171450" y="530097"/>
                  </a:lnTo>
                  <a:lnTo>
                    <a:pt x="210820" y="530097"/>
                  </a:lnTo>
                  <a:lnTo>
                    <a:pt x="214502" y="525653"/>
                  </a:lnTo>
                  <a:lnTo>
                    <a:pt x="214502" y="499109"/>
                  </a:lnTo>
                  <a:lnTo>
                    <a:pt x="210820" y="494665"/>
                  </a:lnTo>
                  <a:lnTo>
                    <a:pt x="85978" y="494665"/>
                  </a:lnTo>
                  <a:lnTo>
                    <a:pt x="85978" y="467741"/>
                  </a:lnTo>
                  <a:lnTo>
                    <a:pt x="82676" y="463041"/>
                  </a:lnTo>
                  <a:lnTo>
                    <a:pt x="64515" y="463041"/>
                  </a:lnTo>
                  <a:lnTo>
                    <a:pt x="64515" y="436499"/>
                  </a:lnTo>
                  <a:lnTo>
                    <a:pt x="61213" y="432053"/>
                  </a:lnTo>
                  <a:lnTo>
                    <a:pt x="46227" y="432053"/>
                  </a:lnTo>
                  <a:lnTo>
                    <a:pt x="46227" y="251587"/>
                  </a:lnTo>
                  <a:lnTo>
                    <a:pt x="61213" y="251587"/>
                  </a:lnTo>
                  <a:lnTo>
                    <a:pt x="64515" y="246887"/>
                  </a:lnTo>
                  <a:lnTo>
                    <a:pt x="64515" y="220344"/>
                  </a:lnTo>
                  <a:lnTo>
                    <a:pt x="82676" y="220344"/>
                  </a:lnTo>
                  <a:lnTo>
                    <a:pt x="85978" y="215900"/>
                  </a:lnTo>
                  <a:lnTo>
                    <a:pt x="85978" y="188087"/>
                  </a:lnTo>
                  <a:lnTo>
                    <a:pt x="193039" y="188087"/>
                  </a:lnTo>
                  <a:lnTo>
                    <a:pt x="193039" y="4191"/>
                  </a:lnTo>
                  <a:lnTo>
                    <a:pt x="189737" y="0"/>
                  </a:lnTo>
                  <a:close/>
                </a:path>
                <a:path w="214629" h="530225">
                  <a:moveTo>
                    <a:pt x="193039" y="188087"/>
                  </a:moveTo>
                  <a:lnTo>
                    <a:pt x="125222" y="188087"/>
                  </a:lnTo>
                  <a:lnTo>
                    <a:pt x="125222" y="215900"/>
                  </a:lnTo>
                  <a:lnTo>
                    <a:pt x="128143" y="220344"/>
                  </a:lnTo>
                  <a:lnTo>
                    <a:pt x="146811" y="220344"/>
                  </a:lnTo>
                  <a:lnTo>
                    <a:pt x="146811" y="463041"/>
                  </a:lnTo>
                  <a:lnTo>
                    <a:pt x="128143" y="463041"/>
                  </a:lnTo>
                  <a:lnTo>
                    <a:pt x="125222" y="467741"/>
                  </a:lnTo>
                  <a:lnTo>
                    <a:pt x="125222" y="494665"/>
                  </a:lnTo>
                  <a:lnTo>
                    <a:pt x="193039" y="494665"/>
                  </a:lnTo>
                  <a:lnTo>
                    <a:pt x="193039" y="188087"/>
                  </a:lnTo>
                  <a:close/>
                </a:path>
                <a:path w="214629" h="530225">
                  <a:moveTo>
                    <a:pt x="125222" y="157352"/>
                  </a:moveTo>
                  <a:lnTo>
                    <a:pt x="64515" y="157352"/>
                  </a:lnTo>
                  <a:lnTo>
                    <a:pt x="61213" y="161798"/>
                  </a:lnTo>
                  <a:lnTo>
                    <a:pt x="61213" y="183642"/>
                  </a:lnTo>
                  <a:lnTo>
                    <a:pt x="128143" y="183642"/>
                  </a:lnTo>
                  <a:lnTo>
                    <a:pt x="128143" y="161798"/>
                  </a:lnTo>
                  <a:lnTo>
                    <a:pt x="125222" y="157352"/>
                  </a:lnTo>
                  <a:close/>
                </a:path>
              </a:pathLst>
            </a:custGeom>
            <a:solidFill>
              <a:srgbClr val="3333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4" name="object 14"/>
            <p:cNvSpPr/>
            <p:nvPr/>
          </p:nvSpPr>
          <p:spPr>
            <a:xfrm>
              <a:off x="6940295" y="3200400"/>
              <a:ext cx="214629" cy="530225"/>
            </a:xfrm>
            <a:custGeom>
              <a:avLst/>
              <a:gdLst/>
              <a:ahLst/>
              <a:cxnLst/>
              <a:rect l="l" t="t" r="r" b="b"/>
              <a:pathLst>
                <a:path w="214629" h="530225">
                  <a:moveTo>
                    <a:pt x="85978" y="188087"/>
                  </a:moveTo>
                  <a:lnTo>
                    <a:pt x="125222" y="188087"/>
                  </a:lnTo>
                  <a:lnTo>
                    <a:pt x="125222" y="215900"/>
                  </a:lnTo>
                  <a:lnTo>
                    <a:pt x="128143" y="220344"/>
                  </a:lnTo>
                  <a:lnTo>
                    <a:pt x="146811" y="220344"/>
                  </a:lnTo>
                  <a:lnTo>
                    <a:pt x="146811" y="463041"/>
                  </a:lnTo>
                  <a:lnTo>
                    <a:pt x="128143" y="463041"/>
                  </a:lnTo>
                  <a:lnTo>
                    <a:pt x="125222" y="467741"/>
                  </a:lnTo>
                  <a:lnTo>
                    <a:pt x="125222" y="494665"/>
                  </a:lnTo>
                  <a:lnTo>
                    <a:pt x="85978" y="494665"/>
                  </a:lnTo>
                  <a:lnTo>
                    <a:pt x="85978" y="467741"/>
                  </a:lnTo>
                  <a:lnTo>
                    <a:pt x="82676" y="463041"/>
                  </a:lnTo>
                  <a:lnTo>
                    <a:pt x="64515" y="463041"/>
                  </a:lnTo>
                  <a:lnTo>
                    <a:pt x="64515" y="436499"/>
                  </a:lnTo>
                  <a:lnTo>
                    <a:pt x="61213" y="432053"/>
                  </a:lnTo>
                  <a:lnTo>
                    <a:pt x="46227" y="432053"/>
                  </a:lnTo>
                  <a:lnTo>
                    <a:pt x="46227" y="251587"/>
                  </a:lnTo>
                  <a:lnTo>
                    <a:pt x="61213" y="251587"/>
                  </a:lnTo>
                  <a:lnTo>
                    <a:pt x="64515" y="246887"/>
                  </a:lnTo>
                  <a:lnTo>
                    <a:pt x="64515" y="220344"/>
                  </a:lnTo>
                  <a:lnTo>
                    <a:pt x="82676" y="220344"/>
                  </a:lnTo>
                  <a:lnTo>
                    <a:pt x="85978" y="215900"/>
                  </a:lnTo>
                  <a:lnTo>
                    <a:pt x="85978" y="188087"/>
                  </a:lnTo>
                  <a:close/>
                </a:path>
                <a:path w="214629" h="530225">
                  <a:moveTo>
                    <a:pt x="128143" y="0"/>
                  </a:moveTo>
                  <a:lnTo>
                    <a:pt x="189737" y="0"/>
                  </a:lnTo>
                  <a:lnTo>
                    <a:pt x="193039" y="4191"/>
                  </a:lnTo>
                  <a:lnTo>
                    <a:pt x="193039" y="494665"/>
                  </a:lnTo>
                  <a:lnTo>
                    <a:pt x="210820" y="494665"/>
                  </a:lnTo>
                  <a:lnTo>
                    <a:pt x="214502" y="499109"/>
                  </a:lnTo>
                  <a:lnTo>
                    <a:pt x="214502" y="525653"/>
                  </a:lnTo>
                  <a:lnTo>
                    <a:pt x="210820" y="530097"/>
                  </a:lnTo>
                  <a:lnTo>
                    <a:pt x="171450" y="530097"/>
                  </a:lnTo>
                  <a:lnTo>
                    <a:pt x="168275" y="525653"/>
                  </a:lnTo>
                  <a:lnTo>
                    <a:pt x="168275" y="499109"/>
                  </a:lnTo>
                  <a:lnTo>
                    <a:pt x="149605" y="499109"/>
                  </a:lnTo>
                  <a:lnTo>
                    <a:pt x="149605" y="525653"/>
                  </a:lnTo>
                  <a:lnTo>
                    <a:pt x="146811" y="530097"/>
                  </a:lnTo>
                  <a:lnTo>
                    <a:pt x="64515" y="530097"/>
                  </a:lnTo>
                  <a:lnTo>
                    <a:pt x="61213" y="525653"/>
                  </a:lnTo>
                  <a:lnTo>
                    <a:pt x="61213" y="499109"/>
                  </a:lnTo>
                  <a:lnTo>
                    <a:pt x="24383" y="499109"/>
                  </a:lnTo>
                  <a:lnTo>
                    <a:pt x="21462" y="494665"/>
                  </a:lnTo>
                  <a:lnTo>
                    <a:pt x="21462" y="436499"/>
                  </a:lnTo>
                  <a:lnTo>
                    <a:pt x="2794" y="436499"/>
                  </a:lnTo>
                  <a:lnTo>
                    <a:pt x="0" y="432053"/>
                  </a:lnTo>
                  <a:lnTo>
                    <a:pt x="0" y="251587"/>
                  </a:lnTo>
                  <a:lnTo>
                    <a:pt x="2794" y="246887"/>
                  </a:lnTo>
                  <a:lnTo>
                    <a:pt x="21462" y="246887"/>
                  </a:lnTo>
                  <a:lnTo>
                    <a:pt x="21462" y="188087"/>
                  </a:lnTo>
                  <a:lnTo>
                    <a:pt x="24383" y="183642"/>
                  </a:lnTo>
                  <a:lnTo>
                    <a:pt x="61213" y="183642"/>
                  </a:lnTo>
                  <a:lnTo>
                    <a:pt x="61213" y="161798"/>
                  </a:lnTo>
                  <a:lnTo>
                    <a:pt x="64515" y="157352"/>
                  </a:lnTo>
                  <a:lnTo>
                    <a:pt x="125222" y="157352"/>
                  </a:lnTo>
                  <a:lnTo>
                    <a:pt x="128143" y="161798"/>
                  </a:lnTo>
                  <a:lnTo>
                    <a:pt x="128143" y="183642"/>
                  </a:lnTo>
                  <a:lnTo>
                    <a:pt x="146811" y="183642"/>
                  </a:lnTo>
                  <a:lnTo>
                    <a:pt x="146811" y="35432"/>
                  </a:lnTo>
                  <a:lnTo>
                    <a:pt x="128143" y="35432"/>
                  </a:lnTo>
                  <a:lnTo>
                    <a:pt x="125222" y="30099"/>
                  </a:lnTo>
                  <a:lnTo>
                    <a:pt x="125222" y="4191"/>
                  </a:lnTo>
                  <a:lnTo>
                    <a:pt x="128143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5" name="object 15"/>
            <p:cNvSpPr/>
            <p:nvPr/>
          </p:nvSpPr>
          <p:spPr>
            <a:xfrm>
              <a:off x="7210044" y="3360420"/>
              <a:ext cx="247015" cy="370205"/>
            </a:xfrm>
            <a:custGeom>
              <a:avLst/>
              <a:gdLst/>
              <a:ahLst/>
              <a:cxnLst/>
              <a:rect l="l" t="t" r="r" b="b"/>
              <a:pathLst>
                <a:path w="247015" h="370204">
                  <a:moveTo>
                    <a:pt x="223900" y="0"/>
                  </a:moveTo>
                  <a:lnTo>
                    <a:pt x="159384" y="0"/>
                  </a:lnTo>
                  <a:lnTo>
                    <a:pt x="155701" y="4063"/>
                  </a:lnTo>
                  <a:lnTo>
                    <a:pt x="155701" y="26161"/>
                  </a:lnTo>
                  <a:lnTo>
                    <a:pt x="159384" y="30479"/>
                  </a:lnTo>
                  <a:lnTo>
                    <a:pt x="178307" y="30479"/>
                  </a:lnTo>
                  <a:lnTo>
                    <a:pt x="178307" y="272668"/>
                  </a:lnTo>
                  <a:lnTo>
                    <a:pt x="159384" y="272668"/>
                  </a:lnTo>
                  <a:lnTo>
                    <a:pt x="155701" y="276986"/>
                  </a:lnTo>
                  <a:lnTo>
                    <a:pt x="155701" y="303402"/>
                  </a:lnTo>
                  <a:lnTo>
                    <a:pt x="90804" y="303402"/>
                  </a:lnTo>
                  <a:lnTo>
                    <a:pt x="90804" y="276986"/>
                  </a:lnTo>
                  <a:lnTo>
                    <a:pt x="87883" y="272668"/>
                  </a:lnTo>
                  <a:lnTo>
                    <a:pt x="67817" y="272668"/>
                  </a:lnTo>
                  <a:lnTo>
                    <a:pt x="67817" y="4063"/>
                  </a:lnTo>
                  <a:lnTo>
                    <a:pt x="64515" y="0"/>
                  </a:lnTo>
                  <a:lnTo>
                    <a:pt x="2921" y="0"/>
                  </a:lnTo>
                  <a:lnTo>
                    <a:pt x="0" y="4063"/>
                  </a:lnTo>
                  <a:lnTo>
                    <a:pt x="0" y="26161"/>
                  </a:lnTo>
                  <a:lnTo>
                    <a:pt x="2921" y="30479"/>
                  </a:lnTo>
                  <a:lnTo>
                    <a:pt x="22986" y="30479"/>
                  </a:lnTo>
                  <a:lnTo>
                    <a:pt x="22986" y="303402"/>
                  </a:lnTo>
                  <a:lnTo>
                    <a:pt x="25907" y="308101"/>
                  </a:lnTo>
                  <a:lnTo>
                    <a:pt x="45211" y="308101"/>
                  </a:lnTo>
                  <a:lnTo>
                    <a:pt x="45211" y="334771"/>
                  </a:lnTo>
                  <a:lnTo>
                    <a:pt x="48513" y="339470"/>
                  </a:lnTo>
                  <a:lnTo>
                    <a:pt x="64515" y="339470"/>
                  </a:lnTo>
                  <a:lnTo>
                    <a:pt x="64515" y="365632"/>
                  </a:lnTo>
                  <a:lnTo>
                    <a:pt x="67817" y="370077"/>
                  </a:lnTo>
                  <a:lnTo>
                    <a:pt x="133857" y="370077"/>
                  </a:lnTo>
                  <a:lnTo>
                    <a:pt x="136778" y="365632"/>
                  </a:lnTo>
                  <a:lnTo>
                    <a:pt x="136778" y="339470"/>
                  </a:lnTo>
                  <a:lnTo>
                    <a:pt x="155701" y="339470"/>
                  </a:lnTo>
                  <a:lnTo>
                    <a:pt x="159384" y="334771"/>
                  </a:lnTo>
                  <a:lnTo>
                    <a:pt x="159384" y="308101"/>
                  </a:lnTo>
                  <a:lnTo>
                    <a:pt x="178307" y="308101"/>
                  </a:lnTo>
                  <a:lnTo>
                    <a:pt x="178307" y="365632"/>
                  </a:lnTo>
                  <a:lnTo>
                    <a:pt x="181990" y="370077"/>
                  </a:lnTo>
                  <a:lnTo>
                    <a:pt x="243204" y="370077"/>
                  </a:lnTo>
                  <a:lnTo>
                    <a:pt x="246506" y="365632"/>
                  </a:lnTo>
                  <a:lnTo>
                    <a:pt x="246506" y="339470"/>
                  </a:lnTo>
                  <a:lnTo>
                    <a:pt x="243204" y="334771"/>
                  </a:lnTo>
                  <a:lnTo>
                    <a:pt x="227202" y="334771"/>
                  </a:lnTo>
                  <a:lnTo>
                    <a:pt x="227202" y="4063"/>
                  </a:lnTo>
                  <a:lnTo>
                    <a:pt x="223900" y="0"/>
                  </a:lnTo>
                  <a:close/>
                </a:path>
              </a:pathLst>
            </a:custGeom>
            <a:solidFill>
              <a:srgbClr val="3333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6" name="object 16"/>
            <p:cNvSpPr/>
            <p:nvPr/>
          </p:nvSpPr>
          <p:spPr>
            <a:xfrm>
              <a:off x="7210044" y="3360420"/>
              <a:ext cx="247015" cy="370205"/>
            </a:xfrm>
            <a:custGeom>
              <a:avLst/>
              <a:gdLst/>
              <a:ahLst/>
              <a:cxnLst/>
              <a:rect l="l" t="t" r="r" b="b"/>
              <a:pathLst>
                <a:path w="247015" h="370204">
                  <a:moveTo>
                    <a:pt x="2921" y="0"/>
                  </a:moveTo>
                  <a:lnTo>
                    <a:pt x="64515" y="0"/>
                  </a:lnTo>
                  <a:lnTo>
                    <a:pt x="67817" y="4063"/>
                  </a:lnTo>
                  <a:lnTo>
                    <a:pt x="67817" y="272668"/>
                  </a:lnTo>
                  <a:lnTo>
                    <a:pt x="87883" y="272668"/>
                  </a:lnTo>
                  <a:lnTo>
                    <a:pt x="90804" y="276986"/>
                  </a:lnTo>
                  <a:lnTo>
                    <a:pt x="90804" y="303402"/>
                  </a:lnTo>
                  <a:lnTo>
                    <a:pt x="155701" y="303402"/>
                  </a:lnTo>
                  <a:lnTo>
                    <a:pt x="155701" y="276986"/>
                  </a:lnTo>
                  <a:lnTo>
                    <a:pt x="159384" y="272668"/>
                  </a:lnTo>
                  <a:lnTo>
                    <a:pt x="178307" y="272668"/>
                  </a:lnTo>
                  <a:lnTo>
                    <a:pt x="178307" y="30479"/>
                  </a:lnTo>
                  <a:lnTo>
                    <a:pt x="159384" y="30479"/>
                  </a:lnTo>
                  <a:lnTo>
                    <a:pt x="155701" y="26161"/>
                  </a:lnTo>
                  <a:lnTo>
                    <a:pt x="155701" y="4063"/>
                  </a:lnTo>
                  <a:lnTo>
                    <a:pt x="159384" y="0"/>
                  </a:lnTo>
                  <a:lnTo>
                    <a:pt x="223900" y="0"/>
                  </a:lnTo>
                  <a:lnTo>
                    <a:pt x="227202" y="4063"/>
                  </a:lnTo>
                  <a:lnTo>
                    <a:pt x="227202" y="334771"/>
                  </a:lnTo>
                  <a:lnTo>
                    <a:pt x="243204" y="334771"/>
                  </a:lnTo>
                  <a:lnTo>
                    <a:pt x="246506" y="339470"/>
                  </a:lnTo>
                  <a:lnTo>
                    <a:pt x="246506" y="365632"/>
                  </a:lnTo>
                  <a:lnTo>
                    <a:pt x="243204" y="370077"/>
                  </a:lnTo>
                  <a:lnTo>
                    <a:pt x="181990" y="370077"/>
                  </a:lnTo>
                  <a:lnTo>
                    <a:pt x="178307" y="365632"/>
                  </a:lnTo>
                  <a:lnTo>
                    <a:pt x="178307" y="308101"/>
                  </a:lnTo>
                  <a:lnTo>
                    <a:pt x="159384" y="308101"/>
                  </a:lnTo>
                  <a:lnTo>
                    <a:pt x="159384" y="334771"/>
                  </a:lnTo>
                  <a:lnTo>
                    <a:pt x="155701" y="339470"/>
                  </a:lnTo>
                  <a:lnTo>
                    <a:pt x="136778" y="339470"/>
                  </a:lnTo>
                  <a:lnTo>
                    <a:pt x="136778" y="365632"/>
                  </a:lnTo>
                  <a:lnTo>
                    <a:pt x="133857" y="370077"/>
                  </a:lnTo>
                  <a:lnTo>
                    <a:pt x="67817" y="370077"/>
                  </a:lnTo>
                  <a:lnTo>
                    <a:pt x="64515" y="365632"/>
                  </a:lnTo>
                  <a:lnTo>
                    <a:pt x="64515" y="339470"/>
                  </a:lnTo>
                  <a:lnTo>
                    <a:pt x="48513" y="339470"/>
                  </a:lnTo>
                  <a:lnTo>
                    <a:pt x="45211" y="334771"/>
                  </a:lnTo>
                  <a:lnTo>
                    <a:pt x="45211" y="308101"/>
                  </a:lnTo>
                  <a:lnTo>
                    <a:pt x="25907" y="308101"/>
                  </a:lnTo>
                  <a:lnTo>
                    <a:pt x="22986" y="303402"/>
                  </a:lnTo>
                  <a:lnTo>
                    <a:pt x="22986" y="30479"/>
                  </a:lnTo>
                  <a:lnTo>
                    <a:pt x="2921" y="30479"/>
                  </a:lnTo>
                  <a:lnTo>
                    <a:pt x="0" y="26161"/>
                  </a:lnTo>
                  <a:lnTo>
                    <a:pt x="0" y="4063"/>
                  </a:lnTo>
                  <a:lnTo>
                    <a:pt x="2921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7" name="object 17"/>
            <p:cNvSpPr/>
            <p:nvPr/>
          </p:nvSpPr>
          <p:spPr>
            <a:xfrm>
              <a:off x="7488935" y="3200400"/>
              <a:ext cx="86995" cy="530225"/>
            </a:xfrm>
            <a:custGeom>
              <a:avLst/>
              <a:gdLst/>
              <a:ahLst/>
              <a:cxnLst/>
              <a:rect l="l" t="t" r="r" b="b"/>
              <a:pathLst>
                <a:path w="86995" h="530225">
                  <a:moveTo>
                    <a:pt x="61849" y="0"/>
                  </a:moveTo>
                  <a:lnTo>
                    <a:pt x="2667" y="0"/>
                  </a:lnTo>
                  <a:lnTo>
                    <a:pt x="0" y="4191"/>
                  </a:lnTo>
                  <a:lnTo>
                    <a:pt x="0" y="30099"/>
                  </a:lnTo>
                  <a:lnTo>
                    <a:pt x="2667" y="35432"/>
                  </a:lnTo>
                  <a:lnTo>
                    <a:pt x="21082" y="35432"/>
                  </a:lnTo>
                  <a:lnTo>
                    <a:pt x="21082" y="494665"/>
                  </a:lnTo>
                  <a:lnTo>
                    <a:pt x="2667" y="494665"/>
                  </a:lnTo>
                  <a:lnTo>
                    <a:pt x="0" y="499109"/>
                  </a:lnTo>
                  <a:lnTo>
                    <a:pt x="0" y="525653"/>
                  </a:lnTo>
                  <a:lnTo>
                    <a:pt x="2667" y="530097"/>
                  </a:lnTo>
                  <a:lnTo>
                    <a:pt x="83058" y="530097"/>
                  </a:lnTo>
                  <a:lnTo>
                    <a:pt x="86487" y="525653"/>
                  </a:lnTo>
                  <a:lnTo>
                    <a:pt x="86487" y="499109"/>
                  </a:lnTo>
                  <a:lnTo>
                    <a:pt x="83058" y="494665"/>
                  </a:lnTo>
                  <a:lnTo>
                    <a:pt x="64516" y="494665"/>
                  </a:lnTo>
                  <a:lnTo>
                    <a:pt x="64516" y="4191"/>
                  </a:lnTo>
                  <a:lnTo>
                    <a:pt x="61849" y="0"/>
                  </a:lnTo>
                  <a:close/>
                </a:path>
              </a:pathLst>
            </a:custGeom>
            <a:solidFill>
              <a:srgbClr val="3333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8" name="object 18"/>
            <p:cNvSpPr/>
            <p:nvPr/>
          </p:nvSpPr>
          <p:spPr>
            <a:xfrm>
              <a:off x="7488935" y="3200400"/>
              <a:ext cx="86995" cy="530225"/>
            </a:xfrm>
            <a:custGeom>
              <a:avLst/>
              <a:gdLst/>
              <a:ahLst/>
              <a:cxnLst/>
              <a:rect l="l" t="t" r="r" b="b"/>
              <a:pathLst>
                <a:path w="86995" h="530225">
                  <a:moveTo>
                    <a:pt x="2667" y="0"/>
                  </a:moveTo>
                  <a:lnTo>
                    <a:pt x="61849" y="0"/>
                  </a:lnTo>
                  <a:lnTo>
                    <a:pt x="64516" y="4191"/>
                  </a:lnTo>
                  <a:lnTo>
                    <a:pt x="64516" y="494665"/>
                  </a:lnTo>
                  <a:lnTo>
                    <a:pt x="83058" y="494665"/>
                  </a:lnTo>
                  <a:lnTo>
                    <a:pt x="86487" y="499109"/>
                  </a:lnTo>
                  <a:lnTo>
                    <a:pt x="86487" y="525653"/>
                  </a:lnTo>
                  <a:lnTo>
                    <a:pt x="83058" y="530097"/>
                  </a:lnTo>
                  <a:lnTo>
                    <a:pt x="2667" y="530097"/>
                  </a:lnTo>
                  <a:lnTo>
                    <a:pt x="0" y="525653"/>
                  </a:lnTo>
                  <a:lnTo>
                    <a:pt x="0" y="499109"/>
                  </a:lnTo>
                  <a:lnTo>
                    <a:pt x="2667" y="494665"/>
                  </a:lnTo>
                  <a:lnTo>
                    <a:pt x="21082" y="494665"/>
                  </a:lnTo>
                  <a:lnTo>
                    <a:pt x="21082" y="35432"/>
                  </a:lnTo>
                  <a:lnTo>
                    <a:pt x="2667" y="35432"/>
                  </a:lnTo>
                  <a:lnTo>
                    <a:pt x="0" y="30099"/>
                  </a:lnTo>
                  <a:lnTo>
                    <a:pt x="0" y="4191"/>
                  </a:lnTo>
                  <a:lnTo>
                    <a:pt x="2667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9" name="object 19"/>
            <p:cNvSpPr/>
            <p:nvPr/>
          </p:nvSpPr>
          <p:spPr>
            <a:xfrm>
              <a:off x="7639811" y="3360420"/>
              <a:ext cx="196215" cy="370205"/>
            </a:xfrm>
            <a:custGeom>
              <a:avLst/>
              <a:gdLst/>
              <a:ahLst/>
              <a:cxnLst/>
              <a:rect l="l" t="t" r="r" b="b"/>
              <a:pathLst>
                <a:path w="196215" h="370204">
                  <a:moveTo>
                    <a:pt x="152527" y="339470"/>
                  </a:moveTo>
                  <a:lnTo>
                    <a:pt x="62484" y="339470"/>
                  </a:lnTo>
                  <a:lnTo>
                    <a:pt x="62484" y="365632"/>
                  </a:lnTo>
                  <a:lnTo>
                    <a:pt x="65405" y="370077"/>
                  </a:lnTo>
                  <a:lnTo>
                    <a:pt x="149352" y="370077"/>
                  </a:lnTo>
                  <a:lnTo>
                    <a:pt x="152527" y="365632"/>
                  </a:lnTo>
                  <a:lnTo>
                    <a:pt x="152527" y="339470"/>
                  </a:lnTo>
                  <a:close/>
                </a:path>
                <a:path w="196215" h="370204">
                  <a:moveTo>
                    <a:pt x="171450" y="26161"/>
                  </a:moveTo>
                  <a:lnTo>
                    <a:pt x="24638" y="26161"/>
                  </a:lnTo>
                  <a:lnTo>
                    <a:pt x="21844" y="30479"/>
                  </a:lnTo>
                  <a:lnTo>
                    <a:pt x="21844" y="88899"/>
                  </a:lnTo>
                  <a:lnTo>
                    <a:pt x="2921" y="88899"/>
                  </a:lnTo>
                  <a:lnTo>
                    <a:pt x="0" y="93598"/>
                  </a:lnTo>
                  <a:lnTo>
                    <a:pt x="0" y="272668"/>
                  </a:lnTo>
                  <a:lnTo>
                    <a:pt x="2921" y="276986"/>
                  </a:lnTo>
                  <a:lnTo>
                    <a:pt x="21844" y="276986"/>
                  </a:lnTo>
                  <a:lnTo>
                    <a:pt x="21844" y="334771"/>
                  </a:lnTo>
                  <a:lnTo>
                    <a:pt x="24638" y="339470"/>
                  </a:lnTo>
                  <a:lnTo>
                    <a:pt x="171450" y="339470"/>
                  </a:lnTo>
                  <a:lnTo>
                    <a:pt x="174371" y="334771"/>
                  </a:lnTo>
                  <a:lnTo>
                    <a:pt x="174371" y="308101"/>
                  </a:lnTo>
                  <a:lnTo>
                    <a:pt x="192913" y="308101"/>
                  </a:lnTo>
                  <a:lnTo>
                    <a:pt x="196215" y="303402"/>
                  </a:lnTo>
                  <a:lnTo>
                    <a:pt x="87249" y="303402"/>
                  </a:lnTo>
                  <a:lnTo>
                    <a:pt x="87249" y="276986"/>
                  </a:lnTo>
                  <a:lnTo>
                    <a:pt x="84328" y="272668"/>
                  </a:lnTo>
                  <a:lnTo>
                    <a:pt x="65405" y="272668"/>
                  </a:lnTo>
                  <a:lnTo>
                    <a:pt x="65405" y="249681"/>
                  </a:lnTo>
                  <a:lnTo>
                    <a:pt x="62484" y="244982"/>
                  </a:lnTo>
                  <a:lnTo>
                    <a:pt x="46863" y="244982"/>
                  </a:lnTo>
                  <a:lnTo>
                    <a:pt x="46863" y="155574"/>
                  </a:lnTo>
                  <a:lnTo>
                    <a:pt x="192913" y="155574"/>
                  </a:lnTo>
                  <a:lnTo>
                    <a:pt x="196215" y="151129"/>
                  </a:lnTo>
                  <a:lnTo>
                    <a:pt x="196215" y="120014"/>
                  </a:lnTo>
                  <a:lnTo>
                    <a:pt x="46863" y="120014"/>
                  </a:lnTo>
                  <a:lnTo>
                    <a:pt x="46863" y="62483"/>
                  </a:lnTo>
                  <a:lnTo>
                    <a:pt x="62484" y="62483"/>
                  </a:lnTo>
                  <a:lnTo>
                    <a:pt x="65405" y="58165"/>
                  </a:lnTo>
                  <a:lnTo>
                    <a:pt x="65405" y="30479"/>
                  </a:lnTo>
                  <a:lnTo>
                    <a:pt x="174371" y="30479"/>
                  </a:lnTo>
                  <a:lnTo>
                    <a:pt x="171450" y="26161"/>
                  </a:lnTo>
                  <a:close/>
                </a:path>
                <a:path w="196215" h="370204">
                  <a:moveTo>
                    <a:pt x="192913" y="272668"/>
                  </a:moveTo>
                  <a:lnTo>
                    <a:pt x="174371" y="272668"/>
                  </a:lnTo>
                  <a:lnTo>
                    <a:pt x="171450" y="276986"/>
                  </a:lnTo>
                  <a:lnTo>
                    <a:pt x="171450" y="303402"/>
                  </a:lnTo>
                  <a:lnTo>
                    <a:pt x="196215" y="303402"/>
                  </a:lnTo>
                  <a:lnTo>
                    <a:pt x="196215" y="276986"/>
                  </a:lnTo>
                  <a:lnTo>
                    <a:pt x="192913" y="272668"/>
                  </a:lnTo>
                  <a:close/>
                </a:path>
                <a:path w="196215" h="370204">
                  <a:moveTo>
                    <a:pt x="174371" y="30479"/>
                  </a:moveTo>
                  <a:lnTo>
                    <a:pt x="127889" y="30479"/>
                  </a:lnTo>
                  <a:lnTo>
                    <a:pt x="127889" y="58165"/>
                  </a:lnTo>
                  <a:lnTo>
                    <a:pt x="130810" y="62483"/>
                  </a:lnTo>
                  <a:lnTo>
                    <a:pt x="149352" y="62483"/>
                  </a:lnTo>
                  <a:lnTo>
                    <a:pt x="149352" y="120014"/>
                  </a:lnTo>
                  <a:lnTo>
                    <a:pt x="196215" y="120014"/>
                  </a:lnTo>
                  <a:lnTo>
                    <a:pt x="196215" y="62483"/>
                  </a:lnTo>
                  <a:lnTo>
                    <a:pt x="192913" y="58165"/>
                  </a:lnTo>
                  <a:lnTo>
                    <a:pt x="174371" y="58165"/>
                  </a:lnTo>
                  <a:lnTo>
                    <a:pt x="174371" y="30479"/>
                  </a:lnTo>
                  <a:close/>
                </a:path>
                <a:path w="196215" h="370204">
                  <a:moveTo>
                    <a:pt x="149352" y="0"/>
                  </a:moveTo>
                  <a:lnTo>
                    <a:pt x="65405" y="0"/>
                  </a:lnTo>
                  <a:lnTo>
                    <a:pt x="62484" y="4063"/>
                  </a:lnTo>
                  <a:lnTo>
                    <a:pt x="62484" y="26161"/>
                  </a:lnTo>
                  <a:lnTo>
                    <a:pt x="152527" y="26161"/>
                  </a:lnTo>
                  <a:lnTo>
                    <a:pt x="152527" y="4063"/>
                  </a:lnTo>
                  <a:lnTo>
                    <a:pt x="149352" y="0"/>
                  </a:lnTo>
                  <a:close/>
                </a:path>
              </a:pathLst>
            </a:custGeom>
            <a:solidFill>
              <a:srgbClr val="3333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82102" y="3386328"/>
              <a:ext cx="111633" cy="9867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639811" y="3360420"/>
              <a:ext cx="196215" cy="370205"/>
            </a:xfrm>
            <a:custGeom>
              <a:avLst/>
              <a:gdLst/>
              <a:ahLst/>
              <a:cxnLst/>
              <a:rect l="l" t="t" r="r" b="b"/>
              <a:pathLst>
                <a:path w="196215" h="370204">
                  <a:moveTo>
                    <a:pt x="65405" y="0"/>
                  </a:moveTo>
                  <a:lnTo>
                    <a:pt x="149352" y="0"/>
                  </a:lnTo>
                  <a:lnTo>
                    <a:pt x="152527" y="4063"/>
                  </a:lnTo>
                  <a:lnTo>
                    <a:pt x="152527" y="26161"/>
                  </a:lnTo>
                  <a:lnTo>
                    <a:pt x="171450" y="26161"/>
                  </a:lnTo>
                  <a:lnTo>
                    <a:pt x="174371" y="30479"/>
                  </a:lnTo>
                  <a:lnTo>
                    <a:pt x="174371" y="58165"/>
                  </a:lnTo>
                  <a:lnTo>
                    <a:pt x="192913" y="58165"/>
                  </a:lnTo>
                  <a:lnTo>
                    <a:pt x="196215" y="62483"/>
                  </a:lnTo>
                  <a:lnTo>
                    <a:pt x="196215" y="151129"/>
                  </a:lnTo>
                  <a:lnTo>
                    <a:pt x="192913" y="155574"/>
                  </a:lnTo>
                  <a:lnTo>
                    <a:pt x="46863" y="155574"/>
                  </a:lnTo>
                  <a:lnTo>
                    <a:pt x="46863" y="244982"/>
                  </a:lnTo>
                  <a:lnTo>
                    <a:pt x="62484" y="244982"/>
                  </a:lnTo>
                  <a:lnTo>
                    <a:pt x="65405" y="249681"/>
                  </a:lnTo>
                  <a:lnTo>
                    <a:pt x="65405" y="272668"/>
                  </a:lnTo>
                  <a:lnTo>
                    <a:pt x="84328" y="272668"/>
                  </a:lnTo>
                  <a:lnTo>
                    <a:pt x="87249" y="276986"/>
                  </a:lnTo>
                  <a:lnTo>
                    <a:pt x="87249" y="303402"/>
                  </a:lnTo>
                  <a:lnTo>
                    <a:pt x="171450" y="303402"/>
                  </a:lnTo>
                  <a:lnTo>
                    <a:pt x="171450" y="276986"/>
                  </a:lnTo>
                  <a:lnTo>
                    <a:pt x="174371" y="272668"/>
                  </a:lnTo>
                  <a:lnTo>
                    <a:pt x="192913" y="272668"/>
                  </a:lnTo>
                  <a:lnTo>
                    <a:pt x="196215" y="276986"/>
                  </a:lnTo>
                  <a:lnTo>
                    <a:pt x="196215" y="303402"/>
                  </a:lnTo>
                  <a:lnTo>
                    <a:pt x="192913" y="308101"/>
                  </a:lnTo>
                  <a:lnTo>
                    <a:pt x="174371" y="308101"/>
                  </a:lnTo>
                  <a:lnTo>
                    <a:pt x="174371" y="334771"/>
                  </a:lnTo>
                  <a:lnTo>
                    <a:pt x="171450" y="339470"/>
                  </a:lnTo>
                  <a:lnTo>
                    <a:pt x="152527" y="339470"/>
                  </a:lnTo>
                  <a:lnTo>
                    <a:pt x="152527" y="365632"/>
                  </a:lnTo>
                  <a:lnTo>
                    <a:pt x="149352" y="370077"/>
                  </a:lnTo>
                  <a:lnTo>
                    <a:pt x="65405" y="370077"/>
                  </a:lnTo>
                  <a:lnTo>
                    <a:pt x="62484" y="365632"/>
                  </a:lnTo>
                  <a:lnTo>
                    <a:pt x="62484" y="339470"/>
                  </a:lnTo>
                  <a:lnTo>
                    <a:pt x="24638" y="339470"/>
                  </a:lnTo>
                  <a:lnTo>
                    <a:pt x="21844" y="334771"/>
                  </a:lnTo>
                  <a:lnTo>
                    <a:pt x="21844" y="276986"/>
                  </a:lnTo>
                  <a:lnTo>
                    <a:pt x="2921" y="276986"/>
                  </a:lnTo>
                  <a:lnTo>
                    <a:pt x="0" y="272668"/>
                  </a:lnTo>
                  <a:lnTo>
                    <a:pt x="0" y="93598"/>
                  </a:lnTo>
                  <a:lnTo>
                    <a:pt x="2921" y="88899"/>
                  </a:lnTo>
                  <a:lnTo>
                    <a:pt x="21844" y="88899"/>
                  </a:lnTo>
                  <a:lnTo>
                    <a:pt x="21844" y="30479"/>
                  </a:lnTo>
                  <a:lnTo>
                    <a:pt x="24638" y="26161"/>
                  </a:lnTo>
                  <a:lnTo>
                    <a:pt x="62484" y="26161"/>
                  </a:lnTo>
                  <a:lnTo>
                    <a:pt x="62484" y="4063"/>
                  </a:lnTo>
                  <a:lnTo>
                    <a:pt x="65405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8260419" y="2551955"/>
            <a:ext cx="1072727" cy="57109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>
              <a:spcBef>
                <a:spcPts val="133"/>
              </a:spcBef>
            </a:pPr>
            <a:r>
              <a:rPr sz="3600" b="1" spc="-27" dirty="0">
                <a:solidFill>
                  <a:srgbClr val="FFFF00"/>
                </a:solidFill>
                <a:latin typeface="Comic Sans MS"/>
                <a:cs typeface="Comic Sans MS"/>
              </a:rPr>
              <a:t>Data</a:t>
            </a:r>
            <a:endParaRPr sz="3600">
              <a:latin typeface="Comic Sans MS"/>
              <a:cs typeface="Comic Sans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095744" y="2455672"/>
            <a:ext cx="689187" cy="326585"/>
          </a:xfrm>
          <a:prstGeom prst="rect">
            <a:avLst/>
          </a:prstGeom>
        </p:spPr>
        <p:txBody>
          <a:bodyPr vert="horz" wrap="square" lIns="0" tIns="18627" rIns="0" bIns="0" rtlCol="0">
            <a:spAutoFit/>
          </a:bodyPr>
          <a:lstStyle/>
          <a:p>
            <a:pPr>
              <a:spcBef>
                <a:spcPts val="147"/>
              </a:spcBef>
            </a:pPr>
            <a:r>
              <a:rPr sz="2000" b="1" dirty="0">
                <a:latin typeface="Comic Sans MS"/>
                <a:cs typeface="Comic Sans MS"/>
              </a:rPr>
              <a:t>D1</a:t>
            </a:r>
            <a:r>
              <a:rPr sz="2000" b="1" spc="-7" dirty="0">
                <a:latin typeface="Comic Sans MS"/>
                <a:cs typeface="Comic Sans MS"/>
              </a:rPr>
              <a:t> </a:t>
            </a:r>
            <a:r>
              <a:rPr sz="2000" b="1" spc="-33" dirty="0">
                <a:latin typeface="Comic Sans MS"/>
                <a:cs typeface="Comic Sans MS"/>
              </a:rPr>
              <a:t>..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095744" y="2705880"/>
            <a:ext cx="689187" cy="327440"/>
          </a:xfrm>
          <a:prstGeom prst="rect">
            <a:avLst/>
          </a:prstGeom>
        </p:spPr>
        <p:txBody>
          <a:bodyPr vert="horz" wrap="square" lIns="0" tIns="19473" rIns="0" bIns="0" rtlCol="0">
            <a:spAutoFit/>
          </a:bodyPr>
          <a:lstStyle/>
          <a:p>
            <a:pPr>
              <a:spcBef>
                <a:spcPts val="153"/>
              </a:spcBef>
            </a:pPr>
            <a:r>
              <a:rPr sz="2000" b="1" dirty="0">
                <a:latin typeface="Comic Sans MS"/>
                <a:cs typeface="Comic Sans MS"/>
              </a:rPr>
              <a:t>D2</a:t>
            </a:r>
            <a:r>
              <a:rPr sz="2000" b="1" spc="-7" dirty="0">
                <a:latin typeface="Comic Sans MS"/>
                <a:cs typeface="Comic Sans MS"/>
              </a:rPr>
              <a:t> </a:t>
            </a:r>
            <a:r>
              <a:rPr sz="2000" b="1" spc="-33" dirty="0">
                <a:latin typeface="Comic Sans MS"/>
                <a:cs typeface="Comic Sans MS"/>
              </a:rPr>
              <a:t>..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095744" y="2922118"/>
            <a:ext cx="689187" cy="327440"/>
          </a:xfrm>
          <a:prstGeom prst="rect">
            <a:avLst/>
          </a:prstGeom>
        </p:spPr>
        <p:txBody>
          <a:bodyPr vert="horz" wrap="square" lIns="0" tIns="19473" rIns="0" bIns="0" rtlCol="0">
            <a:spAutoFit/>
          </a:bodyPr>
          <a:lstStyle/>
          <a:p>
            <a:pPr>
              <a:spcBef>
                <a:spcPts val="153"/>
              </a:spcBef>
            </a:pPr>
            <a:r>
              <a:rPr sz="2000" b="1" dirty="0">
                <a:latin typeface="Comic Sans MS"/>
                <a:cs typeface="Comic Sans MS"/>
              </a:rPr>
              <a:t>D3</a:t>
            </a:r>
            <a:r>
              <a:rPr sz="2000" b="1" spc="-7" dirty="0">
                <a:latin typeface="Comic Sans MS"/>
                <a:cs typeface="Comic Sans MS"/>
              </a:rPr>
              <a:t> </a:t>
            </a:r>
            <a:r>
              <a:rPr sz="2000" b="1" spc="-33" dirty="0">
                <a:latin typeface="Comic Sans MS"/>
                <a:cs typeface="Comic Sans MS"/>
              </a:rPr>
              <a:t>..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044944" y="3317173"/>
            <a:ext cx="2739813" cy="512106"/>
          </a:xfrm>
          <a:prstGeom prst="rect">
            <a:avLst/>
          </a:prstGeom>
        </p:spPr>
        <p:txBody>
          <a:bodyPr vert="horz" wrap="square" lIns="0" tIns="19473" rIns="0" bIns="0" rtlCol="0">
            <a:spAutoFit/>
          </a:bodyPr>
          <a:lstStyle/>
          <a:p>
            <a:pPr marL="50799">
              <a:spcBef>
                <a:spcPts val="153"/>
              </a:spcBef>
              <a:tabLst>
                <a:tab pos="865272" algn="l"/>
              </a:tabLst>
            </a:pPr>
            <a:r>
              <a:rPr sz="3000" b="1" baseline="38888" dirty="0">
                <a:latin typeface="Comic Sans MS"/>
                <a:cs typeface="Comic Sans MS"/>
              </a:rPr>
              <a:t>F1</a:t>
            </a:r>
            <a:r>
              <a:rPr sz="3000" b="1" spc="-20" baseline="38888" dirty="0">
                <a:latin typeface="Comic Sans MS"/>
                <a:cs typeface="Comic Sans MS"/>
              </a:rPr>
              <a:t> </a:t>
            </a:r>
            <a:r>
              <a:rPr sz="3000" b="1" spc="-49" baseline="38888" dirty="0">
                <a:latin typeface="Comic Sans MS"/>
                <a:cs typeface="Comic Sans MS"/>
              </a:rPr>
              <a:t>..</a:t>
            </a:r>
            <a:r>
              <a:rPr sz="3000" b="1" baseline="38888" dirty="0">
                <a:latin typeface="Comic Sans MS"/>
                <a:cs typeface="Comic Sans MS"/>
              </a:rPr>
              <a:t>	</a:t>
            </a:r>
            <a:r>
              <a:rPr sz="3200" b="1" spc="-13" dirty="0">
                <a:solidFill>
                  <a:srgbClr val="FFFF00"/>
                </a:solidFill>
                <a:latin typeface="Comic Sans MS"/>
                <a:cs typeface="Comic Sans MS"/>
              </a:rPr>
              <a:t>Functions</a:t>
            </a:r>
            <a:endParaRPr sz="3200">
              <a:latin typeface="Comic Sans MS"/>
              <a:cs typeface="Comic Sans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078811" y="3591492"/>
            <a:ext cx="675640" cy="1096881"/>
          </a:xfrm>
          <a:prstGeom prst="rect">
            <a:avLst/>
          </a:prstGeom>
        </p:spPr>
        <p:txBody>
          <a:bodyPr vert="horz" wrap="square" lIns="0" tIns="19473" rIns="0" bIns="0" rtlCol="0">
            <a:spAutoFit/>
          </a:bodyPr>
          <a:lstStyle/>
          <a:p>
            <a:pPr marL="16933">
              <a:lnSpc>
                <a:spcPts val="2185"/>
              </a:lnSpc>
              <a:spcBef>
                <a:spcPts val="153"/>
              </a:spcBef>
            </a:pPr>
            <a:r>
              <a:rPr sz="2000" b="1" dirty="0">
                <a:latin typeface="Comic Sans MS"/>
                <a:cs typeface="Comic Sans MS"/>
              </a:rPr>
              <a:t>F2</a:t>
            </a:r>
            <a:r>
              <a:rPr sz="2000" b="1" spc="-13" dirty="0">
                <a:latin typeface="Comic Sans MS"/>
                <a:cs typeface="Comic Sans MS"/>
              </a:rPr>
              <a:t> </a:t>
            </a:r>
            <a:r>
              <a:rPr sz="2000" b="1" spc="-33" dirty="0">
                <a:latin typeface="Comic Sans MS"/>
                <a:cs typeface="Comic Sans MS"/>
              </a:rPr>
              <a:t>..</a:t>
            </a:r>
            <a:endParaRPr sz="2000">
              <a:latin typeface="Comic Sans MS"/>
              <a:cs typeface="Comic Sans MS"/>
            </a:endParaRPr>
          </a:p>
          <a:p>
            <a:pPr marL="16933">
              <a:lnSpc>
                <a:spcPts val="1973"/>
              </a:lnSpc>
            </a:pPr>
            <a:r>
              <a:rPr sz="2000" b="1" dirty="0">
                <a:latin typeface="Comic Sans MS"/>
                <a:cs typeface="Comic Sans MS"/>
              </a:rPr>
              <a:t>F3</a:t>
            </a:r>
            <a:r>
              <a:rPr sz="2000" b="1" spc="-13" dirty="0">
                <a:latin typeface="Comic Sans MS"/>
                <a:cs typeface="Comic Sans MS"/>
              </a:rPr>
              <a:t> </a:t>
            </a:r>
            <a:r>
              <a:rPr sz="2000" b="1" spc="-33" dirty="0">
                <a:latin typeface="Comic Sans MS"/>
                <a:cs typeface="Comic Sans MS"/>
              </a:rPr>
              <a:t>..</a:t>
            </a:r>
            <a:endParaRPr sz="2000">
              <a:latin typeface="Comic Sans MS"/>
              <a:cs typeface="Comic Sans MS"/>
            </a:endParaRPr>
          </a:p>
          <a:p>
            <a:pPr marL="16933">
              <a:lnSpc>
                <a:spcPts val="1973"/>
              </a:lnSpc>
            </a:pPr>
            <a:r>
              <a:rPr sz="2000" b="1" dirty="0">
                <a:latin typeface="Comic Sans MS"/>
                <a:cs typeface="Comic Sans MS"/>
              </a:rPr>
              <a:t>F4</a:t>
            </a:r>
            <a:r>
              <a:rPr sz="2000" b="1" spc="-13" dirty="0">
                <a:latin typeface="Comic Sans MS"/>
                <a:cs typeface="Comic Sans MS"/>
              </a:rPr>
              <a:t> </a:t>
            </a:r>
            <a:r>
              <a:rPr sz="2000" b="1" spc="-33" dirty="0">
                <a:latin typeface="Comic Sans MS"/>
                <a:cs typeface="Comic Sans MS"/>
              </a:rPr>
              <a:t>..</a:t>
            </a:r>
            <a:endParaRPr sz="2000">
              <a:latin typeface="Comic Sans MS"/>
              <a:cs typeface="Comic Sans MS"/>
            </a:endParaRPr>
          </a:p>
          <a:p>
            <a:pPr marL="16933">
              <a:lnSpc>
                <a:spcPts val="2185"/>
              </a:lnSpc>
            </a:pPr>
            <a:r>
              <a:rPr sz="2000" b="1" dirty="0">
                <a:latin typeface="Comic Sans MS"/>
                <a:cs typeface="Comic Sans MS"/>
              </a:rPr>
              <a:t>F5</a:t>
            </a:r>
            <a:r>
              <a:rPr sz="2000" b="1" spc="-13" dirty="0">
                <a:latin typeface="Comic Sans MS"/>
                <a:cs typeface="Comic Sans MS"/>
              </a:rPr>
              <a:t> </a:t>
            </a:r>
            <a:r>
              <a:rPr sz="2000" b="1" spc="-33" dirty="0">
                <a:latin typeface="Comic Sans MS"/>
                <a:cs typeface="Comic Sans MS"/>
              </a:rPr>
              <a:t>..</a:t>
            </a:r>
            <a:endParaRPr sz="200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2643790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17600" y="1023010"/>
            <a:ext cx="14020800" cy="695062"/>
          </a:xfrm>
          <a:prstGeom prst="rect">
            <a:avLst/>
          </a:prstGeom>
        </p:spPr>
        <p:txBody>
          <a:bodyPr vert="horz" wrap="square" lIns="0" tIns="17780" rIns="0" bIns="0" rtlCol="0" anchor="ctr">
            <a:spAutoFit/>
          </a:bodyPr>
          <a:lstStyle/>
          <a:p>
            <a:pPr marL="50799">
              <a:lnSpc>
                <a:spcPct val="100000"/>
              </a:lnSpc>
              <a:spcBef>
                <a:spcPts val="140"/>
              </a:spcBef>
            </a:pPr>
            <a:r>
              <a:rPr dirty="0"/>
              <a:t>Module</a:t>
            </a:r>
            <a:r>
              <a:rPr spc="-73" dirty="0"/>
              <a:t> </a:t>
            </a:r>
            <a:r>
              <a:rPr spc="-13" dirty="0"/>
              <a:t>Structure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852672" y="987552"/>
            <a:ext cx="7150947" cy="4200313"/>
            <a:chOff x="2889504" y="740663"/>
            <a:chExt cx="5363210" cy="3150235"/>
          </a:xfrm>
        </p:grpSpPr>
        <p:sp>
          <p:nvSpPr>
            <p:cNvPr id="4" name="object 4"/>
            <p:cNvSpPr/>
            <p:nvPr/>
          </p:nvSpPr>
          <p:spPr>
            <a:xfrm>
              <a:off x="5628132" y="745489"/>
              <a:ext cx="1463040" cy="552450"/>
            </a:xfrm>
            <a:custGeom>
              <a:avLst/>
              <a:gdLst/>
              <a:ahLst/>
              <a:cxnLst/>
              <a:rect l="l" t="t" r="r" b="b"/>
              <a:pathLst>
                <a:path w="1463040" h="552450">
                  <a:moveTo>
                    <a:pt x="1463040" y="1270"/>
                  </a:moveTo>
                  <a:lnTo>
                    <a:pt x="1462913" y="1270"/>
                  </a:lnTo>
                  <a:lnTo>
                    <a:pt x="1462913" y="0"/>
                  </a:lnTo>
                  <a:lnTo>
                    <a:pt x="127" y="0"/>
                  </a:lnTo>
                  <a:lnTo>
                    <a:pt x="127" y="1270"/>
                  </a:lnTo>
                  <a:lnTo>
                    <a:pt x="0" y="1270"/>
                  </a:lnTo>
                  <a:lnTo>
                    <a:pt x="0" y="2540"/>
                  </a:lnTo>
                  <a:lnTo>
                    <a:pt x="0" y="552450"/>
                  </a:lnTo>
                  <a:lnTo>
                    <a:pt x="1463040" y="552450"/>
                  </a:lnTo>
                  <a:lnTo>
                    <a:pt x="1463040" y="2540"/>
                  </a:lnTo>
                  <a:lnTo>
                    <a:pt x="1463040" y="1270"/>
                  </a:lnTo>
                  <a:close/>
                </a:path>
              </a:pathLst>
            </a:custGeom>
            <a:solidFill>
              <a:srgbClr val="8AAD6C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" name="object 5"/>
            <p:cNvSpPr/>
            <p:nvPr/>
          </p:nvSpPr>
          <p:spPr>
            <a:xfrm>
              <a:off x="5628132" y="745235"/>
              <a:ext cx="1463040" cy="553720"/>
            </a:xfrm>
            <a:custGeom>
              <a:avLst/>
              <a:gdLst/>
              <a:ahLst/>
              <a:cxnLst/>
              <a:rect l="l" t="t" r="r" b="b"/>
              <a:pathLst>
                <a:path w="1463040" h="553719">
                  <a:moveTo>
                    <a:pt x="0" y="2286"/>
                  </a:moveTo>
                  <a:lnTo>
                    <a:pt x="0" y="1015"/>
                  </a:lnTo>
                  <a:lnTo>
                    <a:pt x="1015" y="0"/>
                  </a:lnTo>
                  <a:lnTo>
                    <a:pt x="2285" y="0"/>
                  </a:lnTo>
                  <a:lnTo>
                    <a:pt x="1460753" y="0"/>
                  </a:lnTo>
                  <a:lnTo>
                    <a:pt x="1462023" y="0"/>
                  </a:lnTo>
                  <a:lnTo>
                    <a:pt x="1463039" y="1015"/>
                  </a:lnTo>
                  <a:lnTo>
                    <a:pt x="1463039" y="2286"/>
                  </a:lnTo>
                  <a:lnTo>
                    <a:pt x="1463039" y="550926"/>
                  </a:lnTo>
                  <a:lnTo>
                    <a:pt x="1463039" y="552196"/>
                  </a:lnTo>
                  <a:lnTo>
                    <a:pt x="1462023" y="553212"/>
                  </a:lnTo>
                  <a:lnTo>
                    <a:pt x="1460753" y="553212"/>
                  </a:lnTo>
                  <a:lnTo>
                    <a:pt x="2285" y="553212"/>
                  </a:lnTo>
                  <a:lnTo>
                    <a:pt x="1015" y="553212"/>
                  </a:lnTo>
                  <a:lnTo>
                    <a:pt x="0" y="552196"/>
                  </a:lnTo>
                  <a:lnTo>
                    <a:pt x="0" y="550926"/>
                  </a:lnTo>
                  <a:lnTo>
                    <a:pt x="0" y="2286"/>
                  </a:lnTo>
                  <a:close/>
                </a:path>
              </a:pathLst>
            </a:custGeom>
            <a:ln w="9144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4681728" y="3328669"/>
              <a:ext cx="1468120" cy="557530"/>
            </a:xfrm>
            <a:custGeom>
              <a:avLst/>
              <a:gdLst/>
              <a:ahLst/>
              <a:cxnLst/>
              <a:rect l="l" t="t" r="r" b="b"/>
              <a:pathLst>
                <a:path w="1468120" h="557529">
                  <a:moveTo>
                    <a:pt x="1467612" y="1270"/>
                  </a:moveTo>
                  <a:lnTo>
                    <a:pt x="1467472" y="1270"/>
                  </a:lnTo>
                  <a:lnTo>
                    <a:pt x="1467472" y="0"/>
                  </a:lnTo>
                  <a:lnTo>
                    <a:pt x="127" y="0"/>
                  </a:lnTo>
                  <a:lnTo>
                    <a:pt x="127" y="1270"/>
                  </a:lnTo>
                  <a:lnTo>
                    <a:pt x="0" y="1270"/>
                  </a:lnTo>
                  <a:lnTo>
                    <a:pt x="0" y="2540"/>
                  </a:lnTo>
                  <a:lnTo>
                    <a:pt x="0" y="556260"/>
                  </a:lnTo>
                  <a:lnTo>
                    <a:pt x="393" y="556260"/>
                  </a:lnTo>
                  <a:lnTo>
                    <a:pt x="393" y="557530"/>
                  </a:lnTo>
                  <a:lnTo>
                    <a:pt x="1467205" y="557530"/>
                  </a:lnTo>
                  <a:lnTo>
                    <a:pt x="1467205" y="556260"/>
                  </a:lnTo>
                  <a:lnTo>
                    <a:pt x="1467612" y="556260"/>
                  </a:lnTo>
                  <a:lnTo>
                    <a:pt x="1467612" y="2540"/>
                  </a:lnTo>
                  <a:lnTo>
                    <a:pt x="1467612" y="1270"/>
                  </a:lnTo>
                  <a:close/>
                </a:path>
              </a:pathLst>
            </a:custGeom>
            <a:solidFill>
              <a:srgbClr val="8AAD6C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" name="object 7"/>
            <p:cNvSpPr/>
            <p:nvPr/>
          </p:nvSpPr>
          <p:spPr>
            <a:xfrm>
              <a:off x="4681727" y="3328415"/>
              <a:ext cx="1468120" cy="558165"/>
            </a:xfrm>
            <a:custGeom>
              <a:avLst/>
              <a:gdLst/>
              <a:ahLst/>
              <a:cxnLst/>
              <a:rect l="l" t="t" r="r" b="b"/>
              <a:pathLst>
                <a:path w="1468120" h="558164">
                  <a:moveTo>
                    <a:pt x="0" y="2285"/>
                  </a:moveTo>
                  <a:lnTo>
                    <a:pt x="0" y="1015"/>
                  </a:lnTo>
                  <a:lnTo>
                    <a:pt x="1016" y="0"/>
                  </a:lnTo>
                  <a:lnTo>
                    <a:pt x="2286" y="0"/>
                  </a:lnTo>
                  <a:lnTo>
                    <a:pt x="1465326" y="0"/>
                  </a:lnTo>
                  <a:lnTo>
                    <a:pt x="1466596" y="0"/>
                  </a:lnTo>
                  <a:lnTo>
                    <a:pt x="1467612" y="1015"/>
                  </a:lnTo>
                  <a:lnTo>
                    <a:pt x="1467612" y="2285"/>
                  </a:lnTo>
                  <a:lnTo>
                    <a:pt x="1467612" y="555459"/>
                  </a:lnTo>
                  <a:lnTo>
                    <a:pt x="1467612" y="556742"/>
                  </a:lnTo>
                  <a:lnTo>
                    <a:pt x="1466596" y="557783"/>
                  </a:lnTo>
                  <a:lnTo>
                    <a:pt x="1465326" y="557783"/>
                  </a:lnTo>
                  <a:lnTo>
                    <a:pt x="2286" y="557783"/>
                  </a:lnTo>
                  <a:lnTo>
                    <a:pt x="1016" y="557783"/>
                  </a:lnTo>
                  <a:lnTo>
                    <a:pt x="0" y="556742"/>
                  </a:lnTo>
                  <a:lnTo>
                    <a:pt x="0" y="555459"/>
                  </a:lnTo>
                  <a:lnTo>
                    <a:pt x="0" y="2285"/>
                  </a:lnTo>
                  <a:close/>
                </a:path>
              </a:pathLst>
            </a:custGeom>
            <a:ln w="9144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" name="object 8"/>
            <p:cNvSpPr/>
            <p:nvPr/>
          </p:nvSpPr>
          <p:spPr>
            <a:xfrm>
              <a:off x="6469380" y="3328669"/>
              <a:ext cx="1463040" cy="557530"/>
            </a:xfrm>
            <a:custGeom>
              <a:avLst/>
              <a:gdLst/>
              <a:ahLst/>
              <a:cxnLst/>
              <a:rect l="l" t="t" r="r" b="b"/>
              <a:pathLst>
                <a:path w="1463040" h="557529">
                  <a:moveTo>
                    <a:pt x="1463040" y="1270"/>
                  </a:moveTo>
                  <a:lnTo>
                    <a:pt x="1462913" y="1270"/>
                  </a:lnTo>
                  <a:lnTo>
                    <a:pt x="1462913" y="0"/>
                  </a:lnTo>
                  <a:lnTo>
                    <a:pt x="127" y="0"/>
                  </a:lnTo>
                  <a:lnTo>
                    <a:pt x="127" y="1270"/>
                  </a:lnTo>
                  <a:lnTo>
                    <a:pt x="0" y="1270"/>
                  </a:lnTo>
                  <a:lnTo>
                    <a:pt x="0" y="2540"/>
                  </a:lnTo>
                  <a:lnTo>
                    <a:pt x="0" y="556260"/>
                  </a:lnTo>
                  <a:lnTo>
                    <a:pt x="393" y="556260"/>
                  </a:lnTo>
                  <a:lnTo>
                    <a:pt x="393" y="557530"/>
                  </a:lnTo>
                  <a:lnTo>
                    <a:pt x="1462633" y="557530"/>
                  </a:lnTo>
                  <a:lnTo>
                    <a:pt x="1462633" y="556260"/>
                  </a:lnTo>
                  <a:lnTo>
                    <a:pt x="1463040" y="556260"/>
                  </a:lnTo>
                  <a:lnTo>
                    <a:pt x="1463040" y="2540"/>
                  </a:lnTo>
                  <a:lnTo>
                    <a:pt x="1463040" y="1270"/>
                  </a:lnTo>
                  <a:close/>
                </a:path>
              </a:pathLst>
            </a:custGeom>
            <a:solidFill>
              <a:srgbClr val="8AAD6C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" name="object 9"/>
            <p:cNvSpPr/>
            <p:nvPr/>
          </p:nvSpPr>
          <p:spPr>
            <a:xfrm>
              <a:off x="6469380" y="3328415"/>
              <a:ext cx="1463040" cy="558165"/>
            </a:xfrm>
            <a:custGeom>
              <a:avLst/>
              <a:gdLst/>
              <a:ahLst/>
              <a:cxnLst/>
              <a:rect l="l" t="t" r="r" b="b"/>
              <a:pathLst>
                <a:path w="1463040" h="558164">
                  <a:moveTo>
                    <a:pt x="0" y="2285"/>
                  </a:moveTo>
                  <a:lnTo>
                    <a:pt x="0" y="1015"/>
                  </a:lnTo>
                  <a:lnTo>
                    <a:pt x="1016" y="0"/>
                  </a:lnTo>
                  <a:lnTo>
                    <a:pt x="2286" y="0"/>
                  </a:lnTo>
                  <a:lnTo>
                    <a:pt x="1460753" y="0"/>
                  </a:lnTo>
                  <a:lnTo>
                    <a:pt x="1462024" y="0"/>
                  </a:lnTo>
                  <a:lnTo>
                    <a:pt x="1463040" y="1015"/>
                  </a:lnTo>
                  <a:lnTo>
                    <a:pt x="1463040" y="2285"/>
                  </a:lnTo>
                  <a:lnTo>
                    <a:pt x="1463040" y="555459"/>
                  </a:lnTo>
                  <a:lnTo>
                    <a:pt x="1463040" y="556742"/>
                  </a:lnTo>
                  <a:lnTo>
                    <a:pt x="1462024" y="557783"/>
                  </a:lnTo>
                  <a:lnTo>
                    <a:pt x="1460753" y="557783"/>
                  </a:lnTo>
                  <a:lnTo>
                    <a:pt x="2286" y="557783"/>
                  </a:lnTo>
                  <a:lnTo>
                    <a:pt x="1016" y="557783"/>
                  </a:lnTo>
                  <a:lnTo>
                    <a:pt x="0" y="556742"/>
                  </a:lnTo>
                  <a:lnTo>
                    <a:pt x="0" y="555459"/>
                  </a:lnTo>
                  <a:lnTo>
                    <a:pt x="0" y="2285"/>
                  </a:lnTo>
                  <a:close/>
                </a:path>
              </a:pathLst>
            </a:custGeom>
            <a:ln w="9144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" name="object 10"/>
            <p:cNvSpPr/>
            <p:nvPr/>
          </p:nvSpPr>
          <p:spPr>
            <a:xfrm>
              <a:off x="4681728" y="1865629"/>
              <a:ext cx="1468120" cy="557530"/>
            </a:xfrm>
            <a:custGeom>
              <a:avLst/>
              <a:gdLst/>
              <a:ahLst/>
              <a:cxnLst/>
              <a:rect l="l" t="t" r="r" b="b"/>
              <a:pathLst>
                <a:path w="1468120" h="557530">
                  <a:moveTo>
                    <a:pt x="1467612" y="1270"/>
                  </a:moveTo>
                  <a:lnTo>
                    <a:pt x="1467485" y="1270"/>
                  </a:lnTo>
                  <a:lnTo>
                    <a:pt x="1467485" y="0"/>
                  </a:lnTo>
                  <a:lnTo>
                    <a:pt x="127" y="0"/>
                  </a:lnTo>
                  <a:lnTo>
                    <a:pt x="127" y="1270"/>
                  </a:lnTo>
                  <a:lnTo>
                    <a:pt x="0" y="1270"/>
                  </a:lnTo>
                  <a:lnTo>
                    <a:pt x="0" y="2540"/>
                  </a:lnTo>
                  <a:lnTo>
                    <a:pt x="0" y="556260"/>
                  </a:lnTo>
                  <a:lnTo>
                    <a:pt x="381" y="556260"/>
                  </a:lnTo>
                  <a:lnTo>
                    <a:pt x="381" y="557530"/>
                  </a:lnTo>
                  <a:lnTo>
                    <a:pt x="1467231" y="557530"/>
                  </a:lnTo>
                  <a:lnTo>
                    <a:pt x="1467231" y="556260"/>
                  </a:lnTo>
                  <a:lnTo>
                    <a:pt x="1467612" y="556260"/>
                  </a:lnTo>
                  <a:lnTo>
                    <a:pt x="1467612" y="2540"/>
                  </a:lnTo>
                  <a:lnTo>
                    <a:pt x="1467612" y="1270"/>
                  </a:lnTo>
                  <a:close/>
                </a:path>
              </a:pathLst>
            </a:custGeom>
            <a:solidFill>
              <a:srgbClr val="8AAD6C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4681727" y="1865375"/>
              <a:ext cx="1468120" cy="558165"/>
            </a:xfrm>
            <a:custGeom>
              <a:avLst/>
              <a:gdLst/>
              <a:ahLst/>
              <a:cxnLst/>
              <a:rect l="l" t="t" r="r" b="b"/>
              <a:pathLst>
                <a:path w="1468120" h="558164">
                  <a:moveTo>
                    <a:pt x="0" y="2286"/>
                  </a:moveTo>
                  <a:lnTo>
                    <a:pt x="0" y="1015"/>
                  </a:lnTo>
                  <a:lnTo>
                    <a:pt x="1016" y="0"/>
                  </a:lnTo>
                  <a:lnTo>
                    <a:pt x="2286" y="0"/>
                  </a:lnTo>
                  <a:lnTo>
                    <a:pt x="1465326" y="0"/>
                  </a:lnTo>
                  <a:lnTo>
                    <a:pt x="1466596" y="0"/>
                  </a:lnTo>
                  <a:lnTo>
                    <a:pt x="1467612" y="1015"/>
                  </a:lnTo>
                  <a:lnTo>
                    <a:pt x="1467612" y="2286"/>
                  </a:lnTo>
                  <a:lnTo>
                    <a:pt x="1467612" y="555498"/>
                  </a:lnTo>
                  <a:lnTo>
                    <a:pt x="1467612" y="556768"/>
                  </a:lnTo>
                  <a:lnTo>
                    <a:pt x="1466596" y="557784"/>
                  </a:lnTo>
                  <a:lnTo>
                    <a:pt x="1465326" y="557784"/>
                  </a:lnTo>
                  <a:lnTo>
                    <a:pt x="2286" y="557784"/>
                  </a:lnTo>
                  <a:lnTo>
                    <a:pt x="1016" y="557784"/>
                  </a:lnTo>
                  <a:lnTo>
                    <a:pt x="0" y="556768"/>
                  </a:lnTo>
                  <a:lnTo>
                    <a:pt x="0" y="555498"/>
                  </a:lnTo>
                  <a:lnTo>
                    <a:pt x="0" y="2286"/>
                  </a:lnTo>
                  <a:close/>
                </a:path>
              </a:pathLst>
            </a:custGeom>
            <a:ln w="9144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" name="object 12"/>
            <p:cNvSpPr/>
            <p:nvPr/>
          </p:nvSpPr>
          <p:spPr>
            <a:xfrm>
              <a:off x="6780276" y="1865629"/>
              <a:ext cx="1468120" cy="557530"/>
            </a:xfrm>
            <a:custGeom>
              <a:avLst/>
              <a:gdLst/>
              <a:ahLst/>
              <a:cxnLst/>
              <a:rect l="l" t="t" r="r" b="b"/>
              <a:pathLst>
                <a:path w="1468120" h="557530">
                  <a:moveTo>
                    <a:pt x="1467612" y="1270"/>
                  </a:moveTo>
                  <a:lnTo>
                    <a:pt x="1467485" y="1270"/>
                  </a:lnTo>
                  <a:lnTo>
                    <a:pt x="1467485" y="0"/>
                  </a:lnTo>
                  <a:lnTo>
                    <a:pt x="127" y="0"/>
                  </a:lnTo>
                  <a:lnTo>
                    <a:pt x="127" y="1270"/>
                  </a:lnTo>
                  <a:lnTo>
                    <a:pt x="0" y="1270"/>
                  </a:lnTo>
                  <a:lnTo>
                    <a:pt x="0" y="2540"/>
                  </a:lnTo>
                  <a:lnTo>
                    <a:pt x="0" y="556260"/>
                  </a:lnTo>
                  <a:lnTo>
                    <a:pt x="381" y="556260"/>
                  </a:lnTo>
                  <a:lnTo>
                    <a:pt x="381" y="557530"/>
                  </a:lnTo>
                  <a:lnTo>
                    <a:pt x="1467231" y="557530"/>
                  </a:lnTo>
                  <a:lnTo>
                    <a:pt x="1467231" y="556260"/>
                  </a:lnTo>
                  <a:lnTo>
                    <a:pt x="1467612" y="556260"/>
                  </a:lnTo>
                  <a:lnTo>
                    <a:pt x="1467612" y="2540"/>
                  </a:lnTo>
                  <a:lnTo>
                    <a:pt x="1467612" y="1270"/>
                  </a:lnTo>
                  <a:close/>
                </a:path>
              </a:pathLst>
            </a:custGeom>
            <a:solidFill>
              <a:srgbClr val="8AAD6C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" name="object 13"/>
            <p:cNvSpPr/>
            <p:nvPr/>
          </p:nvSpPr>
          <p:spPr>
            <a:xfrm>
              <a:off x="6780275" y="1865375"/>
              <a:ext cx="1468120" cy="558165"/>
            </a:xfrm>
            <a:custGeom>
              <a:avLst/>
              <a:gdLst/>
              <a:ahLst/>
              <a:cxnLst/>
              <a:rect l="l" t="t" r="r" b="b"/>
              <a:pathLst>
                <a:path w="1468120" h="558164">
                  <a:moveTo>
                    <a:pt x="0" y="2286"/>
                  </a:moveTo>
                  <a:lnTo>
                    <a:pt x="0" y="1015"/>
                  </a:lnTo>
                  <a:lnTo>
                    <a:pt x="1016" y="0"/>
                  </a:lnTo>
                  <a:lnTo>
                    <a:pt x="2285" y="0"/>
                  </a:lnTo>
                  <a:lnTo>
                    <a:pt x="1465326" y="0"/>
                  </a:lnTo>
                  <a:lnTo>
                    <a:pt x="1466596" y="0"/>
                  </a:lnTo>
                  <a:lnTo>
                    <a:pt x="1467612" y="1015"/>
                  </a:lnTo>
                  <a:lnTo>
                    <a:pt x="1467612" y="2286"/>
                  </a:lnTo>
                  <a:lnTo>
                    <a:pt x="1467612" y="555498"/>
                  </a:lnTo>
                  <a:lnTo>
                    <a:pt x="1467612" y="556768"/>
                  </a:lnTo>
                  <a:lnTo>
                    <a:pt x="1466596" y="557784"/>
                  </a:lnTo>
                  <a:lnTo>
                    <a:pt x="1465326" y="557784"/>
                  </a:lnTo>
                  <a:lnTo>
                    <a:pt x="2285" y="557784"/>
                  </a:lnTo>
                  <a:lnTo>
                    <a:pt x="1016" y="557784"/>
                  </a:lnTo>
                  <a:lnTo>
                    <a:pt x="0" y="556768"/>
                  </a:lnTo>
                  <a:lnTo>
                    <a:pt x="0" y="555498"/>
                  </a:lnTo>
                  <a:lnTo>
                    <a:pt x="0" y="2286"/>
                  </a:lnTo>
                  <a:close/>
                </a:path>
              </a:pathLst>
            </a:custGeom>
            <a:ln w="9144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4" name="object 14"/>
            <p:cNvSpPr/>
            <p:nvPr/>
          </p:nvSpPr>
          <p:spPr>
            <a:xfrm>
              <a:off x="2894076" y="3328669"/>
              <a:ext cx="1468120" cy="557530"/>
            </a:xfrm>
            <a:custGeom>
              <a:avLst/>
              <a:gdLst/>
              <a:ahLst/>
              <a:cxnLst/>
              <a:rect l="l" t="t" r="r" b="b"/>
              <a:pathLst>
                <a:path w="1468120" h="557529">
                  <a:moveTo>
                    <a:pt x="1467612" y="1270"/>
                  </a:moveTo>
                  <a:lnTo>
                    <a:pt x="1467472" y="1270"/>
                  </a:lnTo>
                  <a:lnTo>
                    <a:pt x="1467472" y="0"/>
                  </a:lnTo>
                  <a:lnTo>
                    <a:pt x="127" y="0"/>
                  </a:lnTo>
                  <a:lnTo>
                    <a:pt x="127" y="1270"/>
                  </a:lnTo>
                  <a:lnTo>
                    <a:pt x="0" y="1270"/>
                  </a:lnTo>
                  <a:lnTo>
                    <a:pt x="0" y="2540"/>
                  </a:lnTo>
                  <a:lnTo>
                    <a:pt x="0" y="556260"/>
                  </a:lnTo>
                  <a:lnTo>
                    <a:pt x="393" y="556260"/>
                  </a:lnTo>
                  <a:lnTo>
                    <a:pt x="393" y="557530"/>
                  </a:lnTo>
                  <a:lnTo>
                    <a:pt x="1467205" y="557530"/>
                  </a:lnTo>
                  <a:lnTo>
                    <a:pt x="1467205" y="556260"/>
                  </a:lnTo>
                  <a:lnTo>
                    <a:pt x="1467612" y="556260"/>
                  </a:lnTo>
                  <a:lnTo>
                    <a:pt x="1467612" y="2540"/>
                  </a:lnTo>
                  <a:lnTo>
                    <a:pt x="1467612" y="1270"/>
                  </a:lnTo>
                  <a:close/>
                </a:path>
              </a:pathLst>
            </a:custGeom>
            <a:solidFill>
              <a:srgbClr val="8AAD6C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5" name="object 15"/>
            <p:cNvSpPr/>
            <p:nvPr/>
          </p:nvSpPr>
          <p:spPr>
            <a:xfrm>
              <a:off x="2894076" y="3328415"/>
              <a:ext cx="1468120" cy="558165"/>
            </a:xfrm>
            <a:custGeom>
              <a:avLst/>
              <a:gdLst/>
              <a:ahLst/>
              <a:cxnLst/>
              <a:rect l="l" t="t" r="r" b="b"/>
              <a:pathLst>
                <a:path w="1468120" h="558164">
                  <a:moveTo>
                    <a:pt x="0" y="2285"/>
                  </a:moveTo>
                  <a:lnTo>
                    <a:pt x="0" y="1015"/>
                  </a:lnTo>
                  <a:lnTo>
                    <a:pt x="1016" y="0"/>
                  </a:lnTo>
                  <a:lnTo>
                    <a:pt x="2286" y="0"/>
                  </a:lnTo>
                  <a:lnTo>
                    <a:pt x="1465326" y="0"/>
                  </a:lnTo>
                  <a:lnTo>
                    <a:pt x="1466596" y="0"/>
                  </a:lnTo>
                  <a:lnTo>
                    <a:pt x="1467612" y="1015"/>
                  </a:lnTo>
                  <a:lnTo>
                    <a:pt x="1467612" y="2285"/>
                  </a:lnTo>
                  <a:lnTo>
                    <a:pt x="1467612" y="555459"/>
                  </a:lnTo>
                  <a:lnTo>
                    <a:pt x="1467612" y="556742"/>
                  </a:lnTo>
                  <a:lnTo>
                    <a:pt x="1466596" y="557783"/>
                  </a:lnTo>
                  <a:lnTo>
                    <a:pt x="1465326" y="557783"/>
                  </a:lnTo>
                  <a:lnTo>
                    <a:pt x="2286" y="557783"/>
                  </a:lnTo>
                  <a:lnTo>
                    <a:pt x="1016" y="557783"/>
                  </a:lnTo>
                  <a:lnTo>
                    <a:pt x="0" y="556742"/>
                  </a:lnTo>
                  <a:lnTo>
                    <a:pt x="0" y="555459"/>
                  </a:lnTo>
                  <a:lnTo>
                    <a:pt x="0" y="2285"/>
                  </a:lnTo>
                  <a:close/>
                </a:path>
              </a:pathLst>
            </a:custGeom>
            <a:ln w="9144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6" name="object 16"/>
            <p:cNvSpPr/>
            <p:nvPr/>
          </p:nvSpPr>
          <p:spPr>
            <a:xfrm>
              <a:off x="3630168" y="1290700"/>
              <a:ext cx="3781425" cy="2037714"/>
            </a:xfrm>
            <a:custGeom>
              <a:avLst/>
              <a:gdLst/>
              <a:ahLst/>
              <a:cxnLst/>
              <a:rect l="l" t="t" r="r" b="b"/>
              <a:pathLst>
                <a:path w="3781425" h="2037714">
                  <a:moveTo>
                    <a:pt x="3570732" y="2037715"/>
                  </a:moveTo>
                  <a:lnTo>
                    <a:pt x="3538410" y="1994281"/>
                  </a:lnTo>
                  <a:lnTo>
                    <a:pt x="3479165" y="1914652"/>
                  </a:lnTo>
                  <a:lnTo>
                    <a:pt x="3454489" y="1963597"/>
                  </a:lnTo>
                  <a:lnTo>
                    <a:pt x="1793875" y="1124839"/>
                  </a:lnTo>
                  <a:lnTo>
                    <a:pt x="1787652" y="1137031"/>
                  </a:lnTo>
                  <a:lnTo>
                    <a:pt x="1781429" y="1124839"/>
                  </a:lnTo>
                  <a:lnTo>
                    <a:pt x="116306" y="1963712"/>
                  </a:lnTo>
                  <a:lnTo>
                    <a:pt x="91694" y="1914779"/>
                  </a:lnTo>
                  <a:lnTo>
                    <a:pt x="0" y="2037715"/>
                  </a:lnTo>
                  <a:lnTo>
                    <a:pt x="153289" y="2037207"/>
                  </a:lnTo>
                  <a:lnTo>
                    <a:pt x="131749" y="1994408"/>
                  </a:lnTo>
                  <a:lnTo>
                    <a:pt x="128651" y="1988261"/>
                  </a:lnTo>
                  <a:lnTo>
                    <a:pt x="1773936" y="1159281"/>
                  </a:lnTo>
                  <a:lnTo>
                    <a:pt x="1773936" y="1900555"/>
                  </a:lnTo>
                  <a:lnTo>
                    <a:pt x="1719072" y="1900555"/>
                  </a:lnTo>
                  <a:lnTo>
                    <a:pt x="1787652" y="2037715"/>
                  </a:lnTo>
                  <a:lnTo>
                    <a:pt x="1849374" y="1914271"/>
                  </a:lnTo>
                  <a:lnTo>
                    <a:pt x="1856232" y="1900555"/>
                  </a:lnTo>
                  <a:lnTo>
                    <a:pt x="1801368" y="1900555"/>
                  </a:lnTo>
                  <a:lnTo>
                    <a:pt x="1801368" y="1159306"/>
                  </a:lnTo>
                  <a:lnTo>
                    <a:pt x="3442131" y="1988096"/>
                  </a:lnTo>
                  <a:lnTo>
                    <a:pt x="3417443" y="2037080"/>
                  </a:lnTo>
                  <a:lnTo>
                    <a:pt x="3570732" y="2037715"/>
                  </a:lnTo>
                  <a:close/>
                </a:path>
                <a:path w="3781425" h="2037714">
                  <a:moveTo>
                    <a:pt x="3781044" y="574675"/>
                  </a:moveTo>
                  <a:lnTo>
                    <a:pt x="3749052" y="532892"/>
                  </a:lnTo>
                  <a:lnTo>
                    <a:pt x="3687826" y="452882"/>
                  </a:lnTo>
                  <a:lnTo>
                    <a:pt x="3663785" y="502234"/>
                  </a:lnTo>
                  <a:lnTo>
                    <a:pt x="2634869" y="0"/>
                  </a:lnTo>
                  <a:lnTo>
                    <a:pt x="2628900" y="12319"/>
                  </a:lnTo>
                  <a:lnTo>
                    <a:pt x="2621280" y="889"/>
                  </a:lnTo>
                  <a:lnTo>
                    <a:pt x="1894052" y="487045"/>
                  </a:lnTo>
                  <a:lnTo>
                    <a:pt x="1863598" y="441452"/>
                  </a:lnTo>
                  <a:lnTo>
                    <a:pt x="1787652" y="574675"/>
                  </a:lnTo>
                  <a:lnTo>
                    <a:pt x="1939798" y="555498"/>
                  </a:lnTo>
                  <a:lnTo>
                    <a:pt x="1914423" y="517525"/>
                  </a:lnTo>
                  <a:lnTo>
                    <a:pt x="1909318" y="509892"/>
                  </a:lnTo>
                  <a:lnTo>
                    <a:pt x="2630005" y="28105"/>
                  </a:lnTo>
                  <a:lnTo>
                    <a:pt x="3651770" y="526897"/>
                  </a:lnTo>
                  <a:lnTo>
                    <a:pt x="3627755" y="576199"/>
                  </a:lnTo>
                  <a:lnTo>
                    <a:pt x="3781044" y="574675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7" name="object 17"/>
            <p:cNvSpPr/>
            <p:nvPr/>
          </p:nvSpPr>
          <p:spPr>
            <a:xfrm>
              <a:off x="6048755" y="854963"/>
              <a:ext cx="406400" cy="360680"/>
            </a:xfrm>
            <a:custGeom>
              <a:avLst/>
              <a:gdLst/>
              <a:ahLst/>
              <a:cxnLst/>
              <a:rect l="l" t="t" r="r" b="b"/>
              <a:pathLst>
                <a:path w="406400" h="360680">
                  <a:moveTo>
                    <a:pt x="403987" y="0"/>
                  </a:moveTo>
                  <a:lnTo>
                    <a:pt x="311658" y="0"/>
                  </a:lnTo>
                  <a:lnTo>
                    <a:pt x="308737" y="3683"/>
                  </a:lnTo>
                  <a:lnTo>
                    <a:pt x="308737" y="42163"/>
                  </a:lnTo>
                  <a:lnTo>
                    <a:pt x="291973" y="42163"/>
                  </a:lnTo>
                  <a:lnTo>
                    <a:pt x="289560" y="46355"/>
                  </a:lnTo>
                  <a:lnTo>
                    <a:pt x="289560" y="85471"/>
                  </a:lnTo>
                  <a:lnTo>
                    <a:pt x="271780" y="85471"/>
                  </a:lnTo>
                  <a:lnTo>
                    <a:pt x="269240" y="89662"/>
                  </a:lnTo>
                  <a:lnTo>
                    <a:pt x="269240" y="147065"/>
                  </a:lnTo>
                  <a:lnTo>
                    <a:pt x="252476" y="147065"/>
                  </a:lnTo>
                  <a:lnTo>
                    <a:pt x="249555" y="149733"/>
                  </a:lnTo>
                  <a:lnTo>
                    <a:pt x="249555" y="189864"/>
                  </a:lnTo>
                  <a:lnTo>
                    <a:pt x="233299" y="189864"/>
                  </a:lnTo>
                  <a:lnTo>
                    <a:pt x="229870" y="193039"/>
                  </a:lnTo>
                  <a:lnTo>
                    <a:pt x="229870" y="253111"/>
                  </a:lnTo>
                  <a:lnTo>
                    <a:pt x="213614" y="253111"/>
                  </a:lnTo>
                  <a:lnTo>
                    <a:pt x="210566" y="255777"/>
                  </a:lnTo>
                  <a:lnTo>
                    <a:pt x="210566" y="293115"/>
                  </a:lnTo>
                  <a:lnTo>
                    <a:pt x="196850" y="293115"/>
                  </a:lnTo>
                  <a:lnTo>
                    <a:pt x="196850" y="255777"/>
                  </a:lnTo>
                  <a:lnTo>
                    <a:pt x="193294" y="253111"/>
                  </a:lnTo>
                  <a:lnTo>
                    <a:pt x="176530" y="253111"/>
                  </a:lnTo>
                  <a:lnTo>
                    <a:pt x="176530" y="213487"/>
                  </a:lnTo>
                  <a:lnTo>
                    <a:pt x="173609" y="210947"/>
                  </a:lnTo>
                  <a:lnTo>
                    <a:pt x="157353" y="210947"/>
                  </a:lnTo>
                  <a:lnTo>
                    <a:pt x="157353" y="170814"/>
                  </a:lnTo>
                  <a:lnTo>
                    <a:pt x="153924" y="167639"/>
                  </a:lnTo>
                  <a:lnTo>
                    <a:pt x="137160" y="167639"/>
                  </a:lnTo>
                  <a:lnTo>
                    <a:pt x="137160" y="127635"/>
                  </a:lnTo>
                  <a:lnTo>
                    <a:pt x="134620" y="124968"/>
                  </a:lnTo>
                  <a:lnTo>
                    <a:pt x="117856" y="124968"/>
                  </a:lnTo>
                  <a:lnTo>
                    <a:pt x="117856" y="89662"/>
                  </a:lnTo>
                  <a:lnTo>
                    <a:pt x="115443" y="85471"/>
                  </a:lnTo>
                  <a:lnTo>
                    <a:pt x="97663" y="85471"/>
                  </a:lnTo>
                  <a:lnTo>
                    <a:pt x="97663" y="46355"/>
                  </a:lnTo>
                  <a:lnTo>
                    <a:pt x="94742" y="42163"/>
                  </a:lnTo>
                  <a:lnTo>
                    <a:pt x="78359" y="42163"/>
                  </a:lnTo>
                  <a:lnTo>
                    <a:pt x="78359" y="3683"/>
                  </a:lnTo>
                  <a:lnTo>
                    <a:pt x="75946" y="0"/>
                  </a:lnTo>
                  <a:lnTo>
                    <a:pt x="2413" y="0"/>
                  </a:lnTo>
                  <a:lnTo>
                    <a:pt x="0" y="3683"/>
                  </a:lnTo>
                  <a:lnTo>
                    <a:pt x="0" y="21589"/>
                  </a:lnTo>
                  <a:lnTo>
                    <a:pt x="2413" y="24257"/>
                  </a:lnTo>
                  <a:lnTo>
                    <a:pt x="38989" y="24257"/>
                  </a:lnTo>
                  <a:lnTo>
                    <a:pt x="38989" y="336423"/>
                  </a:lnTo>
                  <a:lnTo>
                    <a:pt x="2413" y="336423"/>
                  </a:lnTo>
                  <a:lnTo>
                    <a:pt x="0" y="340106"/>
                  </a:lnTo>
                  <a:lnTo>
                    <a:pt x="0" y="358013"/>
                  </a:lnTo>
                  <a:lnTo>
                    <a:pt x="2413" y="360680"/>
                  </a:lnTo>
                  <a:lnTo>
                    <a:pt x="94742" y="360680"/>
                  </a:lnTo>
                  <a:lnTo>
                    <a:pt x="97663" y="358013"/>
                  </a:lnTo>
                  <a:lnTo>
                    <a:pt x="97663" y="340106"/>
                  </a:lnTo>
                  <a:lnTo>
                    <a:pt x="94742" y="336423"/>
                  </a:lnTo>
                  <a:lnTo>
                    <a:pt x="58674" y="336423"/>
                  </a:lnTo>
                  <a:lnTo>
                    <a:pt x="58674" y="89662"/>
                  </a:lnTo>
                  <a:lnTo>
                    <a:pt x="75946" y="89662"/>
                  </a:lnTo>
                  <a:lnTo>
                    <a:pt x="75946" y="124968"/>
                  </a:lnTo>
                  <a:lnTo>
                    <a:pt x="78359" y="127635"/>
                  </a:lnTo>
                  <a:lnTo>
                    <a:pt x="94742" y="127635"/>
                  </a:lnTo>
                  <a:lnTo>
                    <a:pt x="94742" y="167639"/>
                  </a:lnTo>
                  <a:lnTo>
                    <a:pt x="97663" y="170814"/>
                  </a:lnTo>
                  <a:lnTo>
                    <a:pt x="115443" y="170814"/>
                  </a:lnTo>
                  <a:lnTo>
                    <a:pt x="115443" y="210947"/>
                  </a:lnTo>
                  <a:lnTo>
                    <a:pt x="117856" y="213487"/>
                  </a:lnTo>
                  <a:lnTo>
                    <a:pt x="134620" y="213487"/>
                  </a:lnTo>
                  <a:lnTo>
                    <a:pt x="134620" y="253111"/>
                  </a:lnTo>
                  <a:lnTo>
                    <a:pt x="137160" y="255777"/>
                  </a:lnTo>
                  <a:lnTo>
                    <a:pt x="153924" y="255777"/>
                  </a:lnTo>
                  <a:lnTo>
                    <a:pt x="153924" y="293115"/>
                  </a:lnTo>
                  <a:lnTo>
                    <a:pt x="157353" y="297434"/>
                  </a:lnTo>
                  <a:lnTo>
                    <a:pt x="173609" y="297434"/>
                  </a:lnTo>
                  <a:lnTo>
                    <a:pt x="173609" y="336423"/>
                  </a:lnTo>
                  <a:lnTo>
                    <a:pt x="176530" y="340106"/>
                  </a:lnTo>
                  <a:lnTo>
                    <a:pt x="193294" y="340106"/>
                  </a:lnTo>
                  <a:lnTo>
                    <a:pt x="193294" y="358013"/>
                  </a:lnTo>
                  <a:lnTo>
                    <a:pt x="196850" y="360680"/>
                  </a:lnTo>
                  <a:lnTo>
                    <a:pt x="210566" y="360680"/>
                  </a:lnTo>
                  <a:lnTo>
                    <a:pt x="213614" y="358013"/>
                  </a:lnTo>
                  <a:lnTo>
                    <a:pt x="213614" y="297434"/>
                  </a:lnTo>
                  <a:lnTo>
                    <a:pt x="229870" y="297434"/>
                  </a:lnTo>
                  <a:lnTo>
                    <a:pt x="233299" y="293115"/>
                  </a:lnTo>
                  <a:lnTo>
                    <a:pt x="233299" y="255777"/>
                  </a:lnTo>
                  <a:lnTo>
                    <a:pt x="249555" y="255777"/>
                  </a:lnTo>
                  <a:lnTo>
                    <a:pt x="252476" y="253111"/>
                  </a:lnTo>
                  <a:lnTo>
                    <a:pt x="252476" y="193039"/>
                  </a:lnTo>
                  <a:lnTo>
                    <a:pt x="269240" y="193039"/>
                  </a:lnTo>
                  <a:lnTo>
                    <a:pt x="271780" y="189864"/>
                  </a:lnTo>
                  <a:lnTo>
                    <a:pt x="271780" y="149733"/>
                  </a:lnTo>
                  <a:lnTo>
                    <a:pt x="289560" y="149733"/>
                  </a:lnTo>
                  <a:lnTo>
                    <a:pt x="291973" y="147065"/>
                  </a:lnTo>
                  <a:lnTo>
                    <a:pt x="291973" y="89662"/>
                  </a:lnTo>
                  <a:lnTo>
                    <a:pt x="308737" y="89662"/>
                  </a:lnTo>
                  <a:lnTo>
                    <a:pt x="311658" y="85471"/>
                  </a:lnTo>
                  <a:lnTo>
                    <a:pt x="311658" y="46355"/>
                  </a:lnTo>
                  <a:lnTo>
                    <a:pt x="327533" y="46355"/>
                  </a:lnTo>
                  <a:lnTo>
                    <a:pt x="327533" y="336423"/>
                  </a:lnTo>
                  <a:lnTo>
                    <a:pt x="291973" y="336423"/>
                  </a:lnTo>
                  <a:lnTo>
                    <a:pt x="289560" y="340106"/>
                  </a:lnTo>
                  <a:lnTo>
                    <a:pt x="289560" y="358013"/>
                  </a:lnTo>
                  <a:lnTo>
                    <a:pt x="291973" y="360680"/>
                  </a:lnTo>
                  <a:lnTo>
                    <a:pt x="403987" y="360680"/>
                  </a:lnTo>
                  <a:lnTo>
                    <a:pt x="406400" y="358013"/>
                  </a:lnTo>
                  <a:lnTo>
                    <a:pt x="406400" y="340106"/>
                  </a:lnTo>
                  <a:lnTo>
                    <a:pt x="403987" y="336423"/>
                  </a:lnTo>
                  <a:lnTo>
                    <a:pt x="367411" y="336423"/>
                  </a:lnTo>
                  <a:lnTo>
                    <a:pt x="367411" y="24257"/>
                  </a:lnTo>
                  <a:lnTo>
                    <a:pt x="403987" y="24257"/>
                  </a:lnTo>
                  <a:lnTo>
                    <a:pt x="406400" y="21589"/>
                  </a:lnTo>
                  <a:lnTo>
                    <a:pt x="406400" y="3683"/>
                  </a:lnTo>
                  <a:lnTo>
                    <a:pt x="403987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8" name="object 18"/>
            <p:cNvSpPr/>
            <p:nvPr/>
          </p:nvSpPr>
          <p:spPr>
            <a:xfrm>
              <a:off x="6048755" y="854963"/>
              <a:ext cx="406400" cy="360680"/>
            </a:xfrm>
            <a:custGeom>
              <a:avLst/>
              <a:gdLst/>
              <a:ahLst/>
              <a:cxnLst/>
              <a:rect l="l" t="t" r="r" b="b"/>
              <a:pathLst>
                <a:path w="406400" h="360680">
                  <a:moveTo>
                    <a:pt x="2413" y="0"/>
                  </a:moveTo>
                  <a:lnTo>
                    <a:pt x="75946" y="0"/>
                  </a:lnTo>
                  <a:lnTo>
                    <a:pt x="78359" y="3683"/>
                  </a:lnTo>
                  <a:lnTo>
                    <a:pt x="78359" y="42163"/>
                  </a:lnTo>
                  <a:lnTo>
                    <a:pt x="94742" y="42163"/>
                  </a:lnTo>
                  <a:lnTo>
                    <a:pt x="97663" y="46355"/>
                  </a:lnTo>
                  <a:lnTo>
                    <a:pt x="97663" y="85471"/>
                  </a:lnTo>
                  <a:lnTo>
                    <a:pt x="115443" y="85471"/>
                  </a:lnTo>
                  <a:lnTo>
                    <a:pt x="117856" y="89662"/>
                  </a:lnTo>
                  <a:lnTo>
                    <a:pt x="117856" y="124968"/>
                  </a:lnTo>
                  <a:lnTo>
                    <a:pt x="134620" y="124968"/>
                  </a:lnTo>
                  <a:lnTo>
                    <a:pt x="137160" y="127635"/>
                  </a:lnTo>
                  <a:lnTo>
                    <a:pt x="137160" y="167639"/>
                  </a:lnTo>
                  <a:lnTo>
                    <a:pt x="153924" y="167639"/>
                  </a:lnTo>
                  <a:lnTo>
                    <a:pt x="157353" y="170814"/>
                  </a:lnTo>
                  <a:lnTo>
                    <a:pt x="157353" y="210947"/>
                  </a:lnTo>
                  <a:lnTo>
                    <a:pt x="173609" y="210947"/>
                  </a:lnTo>
                  <a:lnTo>
                    <a:pt x="176530" y="213487"/>
                  </a:lnTo>
                  <a:lnTo>
                    <a:pt x="176530" y="253111"/>
                  </a:lnTo>
                  <a:lnTo>
                    <a:pt x="193294" y="253111"/>
                  </a:lnTo>
                  <a:lnTo>
                    <a:pt x="196850" y="255777"/>
                  </a:lnTo>
                  <a:lnTo>
                    <a:pt x="196850" y="293115"/>
                  </a:lnTo>
                  <a:lnTo>
                    <a:pt x="210566" y="293115"/>
                  </a:lnTo>
                  <a:lnTo>
                    <a:pt x="210566" y="255777"/>
                  </a:lnTo>
                  <a:lnTo>
                    <a:pt x="213614" y="253111"/>
                  </a:lnTo>
                  <a:lnTo>
                    <a:pt x="229870" y="253111"/>
                  </a:lnTo>
                  <a:lnTo>
                    <a:pt x="229870" y="193039"/>
                  </a:lnTo>
                  <a:lnTo>
                    <a:pt x="233299" y="189864"/>
                  </a:lnTo>
                  <a:lnTo>
                    <a:pt x="249555" y="189864"/>
                  </a:lnTo>
                  <a:lnTo>
                    <a:pt x="249555" y="149733"/>
                  </a:lnTo>
                  <a:lnTo>
                    <a:pt x="252476" y="147065"/>
                  </a:lnTo>
                  <a:lnTo>
                    <a:pt x="269240" y="147065"/>
                  </a:lnTo>
                  <a:lnTo>
                    <a:pt x="269240" y="89662"/>
                  </a:lnTo>
                  <a:lnTo>
                    <a:pt x="271780" y="85471"/>
                  </a:lnTo>
                  <a:lnTo>
                    <a:pt x="289560" y="85471"/>
                  </a:lnTo>
                  <a:lnTo>
                    <a:pt x="289560" y="46355"/>
                  </a:lnTo>
                  <a:lnTo>
                    <a:pt x="291973" y="42163"/>
                  </a:lnTo>
                  <a:lnTo>
                    <a:pt x="308737" y="42163"/>
                  </a:lnTo>
                  <a:lnTo>
                    <a:pt x="308737" y="3683"/>
                  </a:lnTo>
                  <a:lnTo>
                    <a:pt x="311658" y="0"/>
                  </a:lnTo>
                  <a:lnTo>
                    <a:pt x="403987" y="0"/>
                  </a:lnTo>
                  <a:lnTo>
                    <a:pt x="406400" y="3683"/>
                  </a:lnTo>
                  <a:lnTo>
                    <a:pt x="406400" y="21589"/>
                  </a:lnTo>
                  <a:lnTo>
                    <a:pt x="403987" y="24257"/>
                  </a:lnTo>
                  <a:lnTo>
                    <a:pt x="367411" y="24257"/>
                  </a:lnTo>
                  <a:lnTo>
                    <a:pt x="367411" y="336423"/>
                  </a:lnTo>
                  <a:lnTo>
                    <a:pt x="403987" y="336423"/>
                  </a:lnTo>
                  <a:lnTo>
                    <a:pt x="406400" y="340106"/>
                  </a:lnTo>
                  <a:lnTo>
                    <a:pt x="406400" y="358013"/>
                  </a:lnTo>
                  <a:lnTo>
                    <a:pt x="403987" y="360680"/>
                  </a:lnTo>
                  <a:lnTo>
                    <a:pt x="291973" y="360680"/>
                  </a:lnTo>
                  <a:lnTo>
                    <a:pt x="289560" y="358013"/>
                  </a:lnTo>
                  <a:lnTo>
                    <a:pt x="289560" y="340106"/>
                  </a:lnTo>
                  <a:lnTo>
                    <a:pt x="291973" y="336423"/>
                  </a:lnTo>
                  <a:lnTo>
                    <a:pt x="327533" y="336423"/>
                  </a:lnTo>
                  <a:lnTo>
                    <a:pt x="327533" y="46355"/>
                  </a:lnTo>
                  <a:lnTo>
                    <a:pt x="311658" y="46355"/>
                  </a:lnTo>
                  <a:lnTo>
                    <a:pt x="311658" y="85471"/>
                  </a:lnTo>
                  <a:lnTo>
                    <a:pt x="308737" y="89662"/>
                  </a:lnTo>
                  <a:lnTo>
                    <a:pt x="291973" y="89662"/>
                  </a:lnTo>
                  <a:lnTo>
                    <a:pt x="291973" y="147065"/>
                  </a:lnTo>
                  <a:lnTo>
                    <a:pt x="289560" y="149733"/>
                  </a:lnTo>
                  <a:lnTo>
                    <a:pt x="271780" y="149733"/>
                  </a:lnTo>
                  <a:lnTo>
                    <a:pt x="271780" y="189864"/>
                  </a:lnTo>
                  <a:lnTo>
                    <a:pt x="269240" y="193039"/>
                  </a:lnTo>
                  <a:lnTo>
                    <a:pt x="252476" y="193039"/>
                  </a:lnTo>
                  <a:lnTo>
                    <a:pt x="252476" y="253111"/>
                  </a:lnTo>
                  <a:lnTo>
                    <a:pt x="249555" y="255777"/>
                  </a:lnTo>
                  <a:lnTo>
                    <a:pt x="233299" y="255777"/>
                  </a:lnTo>
                  <a:lnTo>
                    <a:pt x="233299" y="293115"/>
                  </a:lnTo>
                  <a:lnTo>
                    <a:pt x="229870" y="297434"/>
                  </a:lnTo>
                  <a:lnTo>
                    <a:pt x="213614" y="297434"/>
                  </a:lnTo>
                  <a:lnTo>
                    <a:pt x="213614" y="358013"/>
                  </a:lnTo>
                  <a:lnTo>
                    <a:pt x="210566" y="360680"/>
                  </a:lnTo>
                  <a:lnTo>
                    <a:pt x="196850" y="360680"/>
                  </a:lnTo>
                  <a:lnTo>
                    <a:pt x="193294" y="358013"/>
                  </a:lnTo>
                  <a:lnTo>
                    <a:pt x="193294" y="340106"/>
                  </a:lnTo>
                  <a:lnTo>
                    <a:pt x="176530" y="340106"/>
                  </a:lnTo>
                  <a:lnTo>
                    <a:pt x="173609" y="336423"/>
                  </a:lnTo>
                  <a:lnTo>
                    <a:pt x="173609" y="297434"/>
                  </a:lnTo>
                  <a:lnTo>
                    <a:pt x="157353" y="297434"/>
                  </a:lnTo>
                  <a:lnTo>
                    <a:pt x="153924" y="293115"/>
                  </a:lnTo>
                  <a:lnTo>
                    <a:pt x="153924" y="255777"/>
                  </a:lnTo>
                  <a:lnTo>
                    <a:pt x="137160" y="255777"/>
                  </a:lnTo>
                  <a:lnTo>
                    <a:pt x="134620" y="253111"/>
                  </a:lnTo>
                  <a:lnTo>
                    <a:pt x="134620" y="213487"/>
                  </a:lnTo>
                  <a:lnTo>
                    <a:pt x="117856" y="213487"/>
                  </a:lnTo>
                  <a:lnTo>
                    <a:pt x="115443" y="210947"/>
                  </a:lnTo>
                  <a:lnTo>
                    <a:pt x="115443" y="170814"/>
                  </a:lnTo>
                  <a:lnTo>
                    <a:pt x="97663" y="170814"/>
                  </a:lnTo>
                  <a:lnTo>
                    <a:pt x="94742" y="167639"/>
                  </a:lnTo>
                  <a:lnTo>
                    <a:pt x="94742" y="127635"/>
                  </a:lnTo>
                  <a:lnTo>
                    <a:pt x="78359" y="127635"/>
                  </a:lnTo>
                  <a:lnTo>
                    <a:pt x="75946" y="124968"/>
                  </a:lnTo>
                  <a:lnTo>
                    <a:pt x="75946" y="89662"/>
                  </a:lnTo>
                  <a:lnTo>
                    <a:pt x="58674" y="89662"/>
                  </a:lnTo>
                  <a:lnTo>
                    <a:pt x="58674" y="336423"/>
                  </a:lnTo>
                  <a:lnTo>
                    <a:pt x="94742" y="336423"/>
                  </a:lnTo>
                  <a:lnTo>
                    <a:pt x="97663" y="340106"/>
                  </a:lnTo>
                  <a:lnTo>
                    <a:pt x="97663" y="358013"/>
                  </a:lnTo>
                  <a:lnTo>
                    <a:pt x="94742" y="360680"/>
                  </a:lnTo>
                  <a:lnTo>
                    <a:pt x="2413" y="360680"/>
                  </a:lnTo>
                  <a:lnTo>
                    <a:pt x="0" y="358013"/>
                  </a:lnTo>
                  <a:lnTo>
                    <a:pt x="0" y="340106"/>
                  </a:lnTo>
                  <a:lnTo>
                    <a:pt x="2413" y="336423"/>
                  </a:lnTo>
                  <a:lnTo>
                    <a:pt x="38989" y="336423"/>
                  </a:lnTo>
                  <a:lnTo>
                    <a:pt x="38989" y="24257"/>
                  </a:lnTo>
                  <a:lnTo>
                    <a:pt x="2413" y="24257"/>
                  </a:lnTo>
                  <a:lnTo>
                    <a:pt x="0" y="21589"/>
                  </a:lnTo>
                  <a:lnTo>
                    <a:pt x="0" y="3683"/>
                  </a:lnTo>
                  <a:lnTo>
                    <a:pt x="2413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9" name="object 19"/>
            <p:cNvSpPr/>
            <p:nvPr/>
          </p:nvSpPr>
          <p:spPr>
            <a:xfrm>
              <a:off x="6501383" y="854963"/>
              <a:ext cx="154940" cy="360680"/>
            </a:xfrm>
            <a:custGeom>
              <a:avLst/>
              <a:gdLst/>
              <a:ahLst/>
              <a:cxnLst/>
              <a:rect l="l" t="t" r="r" b="b"/>
              <a:pathLst>
                <a:path w="154940" h="360680">
                  <a:moveTo>
                    <a:pt x="94614" y="0"/>
                  </a:moveTo>
                  <a:lnTo>
                    <a:pt x="77723" y="0"/>
                  </a:lnTo>
                  <a:lnTo>
                    <a:pt x="75311" y="3683"/>
                  </a:lnTo>
                  <a:lnTo>
                    <a:pt x="75311" y="21589"/>
                  </a:lnTo>
                  <a:lnTo>
                    <a:pt x="58927" y="21589"/>
                  </a:lnTo>
                  <a:lnTo>
                    <a:pt x="55880" y="24257"/>
                  </a:lnTo>
                  <a:lnTo>
                    <a:pt x="55880" y="42163"/>
                  </a:lnTo>
                  <a:lnTo>
                    <a:pt x="22733" y="42163"/>
                  </a:lnTo>
                  <a:lnTo>
                    <a:pt x="19812" y="46355"/>
                  </a:lnTo>
                  <a:lnTo>
                    <a:pt x="19812" y="64388"/>
                  </a:lnTo>
                  <a:lnTo>
                    <a:pt x="22733" y="67437"/>
                  </a:lnTo>
                  <a:lnTo>
                    <a:pt x="55880" y="67437"/>
                  </a:lnTo>
                  <a:lnTo>
                    <a:pt x="55880" y="336423"/>
                  </a:lnTo>
                  <a:lnTo>
                    <a:pt x="3429" y="336423"/>
                  </a:lnTo>
                  <a:lnTo>
                    <a:pt x="0" y="340106"/>
                  </a:lnTo>
                  <a:lnTo>
                    <a:pt x="0" y="358013"/>
                  </a:lnTo>
                  <a:lnTo>
                    <a:pt x="3429" y="360680"/>
                  </a:lnTo>
                  <a:lnTo>
                    <a:pt x="152018" y="360680"/>
                  </a:lnTo>
                  <a:lnTo>
                    <a:pt x="154939" y="358013"/>
                  </a:lnTo>
                  <a:lnTo>
                    <a:pt x="154939" y="340106"/>
                  </a:lnTo>
                  <a:lnTo>
                    <a:pt x="152018" y="336423"/>
                  </a:lnTo>
                  <a:lnTo>
                    <a:pt x="97027" y="336423"/>
                  </a:lnTo>
                  <a:lnTo>
                    <a:pt x="97027" y="3683"/>
                  </a:lnTo>
                  <a:lnTo>
                    <a:pt x="9461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0" name="object 20"/>
            <p:cNvSpPr/>
            <p:nvPr/>
          </p:nvSpPr>
          <p:spPr>
            <a:xfrm>
              <a:off x="6501383" y="854963"/>
              <a:ext cx="154940" cy="360680"/>
            </a:xfrm>
            <a:custGeom>
              <a:avLst/>
              <a:gdLst/>
              <a:ahLst/>
              <a:cxnLst/>
              <a:rect l="l" t="t" r="r" b="b"/>
              <a:pathLst>
                <a:path w="154940" h="360680">
                  <a:moveTo>
                    <a:pt x="77723" y="0"/>
                  </a:moveTo>
                  <a:lnTo>
                    <a:pt x="94614" y="0"/>
                  </a:lnTo>
                  <a:lnTo>
                    <a:pt x="97027" y="3683"/>
                  </a:lnTo>
                  <a:lnTo>
                    <a:pt x="97027" y="336423"/>
                  </a:lnTo>
                  <a:lnTo>
                    <a:pt x="152018" y="336423"/>
                  </a:lnTo>
                  <a:lnTo>
                    <a:pt x="154939" y="340106"/>
                  </a:lnTo>
                  <a:lnTo>
                    <a:pt x="154939" y="358013"/>
                  </a:lnTo>
                  <a:lnTo>
                    <a:pt x="152018" y="360680"/>
                  </a:lnTo>
                  <a:lnTo>
                    <a:pt x="3429" y="360680"/>
                  </a:lnTo>
                  <a:lnTo>
                    <a:pt x="0" y="358013"/>
                  </a:lnTo>
                  <a:lnTo>
                    <a:pt x="0" y="340106"/>
                  </a:lnTo>
                  <a:lnTo>
                    <a:pt x="3429" y="336423"/>
                  </a:lnTo>
                  <a:lnTo>
                    <a:pt x="55880" y="336423"/>
                  </a:lnTo>
                  <a:lnTo>
                    <a:pt x="55880" y="67437"/>
                  </a:lnTo>
                  <a:lnTo>
                    <a:pt x="22733" y="67437"/>
                  </a:lnTo>
                  <a:lnTo>
                    <a:pt x="19812" y="64388"/>
                  </a:lnTo>
                  <a:lnTo>
                    <a:pt x="19812" y="46355"/>
                  </a:lnTo>
                  <a:lnTo>
                    <a:pt x="22733" y="42163"/>
                  </a:lnTo>
                  <a:lnTo>
                    <a:pt x="55880" y="42163"/>
                  </a:lnTo>
                  <a:lnTo>
                    <a:pt x="55880" y="24257"/>
                  </a:lnTo>
                  <a:lnTo>
                    <a:pt x="58927" y="21589"/>
                  </a:lnTo>
                  <a:lnTo>
                    <a:pt x="75311" y="21589"/>
                  </a:lnTo>
                  <a:lnTo>
                    <a:pt x="75311" y="3683"/>
                  </a:lnTo>
                  <a:lnTo>
                    <a:pt x="77723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1" name="object 21"/>
            <p:cNvSpPr/>
            <p:nvPr/>
          </p:nvSpPr>
          <p:spPr>
            <a:xfrm>
              <a:off x="5102352" y="1952244"/>
              <a:ext cx="393065" cy="360680"/>
            </a:xfrm>
            <a:custGeom>
              <a:avLst/>
              <a:gdLst/>
              <a:ahLst/>
              <a:cxnLst/>
              <a:rect l="l" t="t" r="r" b="b"/>
              <a:pathLst>
                <a:path w="393064" h="360680">
                  <a:moveTo>
                    <a:pt x="390271" y="0"/>
                  </a:moveTo>
                  <a:lnTo>
                    <a:pt x="300736" y="0"/>
                  </a:lnTo>
                  <a:lnTo>
                    <a:pt x="298196" y="3682"/>
                  </a:lnTo>
                  <a:lnTo>
                    <a:pt x="298196" y="42163"/>
                  </a:lnTo>
                  <a:lnTo>
                    <a:pt x="281939" y="42163"/>
                  </a:lnTo>
                  <a:lnTo>
                    <a:pt x="279526" y="46355"/>
                  </a:lnTo>
                  <a:lnTo>
                    <a:pt x="279526" y="85470"/>
                  </a:lnTo>
                  <a:lnTo>
                    <a:pt x="262763" y="85470"/>
                  </a:lnTo>
                  <a:lnTo>
                    <a:pt x="260350" y="89662"/>
                  </a:lnTo>
                  <a:lnTo>
                    <a:pt x="260350" y="147066"/>
                  </a:lnTo>
                  <a:lnTo>
                    <a:pt x="244094" y="147066"/>
                  </a:lnTo>
                  <a:lnTo>
                    <a:pt x="241681" y="149732"/>
                  </a:lnTo>
                  <a:lnTo>
                    <a:pt x="241681" y="189864"/>
                  </a:lnTo>
                  <a:lnTo>
                    <a:pt x="225425" y="189864"/>
                  </a:lnTo>
                  <a:lnTo>
                    <a:pt x="221996" y="193039"/>
                  </a:lnTo>
                  <a:lnTo>
                    <a:pt x="221996" y="253111"/>
                  </a:lnTo>
                  <a:lnTo>
                    <a:pt x="206248" y="253111"/>
                  </a:lnTo>
                  <a:lnTo>
                    <a:pt x="203200" y="255778"/>
                  </a:lnTo>
                  <a:lnTo>
                    <a:pt x="203200" y="293116"/>
                  </a:lnTo>
                  <a:lnTo>
                    <a:pt x="189992" y="293116"/>
                  </a:lnTo>
                  <a:lnTo>
                    <a:pt x="189992" y="255778"/>
                  </a:lnTo>
                  <a:lnTo>
                    <a:pt x="186944" y="253111"/>
                  </a:lnTo>
                  <a:lnTo>
                    <a:pt x="170814" y="253111"/>
                  </a:lnTo>
                  <a:lnTo>
                    <a:pt x="170814" y="213487"/>
                  </a:lnTo>
                  <a:lnTo>
                    <a:pt x="168275" y="210947"/>
                  </a:lnTo>
                  <a:lnTo>
                    <a:pt x="152019" y="210947"/>
                  </a:lnTo>
                  <a:lnTo>
                    <a:pt x="152019" y="170814"/>
                  </a:lnTo>
                  <a:lnTo>
                    <a:pt x="148589" y="167639"/>
                  </a:lnTo>
                  <a:lnTo>
                    <a:pt x="132334" y="167639"/>
                  </a:lnTo>
                  <a:lnTo>
                    <a:pt x="132334" y="127635"/>
                  </a:lnTo>
                  <a:lnTo>
                    <a:pt x="129921" y="124968"/>
                  </a:lnTo>
                  <a:lnTo>
                    <a:pt x="113664" y="124968"/>
                  </a:lnTo>
                  <a:lnTo>
                    <a:pt x="113664" y="89662"/>
                  </a:lnTo>
                  <a:lnTo>
                    <a:pt x="111251" y="85470"/>
                  </a:lnTo>
                  <a:lnTo>
                    <a:pt x="94487" y="85470"/>
                  </a:lnTo>
                  <a:lnTo>
                    <a:pt x="94487" y="46355"/>
                  </a:lnTo>
                  <a:lnTo>
                    <a:pt x="92075" y="42163"/>
                  </a:lnTo>
                  <a:lnTo>
                    <a:pt x="76326" y="42163"/>
                  </a:lnTo>
                  <a:lnTo>
                    <a:pt x="76326" y="3682"/>
                  </a:lnTo>
                  <a:lnTo>
                    <a:pt x="73278" y="0"/>
                  </a:lnTo>
                  <a:lnTo>
                    <a:pt x="2032" y="0"/>
                  </a:lnTo>
                  <a:lnTo>
                    <a:pt x="0" y="3682"/>
                  </a:lnTo>
                  <a:lnTo>
                    <a:pt x="0" y="21589"/>
                  </a:lnTo>
                  <a:lnTo>
                    <a:pt x="2032" y="24256"/>
                  </a:lnTo>
                  <a:lnTo>
                    <a:pt x="37846" y="24256"/>
                  </a:lnTo>
                  <a:lnTo>
                    <a:pt x="37846" y="336423"/>
                  </a:lnTo>
                  <a:lnTo>
                    <a:pt x="2032" y="336423"/>
                  </a:lnTo>
                  <a:lnTo>
                    <a:pt x="0" y="340106"/>
                  </a:lnTo>
                  <a:lnTo>
                    <a:pt x="0" y="358013"/>
                  </a:lnTo>
                  <a:lnTo>
                    <a:pt x="2032" y="360680"/>
                  </a:lnTo>
                  <a:lnTo>
                    <a:pt x="92075" y="360680"/>
                  </a:lnTo>
                  <a:lnTo>
                    <a:pt x="94487" y="358013"/>
                  </a:lnTo>
                  <a:lnTo>
                    <a:pt x="94487" y="340106"/>
                  </a:lnTo>
                  <a:lnTo>
                    <a:pt x="92075" y="336423"/>
                  </a:lnTo>
                  <a:lnTo>
                    <a:pt x="56642" y="336423"/>
                  </a:lnTo>
                  <a:lnTo>
                    <a:pt x="56642" y="89662"/>
                  </a:lnTo>
                  <a:lnTo>
                    <a:pt x="73278" y="89662"/>
                  </a:lnTo>
                  <a:lnTo>
                    <a:pt x="73278" y="124968"/>
                  </a:lnTo>
                  <a:lnTo>
                    <a:pt x="76326" y="127635"/>
                  </a:lnTo>
                  <a:lnTo>
                    <a:pt x="92075" y="127635"/>
                  </a:lnTo>
                  <a:lnTo>
                    <a:pt x="92075" y="167639"/>
                  </a:lnTo>
                  <a:lnTo>
                    <a:pt x="94487" y="170814"/>
                  </a:lnTo>
                  <a:lnTo>
                    <a:pt x="111251" y="170814"/>
                  </a:lnTo>
                  <a:lnTo>
                    <a:pt x="111251" y="210947"/>
                  </a:lnTo>
                  <a:lnTo>
                    <a:pt x="113664" y="213487"/>
                  </a:lnTo>
                  <a:lnTo>
                    <a:pt x="129921" y="213487"/>
                  </a:lnTo>
                  <a:lnTo>
                    <a:pt x="129921" y="253111"/>
                  </a:lnTo>
                  <a:lnTo>
                    <a:pt x="132334" y="255778"/>
                  </a:lnTo>
                  <a:lnTo>
                    <a:pt x="148589" y="255778"/>
                  </a:lnTo>
                  <a:lnTo>
                    <a:pt x="148589" y="293116"/>
                  </a:lnTo>
                  <a:lnTo>
                    <a:pt x="152019" y="297433"/>
                  </a:lnTo>
                  <a:lnTo>
                    <a:pt x="168275" y="297433"/>
                  </a:lnTo>
                  <a:lnTo>
                    <a:pt x="168275" y="336423"/>
                  </a:lnTo>
                  <a:lnTo>
                    <a:pt x="170814" y="340106"/>
                  </a:lnTo>
                  <a:lnTo>
                    <a:pt x="186944" y="340106"/>
                  </a:lnTo>
                  <a:lnTo>
                    <a:pt x="186944" y="358013"/>
                  </a:lnTo>
                  <a:lnTo>
                    <a:pt x="189992" y="360680"/>
                  </a:lnTo>
                  <a:lnTo>
                    <a:pt x="203200" y="360680"/>
                  </a:lnTo>
                  <a:lnTo>
                    <a:pt x="206248" y="358013"/>
                  </a:lnTo>
                  <a:lnTo>
                    <a:pt x="206248" y="297433"/>
                  </a:lnTo>
                  <a:lnTo>
                    <a:pt x="221996" y="297433"/>
                  </a:lnTo>
                  <a:lnTo>
                    <a:pt x="225425" y="293116"/>
                  </a:lnTo>
                  <a:lnTo>
                    <a:pt x="225425" y="255778"/>
                  </a:lnTo>
                  <a:lnTo>
                    <a:pt x="241681" y="255778"/>
                  </a:lnTo>
                  <a:lnTo>
                    <a:pt x="244094" y="253111"/>
                  </a:lnTo>
                  <a:lnTo>
                    <a:pt x="244094" y="193039"/>
                  </a:lnTo>
                  <a:lnTo>
                    <a:pt x="260350" y="193039"/>
                  </a:lnTo>
                  <a:lnTo>
                    <a:pt x="262763" y="189864"/>
                  </a:lnTo>
                  <a:lnTo>
                    <a:pt x="262763" y="149732"/>
                  </a:lnTo>
                  <a:lnTo>
                    <a:pt x="279526" y="149732"/>
                  </a:lnTo>
                  <a:lnTo>
                    <a:pt x="281939" y="147066"/>
                  </a:lnTo>
                  <a:lnTo>
                    <a:pt x="281939" y="89662"/>
                  </a:lnTo>
                  <a:lnTo>
                    <a:pt x="298196" y="89662"/>
                  </a:lnTo>
                  <a:lnTo>
                    <a:pt x="300736" y="85470"/>
                  </a:lnTo>
                  <a:lnTo>
                    <a:pt x="300736" y="46355"/>
                  </a:lnTo>
                  <a:lnTo>
                    <a:pt x="316864" y="46355"/>
                  </a:lnTo>
                  <a:lnTo>
                    <a:pt x="316864" y="336423"/>
                  </a:lnTo>
                  <a:lnTo>
                    <a:pt x="281939" y="336423"/>
                  </a:lnTo>
                  <a:lnTo>
                    <a:pt x="279526" y="340106"/>
                  </a:lnTo>
                  <a:lnTo>
                    <a:pt x="279526" y="358013"/>
                  </a:lnTo>
                  <a:lnTo>
                    <a:pt x="281939" y="360680"/>
                  </a:lnTo>
                  <a:lnTo>
                    <a:pt x="390271" y="360680"/>
                  </a:lnTo>
                  <a:lnTo>
                    <a:pt x="392684" y="358013"/>
                  </a:lnTo>
                  <a:lnTo>
                    <a:pt x="392684" y="340106"/>
                  </a:lnTo>
                  <a:lnTo>
                    <a:pt x="390271" y="336423"/>
                  </a:lnTo>
                  <a:lnTo>
                    <a:pt x="355346" y="336423"/>
                  </a:lnTo>
                  <a:lnTo>
                    <a:pt x="355346" y="24256"/>
                  </a:lnTo>
                  <a:lnTo>
                    <a:pt x="390271" y="24256"/>
                  </a:lnTo>
                  <a:lnTo>
                    <a:pt x="392684" y="21589"/>
                  </a:lnTo>
                  <a:lnTo>
                    <a:pt x="392684" y="3682"/>
                  </a:lnTo>
                  <a:lnTo>
                    <a:pt x="390271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2" name="object 22"/>
            <p:cNvSpPr/>
            <p:nvPr/>
          </p:nvSpPr>
          <p:spPr>
            <a:xfrm>
              <a:off x="5102352" y="1952244"/>
              <a:ext cx="393065" cy="360680"/>
            </a:xfrm>
            <a:custGeom>
              <a:avLst/>
              <a:gdLst/>
              <a:ahLst/>
              <a:cxnLst/>
              <a:rect l="l" t="t" r="r" b="b"/>
              <a:pathLst>
                <a:path w="393064" h="360680">
                  <a:moveTo>
                    <a:pt x="2032" y="0"/>
                  </a:moveTo>
                  <a:lnTo>
                    <a:pt x="73278" y="0"/>
                  </a:lnTo>
                  <a:lnTo>
                    <a:pt x="76326" y="3682"/>
                  </a:lnTo>
                  <a:lnTo>
                    <a:pt x="76326" y="42163"/>
                  </a:lnTo>
                  <a:lnTo>
                    <a:pt x="92075" y="42163"/>
                  </a:lnTo>
                  <a:lnTo>
                    <a:pt x="94487" y="46355"/>
                  </a:lnTo>
                  <a:lnTo>
                    <a:pt x="94487" y="85470"/>
                  </a:lnTo>
                  <a:lnTo>
                    <a:pt x="111251" y="85470"/>
                  </a:lnTo>
                  <a:lnTo>
                    <a:pt x="113664" y="89662"/>
                  </a:lnTo>
                  <a:lnTo>
                    <a:pt x="113664" y="124968"/>
                  </a:lnTo>
                  <a:lnTo>
                    <a:pt x="129921" y="124968"/>
                  </a:lnTo>
                  <a:lnTo>
                    <a:pt x="132334" y="127635"/>
                  </a:lnTo>
                  <a:lnTo>
                    <a:pt x="132334" y="167639"/>
                  </a:lnTo>
                  <a:lnTo>
                    <a:pt x="148589" y="167639"/>
                  </a:lnTo>
                  <a:lnTo>
                    <a:pt x="152019" y="170814"/>
                  </a:lnTo>
                  <a:lnTo>
                    <a:pt x="152019" y="210947"/>
                  </a:lnTo>
                  <a:lnTo>
                    <a:pt x="168275" y="210947"/>
                  </a:lnTo>
                  <a:lnTo>
                    <a:pt x="170814" y="213487"/>
                  </a:lnTo>
                  <a:lnTo>
                    <a:pt x="170814" y="253111"/>
                  </a:lnTo>
                  <a:lnTo>
                    <a:pt x="186944" y="253111"/>
                  </a:lnTo>
                  <a:lnTo>
                    <a:pt x="189992" y="255778"/>
                  </a:lnTo>
                  <a:lnTo>
                    <a:pt x="189992" y="293116"/>
                  </a:lnTo>
                  <a:lnTo>
                    <a:pt x="203200" y="293116"/>
                  </a:lnTo>
                  <a:lnTo>
                    <a:pt x="203200" y="255778"/>
                  </a:lnTo>
                  <a:lnTo>
                    <a:pt x="206248" y="253111"/>
                  </a:lnTo>
                  <a:lnTo>
                    <a:pt x="221996" y="253111"/>
                  </a:lnTo>
                  <a:lnTo>
                    <a:pt x="221996" y="193039"/>
                  </a:lnTo>
                  <a:lnTo>
                    <a:pt x="225425" y="189864"/>
                  </a:lnTo>
                  <a:lnTo>
                    <a:pt x="241681" y="189864"/>
                  </a:lnTo>
                  <a:lnTo>
                    <a:pt x="241681" y="149732"/>
                  </a:lnTo>
                  <a:lnTo>
                    <a:pt x="244094" y="147066"/>
                  </a:lnTo>
                  <a:lnTo>
                    <a:pt x="260350" y="147066"/>
                  </a:lnTo>
                  <a:lnTo>
                    <a:pt x="260350" y="89662"/>
                  </a:lnTo>
                  <a:lnTo>
                    <a:pt x="262763" y="85470"/>
                  </a:lnTo>
                  <a:lnTo>
                    <a:pt x="279526" y="85470"/>
                  </a:lnTo>
                  <a:lnTo>
                    <a:pt x="279526" y="46355"/>
                  </a:lnTo>
                  <a:lnTo>
                    <a:pt x="281939" y="42163"/>
                  </a:lnTo>
                  <a:lnTo>
                    <a:pt x="298196" y="42163"/>
                  </a:lnTo>
                  <a:lnTo>
                    <a:pt x="298196" y="3682"/>
                  </a:lnTo>
                  <a:lnTo>
                    <a:pt x="300736" y="0"/>
                  </a:lnTo>
                  <a:lnTo>
                    <a:pt x="390271" y="0"/>
                  </a:lnTo>
                  <a:lnTo>
                    <a:pt x="392684" y="3682"/>
                  </a:lnTo>
                  <a:lnTo>
                    <a:pt x="392684" y="21589"/>
                  </a:lnTo>
                  <a:lnTo>
                    <a:pt x="390271" y="24256"/>
                  </a:lnTo>
                  <a:lnTo>
                    <a:pt x="355346" y="24256"/>
                  </a:lnTo>
                  <a:lnTo>
                    <a:pt x="355346" y="336423"/>
                  </a:lnTo>
                  <a:lnTo>
                    <a:pt x="390271" y="336423"/>
                  </a:lnTo>
                  <a:lnTo>
                    <a:pt x="392684" y="340106"/>
                  </a:lnTo>
                  <a:lnTo>
                    <a:pt x="392684" y="358013"/>
                  </a:lnTo>
                  <a:lnTo>
                    <a:pt x="390271" y="360680"/>
                  </a:lnTo>
                  <a:lnTo>
                    <a:pt x="281939" y="360680"/>
                  </a:lnTo>
                  <a:lnTo>
                    <a:pt x="279526" y="358013"/>
                  </a:lnTo>
                  <a:lnTo>
                    <a:pt x="279526" y="340106"/>
                  </a:lnTo>
                  <a:lnTo>
                    <a:pt x="281939" y="336423"/>
                  </a:lnTo>
                  <a:lnTo>
                    <a:pt x="316864" y="336423"/>
                  </a:lnTo>
                  <a:lnTo>
                    <a:pt x="316864" y="46355"/>
                  </a:lnTo>
                  <a:lnTo>
                    <a:pt x="300736" y="46355"/>
                  </a:lnTo>
                  <a:lnTo>
                    <a:pt x="300736" y="85470"/>
                  </a:lnTo>
                  <a:lnTo>
                    <a:pt x="298196" y="89662"/>
                  </a:lnTo>
                  <a:lnTo>
                    <a:pt x="281939" y="89662"/>
                  </a:lnTo>
                  <a:lnTo>
                    <a:pt x="281939" y="147066"/>
                  </a:lnTo>
                  <a:lnTo>
                    <a:pt x="279526" y="149732"/>
                  </a:lnTo>
                  <a:lnTo>
                    <a:pt x="262763" y="149732"/>
                  </a:lnTo>
                  <a:lnTo>
                    <a:pt x="262763" y="189864"/>
                  </a:lnTo>
                  <a:lnTo>
                    <a:pt x="260350" y="193039"/>
                  </a:lnTo>
                  <a:lnTo>
                    <a:pt x="244094" y="193039"/>
                  </a:lnTo>
                  <a:lnTo>
                    <a:pt x="244094" y="253111"/>
                  </a:lnTo>
                  <a:lnTo>
                    <a:pt x="241681" y="255778"/>
                  </a:lnTo>
                  <a:lnTo>
                    <a:pt x="225425" y="255778"/>
                  </a:lnTo>
                  <a:lnTo>
                    <a:pt x="225425" y="293116"/>
                  </a:lnTo>
                  <a:lnTo>
                    <a:pt x="221996" y="297433"/>
                  </a:lnTo>
                  <a:lnTo>
                    <a:pt x="206248" y="297433"/>
                  </a:lnTo>
                  <a:lnTo>
                    <a:pt x="206248" y="358013"/>
                  </a:lnTo>
                  <a:lnTo>
                    <a:pt x="203200" y="360680"/>
                  </a:lnTo>
                  <a:lnTo>
                    <a:pt x="189992" y="360680"/>
                  </a:lnTo>
                  <a:lnTo>
                    <a:pt x="186944" y="358013"/>
                  </a:lnTo>
                  <a:lnTo>
                    <a:pt x="186944" y="340106"/>
                  </a:lnTo>
                  <a:lnTo>
                    <a:pt x="170814" y="340106"/>
                  </a:lnTo>
                  <a:lnTo>
                    <a:pt x="168275" y="336423"/>
                  </a:lnTo>
                  <a:lnTo>
                    <a:pt x="168275" y="297433"/>
                  </a:lnTo>
                  <a:lnTo>
                    <a:pt x="152019" y="297433"/>
                  </a:lnTo>
                  <a:lnTo>
                    <a:pt x="148589" y="293116"/>
                  </a:lnTo>
                  <a:lnTo>
                    <a:pt x="148589" y="255778"/>
                  </a:lnTo>
                  <a:lnTo>
                    <a:pt x="132334" y="255778"/>
                  </a:lnTo>
                  <a:lnTo>
                    <a:pt x="129921" y="253111"/>
                  </a:lnTo>
                  <a:lnTo>
                    <a:pt x="129921" y="213487"/>
                  </a:lnTo>
                  <a:lnTo>
                    <a:pt x="113664" y="213487"/>
                  </a:lnTo>
                  <a:lnTo>
                    <a:pt x="111251" y="210947"/>
                  </a:lnTo>
                  <a:lnTo>
                    <a:pt x="111251" y="170814"/>
                  </a:lnTo>
                  <a:lnTo>
                    <a:pt x="94487" y="170814"/>
                  </a:lnTo>
                  <a:lnTo>
                    <a:pt x="92075" y="167639"/>
                  </a:lnTo>
                  <a:lnTo>
                    <a:pt x="92075" y="127635"/>
                  </a:lnTo>
                  <a:lnTo>
                    <a:pt x="76326" y="127635"/>
                  </a:lnTo>
                  <a:lnTo>
                    <a:pt x="73278" y="124968"/>
                  </a:lnTo>
                  <a:lnTo>
                    <a:pt x="73278" y="89662"/>
                  </a:lnTo>
                  <a:lnTo>
                    <a:pt x="56642" y="89662"/>
                  </a:lnTo>
                  <a:lnTo>
                    <a:pt x="56642" y="336423"/>
                  </a:lnTo>
                  <a:lnTo>
                    <a:pt x="92075" y="336423"/>
                  </a:lnTo>
                  <a:lnTo>
                    <a:pt x="94487" y="340106"/>
                  </a:lnTo>
                  <a:lnTo>
                    <a:pt x="94487" y="358013"/>
                  </a:lnTo>
                  <a:lnTo>
                    <a:pt x="92075" y="360680"/>
                  </a:lnTo>
                  <a:lnTo>
                    <a:pt x="2032" y="360680"/>
                  </a:lnTo>
                  <a:lnTo>
                    <a:pt x="0" y="358013"/>
                  </a:lnTo>
                  <a:lnTo>
                    <a:pt x="0" y="340106"/>
                  </a:lnTo>
                  <a:lnTo>
                    <a:pt x="2032" y="336423"/>
                  </a:lnTo>
                  <a:lnTo>
                    <a:pt x="37846" y="336423"/>
                  </a:lnTo>
                  <a:lnTo>
                    <a:pt x="37846" y="24256"/>
                  </a:lnTo>
                  <a:lnTo>
                    <a:pt x="2032" y="24256"/>
                  </a:lnTo>
                  <a:lnTo>
                    <a:pt x="0" y="21589"/>
                  </a:lnTo>
                  <a:lnTo>
                    <a:pt x="0" y="3682"/>
                  </a:lnTo>
                  <a:lnTo>
                    <a:pt x="2032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3" name="object 23"/>
            <p:cNvSpPr/>
            <p:nvPr/>
          </p:nvSpPr>
          <p:spPr>
            <a:xfrm>
              <a:off x="5522976" y="1952244"/>
              <a:ext cx="187325" cy="360680"/>
            </a:xfrm>
            <a:custGeom>
              <a:avLst/>
              <a:gdLst/>
              <a:ahLst/>
              <a:cxnLst/>
              <a:rect l="l" t="t" r="r" b="b"/>
              <a:pathLst>
                <a:path w="187325" h="360680">
                  <a:moveTo>
                    <a:pt x="109474" y="0"/>
                  </a:moveTo>
                  <a:lnTo>
                    <a:pt x="56261" y="0"/>
                  </a:lnTo>
                  <a:lnTo>
                    <a:pt x="53721" y="3682"/>
                  </a:lnTo>
                  <a:lnTo>
                    <a:pt x="53721" y="21589"/>
                  </a:lnTo>
                  <a:lnTo>
                    <a:pt x="22225" y="21589"/>
                  </a:lnTo>
                  <a:lnTo>
                    <a:pt x="18287" y="24256"/>
                  </a:lnTo>
                  <a:lnTo>
                    <a:pt x="18287" y="64388"/>
                  </a:lnTo>
                  <a:lnTo>
                    <a:pt x="2412" y="64388"/>
                  </a:lnTo>
                  <a:lnTo>
                    <a:pt x="0" y="67437"/>
                  </a:lnTo>
                  <a:lnTo>
                    <a:pt x="0" y="107568"/>
                  </a:lnTo>
                  <a:lnTo>
                    <a:pt x="2412" y="109728"/>
                  </a:lnTo>
                  <a:lnTo>
                    <a:pt x="18287" y="109728"/>
                  </a:lnTo>
                  <a:lnTo>
                    <a:pt x="22225" y="107568"/>
                  </a:lnTo>
                  <a:lnTo>
                    <a:pt x="22225" y="67437"/>
                  </a:lnTo>
                  <a:lnTo>
                    <a:pt x="37973" y="67437"/>
                  </a:lnTo>
                  <a:lnTo>
                    <a:pt x="40512" y="64388"/>
                  </a:lnTo>
                  <a:lnTo>
                    <a:pt x="40512" y="46355"/>
                  </a:lnTo>
                  <a:lnTo>
                    <a:pt x="109474" y="46355"/>
                  </a:lnTo>
                  <a:lnTo>
                    <a:pt x="109474" y="64388"/>
                  </a:lnTo>
                  <a:lnTo>
                    <a:pt x="112013" y="67437"/>
                  </a:lnTo>
                  <a:lnTo>
                    <a:pt x="128270" y="67437"/>
                  </a:lnTo>
                  <a:lnTo>
                    <a:pt x="128270" y="147066"/>
                  </a:lnTo>
                  <a:lnTo>
                    <a:pt x="112013" y="147066"/>
                  </a:lnTo>
                  <a:lnTo>
                    <a:pt x="109474" y="149732"/>
                  </a:lnTo>
                  <a:lnTo>
                    <a:pt x="109474" y="189864"/>
                  </a:lnTo>
                  <a:lnTo>
                    <a:pt x="93218" y="189864"/>
                  </a:lnTo>
                  <a:lnTo>
                    <a:pt x="91312" y="193039"/>
                  </a:lnTo>
                  <a:lnTo>
                    <a:pt x="91312" y="232537"/>
                  </a:lnTo>
                  <a:lnTo>
                    <a:pt x="74929" y="232537"/>
                  </a:lnTo>
                  <a:lnTo>
                    <a:pt x="72516" y="235204"/>
                  </a:lnTo>
                  <a:lnTo>
                    <a:pt x="72516" y="253111"/>
                  </a:lnTo>
                  <a:lnTo>
                    <a:pt x="56261" y="253111"/>
                  </a:lnTo>
                  <a:lnTo>
                    <a:pt x="53721" y="255778"/>
                  </a:lnTo>
                  <a:lnTo>
                    <a:pt x="53721" y="275208"/>
                  </a:lnTo>
                  <a:lnTo>
                    <a:pt x="40512" y="275208"/>
                  </a:lnTo>
                  <a:lnTo>
                    <a:pt x="37973" y="277875"/>
                  </a:lnTo>
                  <a:lnTo>
                    <a:pt x="37973" y="293116"/>
                  </a:lnTo>
                  <a:lnTo>
                    <a:pt x="22225" y="293116"/>
                  </a:lnTo>
                  <a:lnTo>
                    <a:pt x="18287" y="297433"/>
                  </a:lnTo>
                  <a:lnTo>
                    <a:pt x="18287" y="315341"/>
                  </a:lnTo>
                  <a:lnTo>
                    <a:pt x="2412" y="315341"/>
                  </a:lnTo>
                  <a:lnTo>
                    <a:pt x="0" y="318516"/>
                  </a:lnTo>
                  <a:lnTo>
                    <a:pt x="0" y="358013"/>
                  </a:lnTo>
                  <a:lnTo>
                    <a:pt x="2412" y="360680"/>
                  </a:lnTo>
                  <a:lnTo>
                    <a:pt x="165226" y="360680"/>
                  </a:lnTo>
                  <a:lnTo>
                    <a:pt x="167766" y="358013"/>
                  </a:lnTo>
                  <a:lnTo>
                    <a:pt x="167766" y="340106"/>
                  </a:lnTo>
                  <a:lnTo>
                    <a:pt x="184531" y="340106"/>
                  </a:lnTo>
                  <a:lnTo>
                    <a:pt x="186944" y="336423"/>
                  </a:lnTo>
                  <a:lnTo>
                    <a:pt x="186944" y="297433"/>
                  </a:lnTo>
                  <a:lnTo>
                    <a:pt x="184531" y="293116"/>
                  </a:lnTo>
                  <a:lnTo>
                    <a:pt x="167766" y="293116"/>
                  </a:lnTo>
                  <a:lnTo>
                    <a:pt x="165226" y="297433"/>
                  </a:lnTo>
                  <a:lnTo>
                    <a:pt x="165226" y="315341"/>
                  </a:lnTo>
                  <a:lnTo>
                    <a:pt x="56261" y="315341"/>
                  </a:lnTo>
                  <a:lnTo>
                    <a:pt x="56261" y="297433"/>
                  </a:lnTo>
                  <a:lnTo>
                    <a:pt x="72516" y="297433"/>
                  </a:lnTo>
                  <a:lnTo>
                    <a:pt x="74929" y="293116"/>
                  </a:lnTo>
                  <a:lnTo>
                    <a:pt x="74929" y="277875"/>
                  </a:lnTo>
                  <a:lnTo>
                    <a:pt x="91312" y="277875"/>
                  </a:lnTo>
                  <a:lnTo>
                    <a:pt x="93218" y="275208"/>
                  </a:lnTo>
                  <a:lnTo>
                    <a:pt x="93218" y="255778"/>
                  </a:lnTo>
                  <a:lnTo>
                    <a:pt x="109474" y="255778"/>
                  </a:lnTo>
                  <a:lnTo>
                    <a:pt x="112013" y="253111"/>
                  </a:lnTo>
                  <a:lnTo>
                    <a:pt x="112013" y="213487"/>
                  </a:lnTo>
                  <a:lnTo>
                    <a:pt x="128270" y="213487"/>
                  </a:lnTo>
                  <a:lnTo>
                    <a:pt x="130683" y="210947"/>
                  </a:lnTo>
                  <a:lnTo>
                    <a:pt x="130683" y="193039"/>
                  </a:lnTo>
                  <a:lnTo>
                    <a:pt x="146558" y="193039"/>
                  </a:lnTo>
                  <a:lnTo>
                    <a:pt x="148971" y="189864"/>
                  </a:lnTo>
                  <a:lnTo>
                    <a:pt x="148971" y="149732"/>
                  </a:lnTo>
                  <a:lnTo>
                    <a:pt x="165226" y="149732"/>
                  </a:lnTo>
                  <a:lnTo>
                    <a:pt x="167766" y="147066"/>
                  </a:lnTo>
                  <a:lnTo>
                    <a:pt x="167766" y="46355"/>
                  </a:lnTo>
                  <a:lnTo>
                    <a:pt x="165226" y="42163"/>
                  </a:lnTo>
                  <a:lnTo>
                    <a:pt x="148971" y="42163"/>
                  </a:lnTo>
                  <a:lnTo>
                    <a:pt x="148971" y="24256"/>
                  </a:lnTo>
                  <a:lnTo>
                    <a:pt x="146558" y="21589"/>
                  </a:lnTo>
                  <a:lnTo>
                    <a:pt x="112013" y="21589"/>
                  </a:lnTo>
                  <a:lnTo>
                    <a:pt x="112013" y="3682"/>
                  </a:lnTo>
                  <a:lnTo>
                    <a:pt x="10947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4" name="object 24"/>
            <p:cNvSpPr/>
            <p:nvPr/>
          </p:nvSpPr>
          <p:spPr>
            <a:xfrm>
              <a:off x="5522976" y="1952244"/>
              <a:ext cx="187325" cy="360680"/>
            </a:xfrm>
            <a:custGeom>
              <a:avLst/>
              <a:gdLst/>
              <a:ahLst/>
              <a:cxnLst/>
              <a:rect l="l" t="t" r="r" b="b"/>
              <a:pathLst>
                <a:path w="187325" h="360680">
                  <a:moveTo>
                    <a:pt x="56261" y="0"/>
                  </a:moveTo>
                  <a:lnTo>
                    <a:pt x="109474" y="0"/>
                  </a:lnTo>
                  <a:lnTo>
                    <a:pt x="112013" y="3682"/>
                  </a:lnTo>
                  <a:lnTo>
                    <a:pt x="112013" y="21589"/>
                  </a:lnTo>
                  <a:lnTo>
                    <a:pt x="146558" y="21589"/>
                  </a:lnTo>
                  <a:lnTo>
                    <a:pt x="148971" y="24256"/>
                  </a:lnTo>
                  <a:lnTo>
                    <a:pt x="148971" y="42163"/>
                  </a:lnTo>
                  <a:lnTo>
                    <a:pt x="165226" y="42163"/>
                  </a:lnTo>
                  <a:lnTo>
                    <a:pt x="167766" y="46355"/>
                  </a:lnTo>
                  <a:lnTo>
                    <a:pt x="167766" y="147066"/>
                  </a:lnTo>
                  <a:lnTo>
                    <a:pt x="165226" y="149732"/>
                  </a:lnTo>
                  <a:lnTo>
                    <a:pt x="148971" y="149732"/>
                  </a:lnTo>
                  <a:lnTo>
                    <a:pt x="148971" y="189864"/>
                  </a:lnTo>
                  <a:lnTo>
                    <a:pt x="146558" y="193039"/>
                  </a:lnTo>
                  <a:lnTo>
                    <a:pt x="130683" y="193039"/>
                  </a:lnTo>
                  <a:lnTo>
                    <a:pt x="130683" y="210947"/>
                  </a:lnTo>
                  <a:lnTo>
                    <a:pt x="128270" y="213487"/>
                  </a:lnTo>
                  <a:lnTo>
                    <a:pt x="112013" y="213487"/>
                  </a:lnTo>
                  <a:lnTo>
                    <a:pt x="112013" y="253111"/>
                  </a:lnTo>
                  <a:lnTo>
                    <a:pt x="109474" y="255778"/>
                  </a:lnTo>
                  <a:lnTo>
                    <a:pt x="93218" y="255778"/>
                  </a:lnTo>
                  <a:lnTo>
                    <a:pt x="93218" y="275208"/>
                  </a:lnTo>
                  <a:lnTo>
                    <a:pt x="91312" y="277875"/>
                  </a:lnTo>
                  <a:lnTo>
                    <a:pt x="74929" y="277875"/>
                  </a:lnTo>
                  <a:lnTo>
                    <a:pt x="74929" y="293116"/>
                  </a:lnTo>
                  <a:lnTo>
                    <a:pt x="72516" y="297433"/>
                  </a:lnTo>
                  <a:lnTo>
                    <a:pt x="56261" y="297433"/>
                  </a:lnTo>
                  <a:lnTo>
                    <a:pt x="56261" y="315341"/>
                  </a:lnTo>
                  <a:lnTo>
                    <a:pt x="165226" y="315341"/>
                  </a:lnTo>
                  <a:lnTo>
                    <a:pt x="165226" y="297433"/>
                  </a:lnTo>
                  <a:lnTo>
                    <a:pt x="167766" y="293116"/>
                  </a:lnTo>
                  <a:lnTo>
                    <a:pt x="184531" y="293116"/>
                  </a:lnTo>
                  <a:lnTo>
                    <a:pt x="186944" y="297433"/>
                  </a:lnTo>
                  <a:lnTo>
                    <a:pt x="186944" y="336423"/>
                  </a:lnTo>
                  <a:lnTo>
                    <a:pt x="184531" y="340106"/>
                  </a:lnTo>
                  <a:lnTo>
                    <a:pt x="167766" y="340106"/>
                  </a:lnTo>
                  <a:lnTo>
                    <a:pt x="167766" y="358013"/>
                  </a:lnTo>
                  <a:lnTo>
                    <a:pt x="165226" y="360680"/>
                  </a:lnTo>
                  <a:lnTo>
                    <a:pt x="2412" y="360680"/>
                  </a:lnTo>
                  <a:lnTo>
                    <a:pt x="0" y="358013"/>
                  </a:lnTo>
                  <a:lnTo>
                    <a:pt x="0" y="318516"/>
                  </a:lnTo>
                  <a:lnTo>
                    <a:pt x="2412" y="315341"/>
                  </a:lnTo>
                  <a:lnTo>
                    <a:pt x="18287" y="315341"/>
                  </a:lnTo>
                  <a:lnTo>
                    <a:pt x="18287" y="297433"/>
                  </a:lnTo>
                  <a:lnTo>
                    <a:pt x="22225" y="293116"/>
                  </a:lnTo>
                  <a:lnTo>
                    <a:pt x="37973" y="293116"/>
                  </a:lnTo>
                  <a:lnTo>
                    <a:pt x="37973" y="277875"/>
                  </a:lnTo>
                  <a:lnTo>
                    <a:pt x="40512" y="275208"/>
                  </a:lnTo>
                  <a:lnTo>
                    <a:pt x="53721" y="275208"/>
                  </a:lnTo>
                  <a:lnTo>
                    <a:pt x="53721" y="255778"/>
                  </a:lnTo>
                  <a:lnTo>
                    <a:pt x="56261" y="253111"/>
                  </a:lnTo>
                  <a:lnTo>
                    <a:pt x="72516" y="253111"/>
                  </a:lnTo>
                  <a:lnTo>
                    <a:pt x="72516" y="235204"/>
                  </a:lnTo>
                  <a:lnTo>
                    <a:pt x="74929" y="232537"/>
                  </a:lnTo>
                  <a:lnTo>
                    <a:pt x="91312" y="232537"/>
                  </a:lnTo>
                  <a:lnTo>
                    <a:pt x="91312" y="193039"/>
                  </a:lnTo>
                  <a:lnTo>
                    <a:pt x="93218" y="189864"/>
                  </a:lnTo>
                  <a:lnTo>
                    <a:pt x="109474" y="189864"/>
                  </a:lnTo>
                  <a:lnTo>
                    <a:pt x="109474" y="149732"/>
                  </a:lnTo>
                  <a:lnTo>
                    <a:pt x="112013" y="147066"/>
                  </a:lnTo>
                  <a:lnTo>
                    <a:pt x="128270" y="147066"/>
                  </a:lnTo>
                  <a:lnTo>
                    <a:pt x="128270" y="67437"/>
                  </a:lnTo>
                  <a:lnTo>
                    <a:pt x="112013" y="67437"/>
                  </a:lnTo>
                  <a:lnTo>
                    <a:pt x="109474" y="64388"/>
                  </a:lnTo>
                  <a:lnTo>
                    <a:pt x="109474" y="46355"/>
                  </a:lnTo>
                  <a:lnTo>
                    <a:pt x="40512" y="46355"/>
                  </a:lnTo>
                  <a:lnTo>
                    <a:pt x="40512" y="64388"/>
                  </a:lnTo>
                  <a:lnTo>
                    <a:pt x="37973" y="67437"/>
                  </a:lnTo>
                  <a:lnTo>
                    <a:pt x="22225" y="67437"/>
                  </a:lnTo>
                  <a:lnTo>
                    <a:pt x="22225" y="107568"/>
                  </a:lnTo>
                  <a:lnTo>
                    <a:pt x="18287" y="109728"/>
                  </a:lnTo>
                  <a:lnTo>
                    <a:pt x="2412" y="109728"/>
                  </a:lnTo>
                  <a:lnTo>
                    <a:pt x="0" y="107568"/>
                  </a:lnTo>
                  <a:lnTo>
                    <a:pt x="0" y="67437"/>
                  </a:lnTo>
                  <a:lnTo>
                    <a:pt x="2412" y="64388"/>
                  </a:lnTo>
                  <a:lnTo>
                    <a:pt x="18287" y="64388"/>
                  </a:lnTo>
                  <a:lnTo>
                    <a:pt x="18287" y="24256"/>
                  </a:lnTo>
                  <a:lnTo>
                    <a:pt x="22225" y="21589"/>
                  </a:lnTo>
                  <a:lnTo>
                    <a:pt x="53721" y="21589"/>
                  </a:lnTo>
                  <a:lnTo>
                    <a:pt x="53721" y="3682"/>
                  </a:lnTo>
                  <a:lnTo>
                    <a:pt x="56261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5" name="object 25"/>
            <p:cNvSpPr/>
            <p:nvPr/>
          </p:nvSpPr>
          <p:spPr>
            <a:xfrm>
              <a:off x="7114032" y="1952244"/>
              <a:ext cx="406400" cy="360680"/>
            </a:xfrm>
            <a:custGeom>
              <a:avLst/>
              <a:gdLst/>
              <a:ahLst/>
              <a:cxnLst/>
              <a:rect l="l" t="t" r="r" b="b"/>
              <a:pathLst>
                <a:path w="406400" h="360680">
                  <a:moveTo>
                    <a:pt x="403987" y="0"/>
                  </a:moveTo>
                  <a:lnTo>
                    <a:pt x="311658" y="0"/>
                  </a:lnTo>
                  <a:lnTo>
                    <a:pt x="308737" y="3682"/>
                  </a:lnTo>
                  <a:lnTo>
                    <a:pt x="308737" y="42163"/>
                  </a:lnTo>
                  <a:lnTo>
                    <a:pt x="291973" y="42163"/>
                  </a:lnTo>
                  <a:lnTo>
                    <a:pt x="289560" y="46355"/>
                  </a:lnTo>
                  <a:lnTo>
                    <a:pt x="289560" y="85470"/>
                  </a:lnTo>
                  <a:lnTo>
                    <a:pt x="271779" y="85470"/>
                  </a:lnTo>
                  <a:lnTo>
                    <a:pt x="269240" y="89662"/>
                  </a:lnTo>
                  <a:lnTo>
                    <a:pt x="269240" y="147066"/>
                  </a:lnTo>
                  <a:lnTo>
                    <a:pt x="252475" y="147066"/>
                  </a:lnTo>
                  <a:lnTo>
                    <a:pt x="249554" y="149732"/>
                  </a:lnTo>
                  <a:lnTo>
                    <a:pt x="249554" y="189864"/>
                  </a:lnTo>
                  <a:lnTo>
                    <a:pt x="233299" y="189864"/>
                  </a:lnTo>
                  <a:lnTo>
                    <a:pt x="229870" y="193039"/>
                  </a:lnTo>
                  <a:lnTo>
                    <a:pt x="229870" y="253111"/>
                  </a:lnTo>
                  <a:lnTo>
                    <a:pt x="213614" y="253111"/>
                  </a:lnTo>
                  <a:lnTo>
                    <a:pt x="210566" y="255778"/>
                  </a:lnTo>
                  <a:lnTo>
                    <a:pt x="210566" y="293116"/>
                  </a:lnTo>
                  <a:lnTo>
                    <a:pt x="196850" y="293116"/>
                  </a:lnTo>
                  <a:lnTo>
                    <a:pt x="196850" y="255778"/>
                  </a:lnTo>
                  <a:lnTo>
                    <a:pt x="193294" y="253111"/>
                  </a:lnTo>
                  <a:lnTo>
                    <a:pt x="176529" y="253111"/>
                  </a:lnTo>
                  <a:lnTo>
                    <a:pt x="176529" y="213487"/>
                  </a:lnTo>
                  <a:lnTo>
                    <a:pt x="173609" y="210947"/>
                  </a:lnTo>
                  <a:lnTo>
                    <a:pt x="157352" y="210947"/>
                  </a:lnTo>
                  <a:lnTo>
                    <a:pt x="157352" y="170814"/>
                  </a:lnTo>
                  <a:lnTo>
                    <a:pt x="153924" y="167639"/>
                  </a:lnTo>
                  <a:lnTo>
                    <a:pt x="137160" y="167639"/>
                  </a:lnTo>
                  <a:lnTo>
                    <a:pt x="137160" y="127635"/>
                  </a:lnTo>
                  <a:lnTo>
                    <a:pt x="134620" y="124968"/>
                  </a:lnTo>
                  <a:lnTo>
                    <a:pt x="117856" y="124968"/>
                  </a:lnTo>
                  <a:lnTo>
                    <a:pt x="117856" y="89662"/>
                  </a:lnTo>
                  <a:lnTo>
                    <a:pt x="115443" y="85470"/>
                  </a:lnTo>
                  <a:lnTo>
                    <a:pt x="97663" y="85470"/>
                  </a:lnTo>
                  <a:lnTo>
                    <a:pt x="97663" y="46355"/>
                  </a:lnTo>
                  <a:lnTo>
                    <a:pt x="94742" y="42163"/>
                  </a:lnTo>
                  <a:lnTo>
                    <a:pt x="78359" y="42163"/>
                  </a:lnTo>
                  <a:lnTo>
                    <a:pt x="78359" y="3682"/>
                  </a:lnTo>
                  <a:lnTo>
                    <a:pt x="75946" y="0"/>
                  </a:lnTo>
                  <a:lnTo>
                    <a:pt x="2413" y="0"/>
                  </a:lnTo>
                  <a:lnTo>
                    <a:pt x="0" y="3682"/>
                  </a:lnTo>
                  <a:lnTo>
                    <a:pt x="0" y="21589"/>
                  </a:lnTo>
                  <a:lnTo>
                    <a:pt x="2413" y="24256"/>
                  </a:lnTo>
                  <a:lnTo>
                    <a:pt x="38989" y="24256"/>
                  </a:lnTo>
                  <a:lnTo>
                    <a:pt x="38989" y="336423"/>
                  </a:lnTo>
                  <a:lnTo>
                    <a:pt x="2413" y="336423"/>
                  </a:lnTo>
                  <a:lnTo>
                    <a:pt x="0" y="340106"/>
                  </a:lnTo>
                  <a:lnTo>
                    <a:pt x="0" y="358013"/>
                  </a:lnTo>
                  <a:lnTo>
                    <a:pt x="2413" y="360680"/>
                  </a:lnTo>
                  <a:lnTo>
                    <a:pt x="94742" y="360680"/>
                  </a:lnTo>
                  <a:lnTo>
                    <a:pt x="97663" y="358013"/>
                  </a:lnTo>
                  <a:lnTo>
                    <a:pt x="97663" y="340106"/>
                  </a:lnTo>
                  <a:lnTo>
                    <a:pt x="94742" y="336423"/>
                  </a:lnTo>
                  <a:lnTo>
                    <a:pt x="58674" y="336423"/>
                  </a:lnTo>
                  <a:lnTo>
                    <a:pt x="58674" y="89662"/>
                  </a:lnTo>
                  <a:lnTo>
                    <a:pt x="75946" y="89662"/>
                  </a:lnTo>
                  <a:lnTo>
                    <a:pt x="75946" y="124968"/>
                  </a:lnTo>
                  <a:lnTo>
                    <a:pt x="78359" y="127635"/>
                  </a:lnTo>
                  <a:lnTo>
                    <a:pt x="94742" y="127635"/>
                  </a:lnTo>
                  <a:lnTo>
                    <a:pt x="94742" y="167639"/>
                  </a:lnTo>
                  <a:lnTo>
                    <a:pt x="97663" y="170814"/>
                  </a:lnTo>
                  <a:lnTo>
                    <a:pt x="115443" y="170814"/>
                  </a:lnTo>
                  <a:lnTo>
                    <a:pt x="115443" y="210947"/>
                  </a:lnTo>
                  <a:lnTo>
                    <a:pt x="117856" y="213487"/>
                  </a:lnTo>
                  <a:lnTo>
                    <a:pt x="134620" y="213487"/>
                  </a:lnTo>
                  <a:lnTo>
                    <a:pt x="134620" y="253111"/>
                  </a:lnTo>
                  <a:lnTo>
                    <a:pt x="137160" y="255778"/>
                  </a:lnTo>
                  <a:lnTo>
                    <a:pt x="153924" y="255778"/>
                  </a:lnTo>
                  <a:lnTo>
                    <a:pt x="153924" y="293116"/>
                  </a:lnTo>
                  <a:lnTo>
                    <a:pt x="157352" y="297433"/>
                  </a:lnTo>
                  <a:lnTo>
                    <a:pt x="173609" y="297433"/>
                  </a:lnTo>
                  <a:lnTo>
                    <a:pt x="173609" y="336423"/>
                  </a:lnTo>
                  <a:lnTo>
                    <a:pt x="176529" y="340106"/>
                  </a:lnTo>
                  <a:lnTo>
                    <a:pt x="193294" y="340106"/>
                  </a:lnTo>
                  <a:lnTo>
                    <a:pt x="193294" y="358013"/>
                  </a:lnTo>
                  <a:lnTo>
                    <a:pt x="196850" y="360680"/>
                  </a:lnTo>
                  <a:lnTo>
                    <a:pt x="210566" y="360680"/>
                  </a:lnTo>
                  <a:lnTo>
                    <a:pt x="213614" y="358013"/>
                  </a:lnTo>
                  <a:lnTo>
                    <a:pt x="213614" y="297433"/>
                  </a:lnTo>
                  <a:lnTo>
                    <a:pt x="229870" y="297433"/>
                  </a:lnTo>
                  <a:lnTo>
                    <a:pt x="233299" y="293116"/>
                  </a:lnTo>
                  <a:lnTo>
                    <a:pt x="233299" y="255778"/>
                  </a:lnTo>
                  <a:lnTo>
                    <a:pt x="249554" y="255778"/>
                  </a:lnTo>
                  <a:lnTo>
                    <a:pt x="252475" y="253111"/>
                  </a:lnTo>
                  <a:lnTo>
                    <a:pt x="252475" y="193039"/>
                  </a:lnTo>
                  <a:lnTo>
                    <a:pt x="269240" y="193039"/>
                  </a:lnTo>
                  <a:lnTo>
                    <a:pt x="271779" y="189864"/>
                  </a:lnTo>
                  <a:lnTo>
                    <a:pt x="271779" y="149732"/>
                  </a:lnTo>
                  <a:lnTo>
                    <a:pt x="289560" y="149732"/>
                  </a:lnTo>
                  <a:lnTo>
                    <a:pt x="291973" y="147066"/>
                  </a:lnTo>
                  <a:lnTo>
                    <a:pt x="291973" y="89662"/>
                  </a:lnTo>
                  <a:lnTo>
                    <a:pt x="308737" y="89662"/>
                  </a:lnTo>
                  <a:lnTo>
                    <a:pt x="311658" y="85470"/>
                  </a:lnTo>
                  <a:lnTo>
                    <a:pt x="311658" y="46355"/>
                  </a:lnTo>
                  <a:lnTo>
                    <a:pt x="327533" y="46355"/>
                  </a:lnTo>
                  <a:lnTo>
                    <a:pt x="327533" y="336423"/>
                  </a:lnTo>
                  <a:lnTo>
                    <a:pt x="291973" y="336423"/>
                  </a:lnTo>
                  <a:lnTo>
                    <a:pt x="289560" y="340106"/>
                  </a:lnTo>
                  <a:lnTo>
                    <a:pt x="289560" y="358013"/>
                  </a:lnTo>
                  <a:lnTo>
                    <a:pt x="291973" y="360680"/>
                  </a:lnTo>
                  <a:lnTo>
                    <a:pt x="403987" y="360680"/>
                  </a:lnTo>
                  <a:lnTo>
                    <a:pt x="406400" y="358013"/>
                  </a:lnTo>
                  <a:lnTo>
                    <a:pt x="406400" y="340106"/>
                  </a:lnTo>
                  <a:lnTo>
                    <a:pt x="403987" y="336423"/>
                  </a:lnTo>
                  <a:lnTo>
                    <a:pt x="367411" y="336423"/>
                  </a:lnTo>
                  <a:lnTo>
                    <a:pt x="367411" y="24256"/>
                  </a:lnTo>
                  <a:lnTo>
                    <a:pt x="403987" y="24256"/>
                  </a:lnTo>
                  <a:lnTo>
                    <a:pt x="406400" y="21589"/>
                  </a:lnTo>
                  <a:lnTo>
                    <a:pt x="406400" y="3682"/>
                  </a:lnTo>
                  <a:lnTo>
                    <a:pt x="403987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6" name="object 26"/>
            <p:cNvSpPr/>
            <p:nvPr/>
          </p:nvSpPr>
          <p:spPr>
            <a:xfrm>
              <a:off x="7114032" y="1952244"/>
              <a:ext cx="406400" cy="360680"/>
            </a:xfrm>
            <a:custGeom>
              <a:avLst/>
              <a:gdLst/>
              <a:ahLst/>
              <a:cxnLst/>
              <a:rect l="l" t="t" r="r" b="b"/>
              <a:pathLst>
                <a:path w="406400" h="360680">
                  <a:moveTo>
                    <a:pt x="2413" y="0"/>
                  </a:moveTo>
                  <a:lnTo>
                    <a:pt x="75946" y="0"/>
                  </a:lnTo>
                  <a:lnTo>
                    <a:pt x="78359" y="3682"/>
                  </a:lnTo>
                  <a:lnTo>
                    <a:pt x="78359" y="42163"/>
                  </a:lnTo>
                  <a:lnTo>
                    <a:pt x="94742" y="42163"/>
                  </a:lnTo>
                  <a:lnTo>
                    <a:pt x="97663" y="46355"/>
                  </a:lnTo>
                  <a:lnTo>
                    <a:pt x="97663" y="85470"/>
                  </a:lnTo>
                  <a:lnTo>
                    <a:pt x="115443" y="85470"/>
                  </a:lnTo>
                  <a:lnTo>
                    <a:pt x="117856" y="89662"/>
                  </a:lnTo>
                  <a:lnTo>
                    <a:pt x="117856" y="124968"/>
                  </a:lnTo>
                  <a:lnTo>
                    <a:pt x="134620" y="124968"/>
                  </a:lnTo>
                  <a:lnTo>
                    <a:pt x="137160" y="127635"/>
                  </a:lnTo>
                  <a:lnTo>
                    <a:pt x="137160" y="167639"/>
                  </a:lnTo>
                  <a:lnTo>
                    <a:pt x="153924" y="167639"/>
                  </a:lnTo>
                  <a:lnTo>
                    <a:pt x="157352" y="170814"/>
                  </a:lnTo>
                  <a:lnTo>
                    <a:pt x="157352" y="210947"/>
                  </a:lnTo>
                  <a:lnTo>
                    <a:pt x="173609" y="210947"/>
                  </a:lnTo>
                  <a:lnTo>
                    <a:pt x="176529" y="213487"/>
                  </a:lnTo>
                  <a:lnTo>
                    <a:pt x="176529" y="253111"/>
                  </a:lnTo>
                  <a:lnTo>
                    <a:pt x="193294" y="253111"/>
                  </a:lnTo>
                  <a:lnTo>
                    <a:pt x="196850" y="255778"/>
                  </a:lnTo>
                  <a:lnTo>
                    <a:pt x="196850" y="293116"/>
                  </a:lnTo>
                  <a:lnTo>
                    <a:pt x="210566" y="293116"/>
                  </a:lnTo>
                  <a:lnTo>
                    <a:pt x="210566" y="255778"/>
                  </a:lnTo>
                  <a:lnTo>
                    <a:pt x="213614" y="253111"/>
                  </a:lnTo>
                  <a:lnTo>
                    <a:pt x="229870" y="253111"/>
                  </a:lnTo>
                  <a:lnTo>
                    <a:pt x="229870" y="193039"/>
                  </a:lnTo>
                  <a:lnTo>
                    <a:pt x="233299" y="189864"/>
                  </a:lnTo>
                  <a:lnTo>
                    <a:pt x="249554" y="189864"/>
                  </a:lnTo>
                  <a:lnTo>
                    <a:pt x="249554" y="149732"/>
                  </a:lnTo>
                  <a:lnTo>
                    <a:pt x="252475" y="147066"/>
                  </a:lnTo>
                  <a:lnTo>
                    <a:pt x="269240" y="147066"/>
                  </a:lnTo>
                  <a:lnTo>
                    <a:pt x="269240" y="89662"/>
                  </a:lnTo>
                  <a:lnTo>
                    <a:pt x="271779" y="85470"/>
                  </a:lnTo>
                  <a:lnTo>
                    <a:pt x="289560" y="85470"/>
                  </a:lnTo>
                  <a:lnTo>
                    <a:pt x="289560" y="46355"/>
                  </a:lnTo>
                  <a:lnTo>
                    <a:pt x="291973" y="42163"/>
                  </a:lnTo>
                  <a:lnTo>
                    <a:pt x="308737" y="42163"/>
                  </a:lnTo>
                  <a:lnTo>
                    <a:pt x="308737" y="3682"/>
                  </a:lnTo>
                  <a:lnTo>
                    <a:pt x="311658" y="0"/>
                  </a:lnTo>
                  <a:lnTo>
                    <a:pt x="403987" y="0"/>
                  </a:lnTo>
                  <a:lnTo>
                    <a:pt x="406400" y="3682"/>
                  </a:lnTo>
                  <a:lnTo>
                    <a:pt x="406400" y="21589"/>
                  </a:lnTo>
                  <a:lnTo>
                    <a:pt x="403987" y="24256"/>
                  </a:lnTo>
                  <a:lnTo>
                    <a:pt x="367411" y="24256"/>
                  </a:lnTo>
                  <a:lnTo>
                    <a:pt x="367411" y="336423"/>
                  </a:lnTo>
                  <a:lnTo>
                    <a:pt x="403987" y="336423"/>
                  </a:lnTo>
                  <a:lnTo>
                    <a:pt x="406400" y="340106"/>
                  </a:lnTo>
                  <a:lnTo>
                    <a:pt x="406400" y="358013"/>
                  </a:lnTo>
                  <a:lnTo>
                    <a:pt x="403987" y="360680"/>
                  </a:lnTo>
                  <a:lnTo>
                    <a:pt x="291973" y="360680"/>
                  </a:lnTo>
                  <a:lnTo>
                    <a:pt x="289560" y="358013"/>
                  </a:lnTo>
                  <a:lnTo>
                    <a:pt x="289560" y="340106"/>
                  </a:lnTo>
                  <a:lnTo>
                    <a:pt x="291973" y="336423"/>
                  </a:lnTo>
                  <a:lnTo>
                    <a:pt x="327533" y="336423"/>
                  </a:lnTo>
                  <a:lnTo>
                    <a:pt x="327533" y="46355"/>
                  </a:lnTo>
                  <a:lnTo>
                    <a:pt x="311658" y="46355"/>
                  </a:lnTo>
                  <a:lnTo>
                    <a:pt x="311658" y="85470"/>
                  </a:lnTo>
                  <a:lnTo>
                    <a:pt x="308737" y="89662"/>
                  </a:lnTo>
                  <a:lnTo>
                    <a:pt x="291973" y="89662"/>
                  </a:lnTo>
                  <a:lnTo>
                    <a:pt x="291973" y="147066"/>
                  </a:lnTo>
                  <a:lnTo>
                    <a:pt x="289560" y="149732"/>
                  </a:lnTo>
                  <a:lnTo>
                    <a:pt x="271779" y="149732"/>
                  </a:lnTo>
                  <a:lnTo>
                    <a:pt x="271779" y="189864"/>
                  </a:lnTo>
                  <a:lnTo>
                    <a:pt x="269240" y="193039"/>
                  </a:lnTo>
                  <a:lnTo>
                    <a:pt x="252475" y="193039"/>
                  </a:lnTo>
                  <a:lnTo>
                    <a:pt x="252475" y="253111"/>
                  </a:lnTo>
                  <a:lnTo>
                    <a:pt x="249554" y="255778"/>
                  </a:lnTo>
                  <a:lnTo>
                    <a:pt x="233299" y="255778"/>
                  </a:lnTo>
                  <a:lnTo>
                    <a:pt x="233299" y="293116"/>
                  </a:lnTo>
                  <a:lnTo>
                    <a:pt x="229870" y="297433"/>
                  </a:lnTo>
                  <a:lnTo>
                    <a:pt x="213614" y="297433"/>
                  </a:lnTo>
                  <a:lnTo>
                    <a:pt x="213614" y="358013"/>
                  </a:lnTo>
                  <a:lnTo>
                    <a:pt x="210566" y="360680"/>
                  </a:lnTo>
                  <a:lnTo>
                    <a:pt x="196850" y="360680"/>
                  </a:lnTo>
                  <a:lnTo>
                    <a:pt x="193294" y="358013"/>
                  </a:lnTo>
                  <a:lnTo>
                    <a:pt x="193294" y="340106"/>
                  </a:lnTo>
                  <a:lnTo>
                    <a:pt x="176529" y="340106"/>
                  </a:lnTo>
                  <a:lnTo>
                    <a:pt x="173609" y="336423"/>
                  </a:lnTo>
                  <a:lnTo>
                    <a:pt x="173609" y="297433"/>
                  </a:lnTo>
                  <a:lnTo>
                    <a:pt x="157352" y="297433"/>
                  </a:lnTo>
                  <a:lnTo>
                    <a:pt x="153924" y="293116"/>
                  </a:lnTo>
                  <a:lnTo>
                    <a:pt x="153924" y="255778"/>
                  </a:lnTo>
                  <a:lnTo>
                    <a:pt x="137160" y="255778"/>
                  </a:lnTo>
                  <a:lnTo>
                    <a:pt x="134620" y="253111"/>
                  </a:lnTo>
                  <a:lnTo>
                    <a:pt x="134620" y="213487"/>
                  </a:lnTo>
                  <a:lnTo>
                    <a:pt x="117856" y="213487"/>
                  </a:lnTo>
                  <a:lnTo>
                    <a:pt x="115443" y="210947"/>
                  </a:lnTo>
                  <a:lnTo>
                    <a:pt x="115443" y="170814"/>
                  </a:lnTo>
                  <a:lnTo>
                    <a:pt x="97663" y="170814"/>
                  </a:lnTo>
                  <a:lnTo>
                    <a:pt x="94742" y="167639"/>
                  </a:lnTo>
                  <a:lnTo>
                    <a:pt x="94742" y="127635"/>
                  </a:lnTo>
                  <a:lnTo>
                    <a:pt x="78359" y="127635"/>
                  </a:lnTo>
                  <a:lnTo>
                    <a:pt x="75946" y="124968"/>
                  </a:lnTo>
                  <a:lnTo>
                    <a:pt x="75946" y="89662"/>
                  </a:lnTo>
                  <a:lnTo>
                    <a:pt x="58674" y="89662"/>
                  </a:lnTo>
                  <a:lnTo>
                    <a:pt x="58674" y="336423"/>
                  </a:lnTo>
                  <a:lnTo>
                    <a:pt x="94742" y="336423"/>
                  </a:lnTo>
                  <a:lnTo>
                    <a:pt x="97663" y="340106"/>
                  </a:lnTo>
                  <a:lnTo>
                    <a:pt x="97663" y="358013"/>
                  </a:lnTo>
                  <a:lnTo>
                    <a:pt x="94742" y="360680"/>
                  </a:lnTo>
                  <a:lnTo>
                    <a:pt x="2413" y="360680"/>
                  </a:lnTo>
                  <a:lnTo>
                    <a:pt x="0" y="358013"/>
                  </a:lnTo>
                  <a:lnTo>
                    <a:pt x="0" y="340106"/>
                  </a:lnTo>
                  <a:lnTo>
                    <a:pt x="2413" y="336423"/>
                  </a:lnTo>
                  <a:lnTo>
                    <a:pt x="38989" y="336423"/>
                  </a:lnTo>
                  <a:lnTo>
                    <a:pt x="38989" y="24256"/>
                  </a:lnTo>
                  <a:lnTo>
                    <a:pt x="2413" y="24256"/>
                  </a:lnTo>
                  <a:lnTo>
                    <a:pt x="0" y="21589"/>
                  </a:lnTo>
                  <a:lnTo>
                    <a:pt x="0" y="3682"/>
                  </a:lnTo>
                  <a:lnTo>
                    <a:pt x="2413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7" name="object 27"/>
            <p:cNvSpPr/>
            <p:nvPr/>
          </p:nvSpPr>
          <p:spPr>
            <a:xfrm>
              <a:off x="7548372" y="1952244"/>
              <a:ext cx="173355" cy="360680"/>
            </a:xfrm>
            <a:custGeom>
              <a:avLst/>
              <a:gdLst/>
              <a:ahLst/>
              <a:cxnLst/>
              <a:rect l="l" t="t" r="r" b="b"/>
              <a:pathLst>
                <a:path w="173354" h="360680">
                  <a:moveTo>
                    <a:pt x="113410" y="0"/>
                  </a:moveTo>
                  <a:lnTo>
                    <a:pt x="57911" y="0"/>
                  </a:lnTo>
                  <a:lnTo>
                    <a:pt x="55499" y="3682"/>
                  </a:lnTo>
                  <a:lnTo>
                    <a:pt x="55499" y="21589"/>
                  </a:lnTo>
                  <a:lnTo>
                    <a:pt x="22605" y="21589"/>
                  </a:lnTo>
                  <a:lnTo>
                    <a:pt x="18669" y="24256"/>
                  </a:lnTo>
                  <a:lnTo>
                    <a:pt x="18669" y="64388"/>
                  </a:lnTo>
                  <a:lnTo>
                    <a:pt x="1904" y="64388"/>
                  </a:lnTo>
                  <a:lnTo>
                    <a:pt x="0" y="67437"/>
                  </a:lnTo>
                  <a:lnTo>
                    <a:pt x="0" y="107568"/>
                  </a:lnTo>
                  <a:lnTo>
                    <a:pt x="1904" y="109728"/>
                  </a:lnTo>
                  <a:lnTo>
                    <a:pt x="18669" y="109728"/>
                  </a:lnTo>
                  <a:lnTo>
                    <a:pt x="22605" y="107568"/>
                  </a:lnTo>
                  <a:lnTo>
                    <a:pt x="22605" y="67437"/>
                  </a:lnTo>
                  <a:lnTo>
                    <a:pt x="38734" y="67437"/>
                  </a:lnTo>
                  <a:lnTo>
                    <a:pt x="41655" y="64388"/>
                  </a:lnTo>
                  <a:lnTo>
                    <a:pt x="41655" y="46355"/>
                  </a:lnTo>
                  <a:lnTo>
                    <a:pt x="93725" y="46355"/>
                  </a:lnTo>
                  <a:lnTo>
                    <a:pt x="93725" y="64388"/>
                  </a:lnTo>
                  <a:lnTo>
                    <a:pt x="96647" y="67437"/>
                  </a:lnTo>
                  <a:lnTo>
                    <a:pt x="113410" y="67437"/>
                  </a:lnTo>
                  <a:lnTo>
                    <a:pt x="113410" y="107568"/>
                  </a:lnTo>
                  <a:lnTo>
                    <a:pt x="96647" y="107568"/>
                  </a:lnTo>
                  <a:lnTo>
                    <a:pt x="93725" y="109728"/>
                  </a:lnTo>
                  <a:lnTo>
                    <a:pt x="93725" y="124968"/>
                  </a:lnTo>
                  <a:lnTo>
                    <a:pt x="77597" y="124968"/>
                  </a:lnTo>
                  <a:lnTo>
                    <a:pt x="74549" y="127635"/>
                  </a:lnTo>
                  <a:lnTo>
                    <a:pt x="74549" y="147066"/>
                  </a:lnTo>
                  <a:lnTo>
                    <a:pt x="57911" y="147066"/>
                  </a:lnTo>
                  <a:lnTo>
                    <a:pt x="55499" y="149732"/>
                  </a:lnTo>
                  <a:lnTo>
                    <a:pt x="55499" y="167639"/>
                  </a:lnTo>
                  <a:lnTo>
                    <a:pt x="57911" y="170814"/>
                  </a:lnTo>
                  <a:lnTo>
                    <a:pt x="93725" y="170814"/>
                  </a:lnTo>
                  <a:lnTo>
                    <a:pt x="93725" y="189864"/>
                  </a:lnTo>
                  <a:lnTo>
                    <a:pt x="96647" y="193039"/>
                  </a:lnTo>
                  <a:lnTo>
                    <a:pt x="113410" y="193039"/>
                  </a:lnTo>
                  <a:lnTo>
                    <a:pt x="113410" y="210947"/>
                  </a:lnTo>
                  <a:lnTo>
                    <a:pt x="115824" y="213487"/>
                  </a:lnTo>
                  <a:lnTo>
                    <a:pt x="132460" y="213487"/>
                  </a:lnTo>
                  <a:lnTo>
                    <a:pt x="132460" y="293116"/>
                  </a:lnTo>
                  <a:lnTo>
                    <a:pt x="115824" y="293116"/>
                  </a:lnTo>
                  <a:lnTo>
                    <a:pt x="113410" y="297433"/>
                  </a:lnTo>
                  <a:lnTo>
                    <a:pt x="113410" y="315341"/>
                  </a:lnTo>
                  <a:lnTo>
                    <a:pt x="96647" y="315341"/>
                  </a:lnTo>
                  <a:lnTo>
                    <a:pt x="93725" y="318516"/>
                  </a:lnTo>
                  <a:lnTo>
                    <a:pt x="93725" y="336423"/>
                  </a:lnTo>
                  <a:lnTo>
                    <a:pt x="57911" y="336423"/>
                  </a:lnTo>
                  <a:lnTo>
                    <a:pt x="57911" y="318516"/>
                  </a:lnTo>
                  <a:lnTo>
                    <a:pt x="55499" y="315341"/>
                  </a:lnTo>
                  <a:lnTo>
                    <a:pt x="41655" y="315341"/>
                  </a:lnTo>
                  <a:lnTo>
                    <a:pt x="41655" y="297433"/>
                  </a:lnTo>
                  <a:lnTo>
                    <a:pt x="38734" y="293116"/>
                  </a:lnTo>
                  <a:lnTo>
                    <a:pt x="1904" y="293116"/>
                  </a:lnTo>
                  <a:lnTo>
                    <a:pt x="0" y="297433"/>
                  </a:lnTo>
                  <a:lnTo>
                    <a:pt x="0" y="336423"/>
                  </a:lnTo>
                  <a:lnTo>
                    <a:pt x="1904" y="340106"/>
                  </a:lnTo>
                  <a:lnTo>
                    <a:pt x="18669" y="340106"/>
                  </a:lnTo>
                  <a:lnTo>
                    <a:pt x="18669" y="358013"/>
                  </a:lnTo>
                  <a:lnTo>
                    <a:pt x="22605" y="360680"/>
                  </a:lnTo>
                  <a:lnTo>
                    <a:pt x="93725" y="360680"/>
                  </a:lnTo>
                  <a:lnTo>
                    <a:pt x="96647" y="358013"/>
                  </a:lnTo>
                  <a:lnTo>
                    <a:pt x="96647" y="340106"/>
                  </a:lnTo>
                  <a:lnTo>
                    <a:pt x="132460" y="340106"/>
                  </a:lnTo>
                  <a:lnTo>
                    <a:pt x="135000" y="336423"/>
                  </a:lnTo>
                  <a:lnTo>
                    <a:pt x="135000" y="318516"/>
                  </a:lnTo>
                  <a:lnTo>
                    <a:pt x="151637" y="318516"/>
                  </a:lnTo>
                  <a:lnTo>
                    <a:pt x="154050" y="315341"/>
                  </a:lnTo>
                  <a:lnTo>
                    <a:pt x="154050" y="277875"/>
                  </a:lnTo>
                  <a:lnTo>
                    <a:pt x="170306" y="277875"/>
                  </a:lnTo>
                  <a:lnTo>
                    <a:pt x="173227" y="275208"/>
                  </a:lnTo>
                  <a:lnTo>
                    <a:pt x="173227" y="193039"/>
                  </a:lnTo>
                  <a:lnTo>
                    <a:pt x="170306" y="189864"/>
                  </a:lnTo>
                  <a:lnTo>
                    <a:pt x="154050" y="189864"/>
                  </a:lnTo>
                  <a:lnTo>
                    <a:pt x="154050" y="170814"/>
                  </a:lnTo>
                  <a:lnTo>
                    <a:pt x="151637" y="167639"/>
                  </a:lnTo>
                  <a:lnTo>
                    <a:pt x="135000" y="167639"/>
                  </a:lnTo>
                  <a:lnTo>
                    <a:pt x="135000" y="149732"/>
                  </a:lnTo>
                  <a:lnTo>
                    <a:pt x="132460" y="147066"/>
                  </a:lnTo>
                  <a:lnTo>
                    <a:pt x="115824" y="147066"/>
                  </a:lnTo>
                  <a:lnTo>
                    <a:pt x="115824" y="127635"/>
                  </a:lnTo>
                  <a:lnTo>
                    <a:pt x="132460" y="127635"/>
                  </a:lnTo>
                  <a:lnTo>
                    <a:pt x="135000" y="124968"/>
                  </a:lnTo>
                  <a:lnTo>
                    <a:pt x="135000" y="109728"/>
                  </a:lnTo>
                  <a:lnTo>
                    <a:pt x="151637" y="109728"/>
                  </a:lnTo>
                  <a:lnTo>
                    <a:pt x="154050" y="107568"/>
                  </a:lnTo>
                  <a:lnTo>
                    <a:pt x="154050" y="46355"/>
                  </a:lnTo>
                  <a:lnTo>
                    <a:pt x="151637" y="42163"/>
                  </a:lnTo>
                  <a:lnTo>
                    <a:pt x="135000" y="42163"/>
                  </a:lnTo>
                  <a:lnTo>
                    <a:pt x="135000" y="24256"/>
                  </a:lnTo>
                  <a:lnTo>
                    <a:pt x="132460" y="21589"/>
                  </a:lnTo>
                  <a:lnTo>
                    <a:pt x="115824" y="21589"/>
                  </a:lnTo>
                  <a:lnTo>
                    <a:pt x="115824" y="3682"/>
                  </a:lnTo>
                  <a:lnTo>
                    <a:pt x="11341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8" name="object 28"/>
            <p:cNvSpPr/>
            <p:nvPr/>
          </p:nvSpPr>
          <p:spPr>
            <a:xfrm>
              <a:off x="7548372" y="1952244"/>
              <a:ext cx="173355" cy="360680"/>
            </a:xfrm>
            <a:custGeom>
              <a:avLst/>
              <a:gdLst/>
              <a:ahLst/>
              <a:cxnLst/>
              <a:rect l="l" t="t" r="r" b="b"/>
              <a:pathLst>
                <a:path w="173354" h="360680">
                  <a:moveTo>
                    <a:pt x="57911" y="0"/>
                  </a:moveTo>
                  <a:lnTo>
                    <a:pt x="113410" y="0"/>
                  </a:lnTo>
                  <a:lnTo>
                    <a:pt x="115824" y="3682"/>
                  </a:lnTo>
                  <a:lnTo>
                    <a:pt x="115824" y="21589"/>
                  </a:lnTo>
                  <a:lnTo>
                    <a:pt x="132460" y="21589"/>
                  </a:lnTo>
                  <a:lnTo>
                    <a:pt x="135000" y="24256"/>
                  </a:lnTo>
                  <a:lnTo>
                    <a:pt x="135000" y="42163"/>
                  </a:lnTo>
                  <a:lnTo>
                    <a:pt x="151637" y="42163"/>
                  </a:lnTo>
                  <a:lnTo>
                    <a:pt x="154050" y="46355"/>
                  </a:lnTo>
                  <a:lnTo>
                    <a:pt x="154050" y="107568"/>
                  </a:lnTo>
                  <a:lnTo>
                    <a:pt x="151637" y="109728"/>
                  </a:lnTo>
                  <a:lnTo>
                    <a:pt x="135000" y="109728"/>
                  </a:lnTo>
                  <a:lnTo>
                    <a:pt x="135000" y="124968"/>
                  </a:lnTo>
                  <a:lnTo>
                    <a:pt x="132460" y="127635"/>
                  </a:lnTo>
                  <a:lnTo>
                    <a:pt x="115824" y="127635"/>
                  </a:lnTo>
                  <a:lnTo>
                    <a:pt x="115824" y="147066"/>
                  </a:lnTo>
                  <a:lnTo>
                    <a:pt x="132460" y="147066"/>
                  </a:lnTo>
                  <a:lnTo>
                    <a:pt x="135000" y="149732"/>
                  </a:lnTo>
                  <a:lnTo>
                    <a:pt x="135000" y="167639"/>
                  </a:lnTo>
                  <a:lnTo>
                    <a:pt x="151637" y="167639"/>
                  </a:lnTo>
                  <a:lnTo>
                    <a:pt x="154050" y="170814"/>
                  </a:lnTo>
                  <a:lnTo>
                    <a:pt x="154050" y="189864"/>
                  </a:lnTo>
                  <a:lnTo>
                    <a:pt x="170306" y="189864"/>
                  </a:lnTo>
                  <a:lnTo>
                    <a:pt x="173227" y="193039"/>
                  </a:lnTo>
                  <a:lnTo>
                    <a:pt x="173227" y="275208"/>
                  </a:lnTo>
                  <a:lnTo>
                    <a:pt x="170306" y="277875"/>
                  </a:lnTo>
                  <a:lnTo>
                    <a:pt x="154050" y="277875"/>
                  </a:lnTo>
                  <a:lnTo>
                    <a:pt x="154050" y="315341"/>
                  </a:lnTo>
                  <a:lnTo>
                    <a:pt x="151637" y="318516"/>
                  </a:lnTo>
                  <a:lnTo>
                    <a:pt x="135000" y="318516"/>
                  </a:lnTo>
                  <a:lnTo>
                    <a:pt x="135000" y="336423"/>
                  </a:lnTo>
                  <a:lnTo>
                    <a:pt x="132460" y="340106"/>
                  </a:lnTo>
                  <a:lnTo>
                    <a:pt x="96647" y="340106"/>
                  </a:lnTo>
                  <a:lnTo>
                    <a:pt x="96647" y="358013"/>
                  </a:lnTo>
                  <a:lnTo>
                    <a:pt x="93725" y="360680"/>
                  </a:lnTo>
                  <a:lnTo>
                    <a:pt x="22605" y="360680"/>
                  </a:lnTo>
                  <a:lnTo>
                    <a:pt x="18669" y="358013"/>
                  </a:lnTo>
                  <a:lnTo>
                    <a:pt x="18669" y="340106"/>
                  </a:lnTo>
                  <a:lnTo>
                    <a:pt x="1904" y="340106"/>
                  </a:lnTo>
                  <a:lnTo>
                    <a:pt x="0" y="336423"/>
                  </a:lnTo>
                  <a:lnTo>
                    <a:pt x="0" y="297433"/>
                  </a:lnTo>
                  <a:lnTo>
                    <a:pt x="1904" y="293116"/>
                  </a:lnTo>
                  <a:lnTo>
                    <a:pt x="38734" y="293116"/>
                  </a:lnTo>
                  <a:lnTo>
                    <a:pt x="41655" y="297433"/>
                  </a:lnTo>
                  <a:lnTo>
                    <a:pt x="41655" y="315341"/>
                  </a:lnTo>
                  <a:lnTo>
                    <a:pt x="55499" y="315341"/>
                  </a:lnTo>
                  <a:lnTo>
                    <a:pt x="57911" y="318516"/>
                  </a:lnTo>
                  <a:lnTo>
                    <a:pt x="57911" y="336423"/>
                  </a:lnTo>
                  <a:lnTo>
                    <a:pt x="93725" y="336423"/>
                  </a:lnTo>
                  <a:lnTo>
                    <a:pt x="93725" y="318516"/>
                  </a:lnTo>
                  <a:lnTo>
                    <a:pt x="96647" y="315341"/>
                  </a:lnTo>
                  <a:lnTo>
                    <a:pt x="113410" y="315341"/>
                  </a:lnTo>
                  <a:lnTo>
                    <a:pt x="113410" y="297433"/>
                  </a:lnTo>
                  <a:lnTo>
                    <a:pt x="115824" y="293116"/>
                  </a:lnTo>
                  <a:lnTo>
                    <a:pt x="132460" y="293116"/>
                  </a:lnTo>
                  <a:lnTo>
                    <a:pt x="132460" y="213487"/>
                  </a:lnTo>
                  <a:lnTo>
                    <a:pt x="115824" y="213487"/>
                  </a:lnTo>
                  <a:lnTo>
                    <a:pt x="113410" y="210947"/>
                  </a:lnTo>
                  <a:lnTo>
                    <a:pt x="113410" y="193039"/>
                  </a:lnTo>
                  <a:lnTo>
                    <a:pt x="96647" y="193039"/>
                  </a:lnTo>
                  <a:lnTo>
                    <a:pt x="93725" y="189864"/>
                  </a:lnTo>
                  <a:lnTo>
                    <a:pt x="93725" y="170814"/>
                  </a:lnTo>
                  <a:lnTo>
                    <a:pt x="57911" y="170814"/>
                  </a:lnTo>
                  <a:lnTo>
                    <a:pt x="55499" y="167639"/>
                  </a:lnTo>
                  <a:lnTo>
                    <a:pt x="55499" y="149732"/>
                  </a:lnTo>
                  <a:lnTo>
                    <a:pt x="57911" y="147066"/>
                  </a:lnTo>
                  <a:lnTo>
                    <a:pt x="74549" y="147066"/>
                  </a:lnTo>
                  <a:lnTo>
                    <a:pt x="74549" y="127635"/>
                  </a:lnTo>
                  <a:lnTo>
                    <a:pt x="77597" y="124968"/>
                  </a:lnTo>
                  <a:lnTo>
                    <a:pt x="93725" y="124968"/>
                  </a:lnTo>
                  <a:lnTo>
                    <a:pt x="93725" y="109728"/>
                  </a:lnTo>
                  <a:lnTo>
                    <a:pt x="96647" y="107568"/>
                  </a:lnTo>
                  <a:lnTo>
                    <a:pt x="113410" y="107568"/>
                  </a:lnTo>
                  <a:lnTo>
                    <a:pt x="113410" y="67437"/>
                  </a:lnTo>
                  <a:lnTo>
                    <a:pt x="96647" y="67437"/>
                  </a:lnTo>
                  <a:lnTo>
                    <a:pt x="93725" y="64388"/>
                  </a:lnTo>
                  <a:lnTo>
                    <a:pt x="93725" y="46355"/>
                  </a:lnTo>
                  <a:lnTo>
                    <a:pt x="41655" y="46355"/>
                  </a:lnTo>
                  <a:lnTo>
                    <a:pt x="41655" y="64388"/>
                  </a:lnTo>
                  <a:lnTo>
                    <a:pt x="38734" y="67437"/>
                  </a:lnTo>
                  <a:lnTo>
                    <a:pt x="22605" y="67437"/>
                  </a:lnTo>
                  <a:lnTo>
                    <a:pt x="22605" y="107568"/>
                  </a:lnTo>
                  <a:lnTo>
                    <a:pt x="18669" y="109728"/>
                  </a:lnTo>
                  <a:lnTo>
                    <a:pt x="1904" y="109728"/>
                  </a:lnTo>
                  <a:lnTo>
                    <a:pt x="0" y="107568"/>
                  </a:lnTo>
                  <a:lnTo>
                    <a:pt x="0" y="67437"/>
                  </a:lnTo>
                  <a:lnTo>
                    <a:pt x="1904" y="64388"/>
                  </a:lnTo>
                  <a:lnTo>
                    <a:pt x="18669" y="64388"/>
                  </a:lnTo>
                  <a:lnTo>
                    <a:pt x="18669" y="24256"/>
                  </a:lnTo>
                  <a:lnTo>
                    <a:pt x="22605" y="21589"/>
                  </a:lnTo>
                  <a:lnTo>
                    <a:pt x="55499" y="21589"/>
                  </a:lnTo>
                  <a:lnTo>
                    <a:pt x="55499" y="3682"/>
                  </a:lnTo>
                  <a:lnTo>
                    <a:pt x="57911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9" name="object 29"/>
            <p:cNvSpPr/>
            <p:nvPr/>
          </p:nvSpPr>
          <p:spPr>
            <a:xfrm>
              <a:off x="3314700" y="3415284"/>
              <a:ext cx="397510" cy="356235"/>
            </a:xfrm>
            <a:custGeom>
              <a:avLst/>
              <a:gdLst/>
              <a:ahLst/>
              <a:cxnLst/>
              <a:rect l="l" t="t" r="r" b="b"/>
              <a:pathLst>
                <a:path w="397510" h="356235">
                  <a:moveTo>
                    <a:pt x="394335" y="0"/>
                  </a:moveTo>
                  <a:lnTo>
                    <a:pt x="303784" y="0"/>
                  </a:lnTo>
                  <a:lnTo>
                    <a:pt x="300736" y="3683"/>
                  </a:lnTo>
                  <a:lnTo>
                    <a:pt x="300736" y="41656"/>
                  </a:lnTo>
                  <a:lnTo>
                    <a:pt x="284988" y="41656"/>
                  </a:lnTo>
                  <a:lnTo>
                    <a:pt x="281939" y="45847"/>
                  </a:lnTo>
                  <a:lnTo>
                    <a:pt x="281939" y="84455"/>
                  </a:lnTo>
                  <a:lnTo>
                    <a:pt x="265175" y="84455"/>
                  </a:lnTo>
                  <a:lnTo>
                    <a:pt x="262763" y="88138"/>
                  </a:lnTo>
                  <a:lnTo>
                    <a:pt x="262763" y="145415"/>
                  </a:lnTo>
                  <a:lnTo>
                    <a:pt x="246379" y="145415"/>
                  </a:lnTo>
                  <a:lnTo>
                    <a:pt x="243839" y="148082"/>
                  </a:lnTo>
                  <a:lnTo>
                    <a:pt x="243839" y="187198"/>
                  </a:lnTo>
                  <a:lnTo>
                    <a:pt x="227584" y="187198"/>
                  </a:lnTo>
                  <a:lnTo>
                    <a:pt x="225044" y="190246"/>
                  </a:lnTo>
                  <a:lnTo>
                    <a:pt x="225044" y="250317"/>
                  </a:lnTo>
                  <a:lnTo>
                    <a:pt x="207772" y="250317"/>
                  </a:lnTo>
                  <a:lnTo>
                    <a:pt x="205359" y="252349"/>
                  </a:lnTo>
                  <a:lnTo>
                    <a:pt x="205359" y="289306"/>
                  </a:lnTo>
                  <a:lnTo>
                    <a:pt x="191897" y="289306"/>
                  </a:lnTo>
                  <a:lnTo>
                    <a:pt x="191897" y="252349"/>
                  </a:lnTo>
                  <a:lnTo>
                    <a:pt x="188975" y="250317"/>
                  </a:lnTo>
                  <a:lnTo>
                    <a:pt x="173100" y="250317"/>
                  </a:lnTo>
                  <a:lnTo>
                    <a:pt x="173100" y="210693"/>
                  </a:lnTo>
                  <a:lnTo>
                    <a:pt x="170179" y="208026"/>
                  </a:lnTo>
                  <a:lnTo>
                    <a:pt x="153415" y="208026"/>
                  </a:lnTo>
                  <a:lnTo>
                    <a:pt x="153415" y="168910"/>
                  </a:lnTo>
                  <a:lnTo>
                    <a:pt x="150875" y="165227"/>
                  </a:lnTo>
                  <a:lnTo>
                    <a:pt x="134620" y="165227"/>
                  </a:lnTo>
                  <a:lnTo>
                    <a:pt x="134620" y="126111"/>
                  </a:lnTo>
                  <a:lnTo>
                    <a:pt x="131063" y="123571"/>
                  </a:lnTo>
                  <a:lnTo>
                    <a:pt x="114808" y="123571"/>
                  </a:lnTo>
                  <a:lnTo>
                    <a:pt x="114808" y="88138"/>
                  </a:lnTo>
                  <a:lnTo>
                    <a:pt x="112267" y="84455"/>
                  </a:lnTo>
                  <a:lnTo>
                    <a:pt x="96012" y="84455"/>
                  </a:lnTo>
                  <a:lnTo>
                    <a:pt x="96012" y="45847"/>
                  </a:lnTo>
                  <a:lnTo>
                    <a:pt x="92455" y="41656"/>
                  </a:lnTo>
                  <a:lnTo>
                    <a:pt x="76708" y="41656"/>
                  </a:lnTo>
                  <a:lnTo>
                    <a:pt x="76708" y="3683"/>
                  </a:lnTo>
                  <a:lnTo>
                    <a:pt x="73660" y="0"/>
                  </a:lnTo>
                  <a:lnTo>
                    <a:pt x="2032" y="0"/>
                  </a:lnTo>
                  <a:lnTo>
                    <a:pt x="0" y="3683"/>
                  </a:lnTo>
                  <a:lnTo>
                    <a:pt x="0" y="21336"/>
                  </a:lnTo>
                  <a:lnTo>
                    <a:pt x="2032" y="24003"/>
                  </a:lnTo>
                  <a:lnTo>
                    <a:pt x="38100" y="24003"/>
                  </a:lnTo>
                  <a:lnTo>
                    <a:pt x="38100" y="332105"/>
                  </a:lnTo>
                  <a:lnTo>
                    <a:pt x="2032" y="332105"/>
                  </a:lnTo>
                  <a:lnTo>
                    <a:pt x="0" y="336296"/>
                  </a:lnTo>
                  <a:lnTo>
                    <a:pt x="0" y="353441"/>
                  </a:lnTo>
                  <a:lnTo>
                    <a:pt x="2032" y="356108"/>
                  </a:lnTo>
                  <a:lnTo>
                    <a:pt x="92455" y="356108"/>
                  </a:lnTo>
                  <a:lnTo>
                    <a:pt x="96012" y="353441"/>
                  </a:lnTo>
                  <a:lnTo>
                    <a:pt x="96012" y="336296"/>
                  </a:lnTo>
                  <a:lnTo>
                    <a:pt x="92455" y="332105"/>
                  </a:lnTo>
                  <a:lnTo>
                    <a:pt x="56896" y="332105"/>
                  </a:lnTo>
                  <a:lnTo>
                    <a:pt x="56896" y="88138"/>
                  </a:lnTo>
                  <a:lnTo>
                    <a:pt x="73660" y="88138"/>
                  </a:lnTo>
                  <a:lnTo>
                    <a:pt x="73660" y="123571"/>
                  </a:lnTo>
                  <a:lnTo>
                    <a:pt x="76708" y="126111"/>
                  </a:lnTo>
                  <a:lnTo>
                    <a:pt x="92455" y="126111"/>
                  </a:lnTo>
                  <a:lnTo>
                    <a:pt x="92455" y="165227"/>
                  </a:lnTo>
                  <a:lnTo>
                    <a:pt x="96012" y="168910"/>
                  </a:lnTo>
                  <a:lnTo>
                    <a:pt x="112267" y="168910"/>
                  </a:lnTo>
                  <a:lnTo>
                    <a:pt x="112267" y="208026"/>
                  </a:lnTo>
                  <a:lnTo>
                    <a:pt x="114808" y="210693"/>
                  </a:lnTo>
                  <a:lnTo>
                    <a:pt x="131063" y="210693"/>
                  </a:lnTo>
                  <a:lnTo>
                    <a:pt x="131063" y="250317"/>
                  </a:lnTo>
                  <a:lnTo>
                    <a:pt x="134620" y="252349"/>
                  </a:lnTo>
                  <a:lnTo>
                    <a:pt x="150875" y="252349"/>
                  </a:lnTo>
                  <a:lnTo>
                    <a:pt x="150875" y="289306"/>
                  </a:lnTo>
                  <a:lnTo>
                    <a:pt x="153415" y="293497"/>
                  </a:lnTo>
                  <a:lnTo>
                    <a:pt x="170179" y="293497"/>
                  </a:lnTo>
                  <a:lnTo>
                    <a:pt x="170179" y="332105"/>
                  </a:lnTo>
                  <a:lnTo>
                    <a:pt x="173100" y="336296"/>
                  </a:lnTo>
                  <a:lnTo>
                    <a:pt x="188975" y="336296"/>
                  </a:lnTo>
                  <a:lnTo>
                    <a:pt x="188975" y="353441"/>
                  </a:lnTo>
                  <a:lnTo>
                    <a:pt x="191897" y="356108"/>
                  </a:lnTo>
                  <a:lnTo>
                    <a:pt x="205359" y="356108"/>
                  </a:lnTo>
                  <a:lnTo>
                    <a:pt x="207772" y="353441"/>
                  </a:lnTo>
                  <a:lnTo>
                    <a:pt x="207772" y="293497"/>
                  </a:lnTo>
                  <a:lnTo>
                    <a:pt x="225044" y="293497"/>
                  </a:lnTo>
                  <a:lnTo>
                    <a:pt x="227584" y="289306"/>
                  </a:lnTo>
                  <a:lnTo>
                    <a:pt x="227584" y="252349"/>
                  </a:lnTo>
                  <a:lnTo>
                    <a:pt x="243839" y="252349"/>
                  </a:lnTo>
                  <a:lnTo>
                    <a:pt x="246379" y="250317"/>
                  </a:lnTo>
                  <a:lnTo>
                    <a:pt x="246379" y="190246"/>
                  </a:lnTo>
                  <a:lnTo>
                    <a:pt x="262763" y="190246"/>
                  </a:lnTo>
                  <a:lnTo>
                    <a:pt x="265175" y="187198"/>
                  </a:lnTo>
                  <a:lnTo>
                    <a:pt x="265175" y="148082"/>
                  </a:lnTo>
                  <a:lnTo>
                    <a:pt x="281939" y="148082"/>
                  </a:lnTo>
                  <a:lnTo>
                    <a:pt x="284988" y="145415"/>
                  </a:lnTo>
                  <a:lnTo>
                    <a:pt x="284988" y="88138"/>
                  </a:lnTo>
                  <a:lnTo>
                    <a:pt x="300736" y="88138"/>
                  </a:lnTo>
                  <a:lnTo>
                    <a:pt x="303784" y="84455"/>
                  </a:lnTo>
                  <a:lnTo>
                    <a:pt x="303784" y="45847"/>
                  </a:lnTo>
                  <a:lnTo>
                    <a:pt x="320548" y="45847"/>
                  </a:lnTo>
                  <a:lnTo>
                    <a:pt x="320548" y="332105"/>
                  </a:lnTo>
                  <a:lnTo>
                    <a:pt x="284988" y="332105"/>
                  </a:lnTo>
                  <a:lnTo>
                    <a:pt x="281939" y="336296"/>
                  </a:lnTo>
                  <a:lnTo>
                    <a:pt x="281939" y="353441"/>
                  </a:lnTo>
                  <a:lnTo>
                    <a:pt x="284988" y="356108"/>
                  </a:lnTo>
                  <a:lnTo>
                    <a:pt x="394335" y="356108"/>
                  </a:lnTo>
                  <a:lnTo>
                    <a:pt x="397255" y="353441"/>
                  </a:lnTo>
                  <a:lnTo>
                    <a:pt x="397255" y="336296"/>
                  </a:lnTo>
                  <a:lnTo>
                    <a:pt x="394335" y="332105"/>
                  </a:lnTo>
                  <a:lnTo>
                    <a:pt x="358648" y="332105"/>
                  </a:lnTo>
                  <a:lnTo>
                    <a:pt x="358648" y="24003"/>
                  </a:lnTo>
                  <a:lnTo>
                    <a:pt x="394335" y="24003"/>
                  </a:lnTo>
                  <a:lnTo>
                    <a:pt x="397255" y="21336"/>
                  </a:lnTo>
                  <a:lnTo>
                    <a:pt x="397255" y="3683"/>
                  </a:lnTo>
                  <a:lnTo>
                    <a:pt x="394335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0" name="object 30"/>
            <p:cNvSpPr/>
            <p:nvPr/>
          </p:nvSpPr>
          <p:spPr>
            <a:xfrm>
              <a:off x="3314700" y="3415284"/>
              <a:ext cx="397510" cy="356235"/>
            </a:xfrm>
            <a:custGeom>
              <a:avLst/>
              <a:gdLst/>
              <a:ahLst/>
              <a:cxnLst/>
              <a:rect l="l" t="t" r="r" b="b"/>
              <a:pathLst>
                <a:path w="397510" h="356235">
                  <a:moveTo>
                    <a:pt x="2032" y="0"/>
                  </a:moveTo>
                  <a:lnTo>
                    <a:pt x="73660" y="0"/>
                  </a:lnTo>
                  <a:lnTo>
                    <a:pt x="76708" y="3683"/>
                  </a:lnTo>
                  <a:lnTo>
                    <a:pt x="76708" y="41656"/>
                  </a:lnTo>
                  <a:lnTo>
                    <a:pt x="92455" y="41656"/>
                  </a:lnTo>
                  <a:lnTo>
                    <a:pt x="96012" y="45847"/>
                  </a:lnTo>
                  <a:lnTo>
                    <a:pt x="96012" y="84455"/>
                  </a:lnTo>
                  <a:lnTo>
                    <a:pt x="112267" y="84455"/>
                  </a:lnTo>
                  <a:lnTo>
                    <a:pt x="114808" y="88138"/>
                  </a:lnTo>
                  <a:lnTo>
                    <a:pt x="114808" y="123571"/>
                  </a:lnTo>
                  <a:lnTo>
                    <a:pt x="131063" y="123571"/>
                  </a:lnTo>
                  <a:lnTo>
                    <a:pt x="134620" y="126111"/>
                  </a:lnTo>
                  <a:lnTo>
                    <a:pt x="134620" y="165227"/>
                  </a:lnTo>
                  <a:lnTo>
                    <a:pt x="150875" y="165227"/>
                  </a:lnTo>
                  <a:lnTo>
                    <a:pt x="153415" y="168910"/>
                  </a:lnTo>
                  <a:lnTo>
                    <a:pt x="153415" y="208026"/>
                  </a:lnTo>
                  <a:lnTo>
                    <a:pt x="170179" y="208026"/>
                  </a:lnTo>
                  <a:lnTo>
                    <a:pt x="173100" y="210693"/>
                  </a:lnTo>
                  <a:lnTo>
                    <a:pt x="173100" y="250317"/>
                  </a:lnTo>
                  <a:lnTo>
                    <a:pt x="188975" y="250317"/>
                  </a:lnTo>
                  <a:lnTo>
                    <a:pt x="191897" y="252349"/>
                  </a:lnTo>
                  <a:lnTo>
                    <a:pt x="191897" y="289306"/>
                  </a:lnTo>
                  <a:lnTo>
                    <a:pt x="205359" y="289306"/>
                  </a:lnTo>
                  <a:lnTo>
                    <a:pt x="205359" y="252349"/>
                  </a:lnTo>
                  <a:lnTo>
                    <a:pt x="207772" y="250317"/>
                  </a:lnTo>
                  <a:lnTo>
                    <a:pt x="225044" y="250317"/>
                  </a:lnTo>
                  <a:lnTo>
                    <a:pt x="225044" y="190246"/>
                  </a:lnTo>
                  <a:lnTo>
                    <a:pt x="227584" y="187198"/>
                  </a:lnTo>
                  <a:lnTo>
                    <a:pt x="243839" y="187198"/>
                  </a:lnTo>
                  <a:lnTo>
                    <a:pt x="243839" y="148082"/>
                  </a:lnTo>
                  <a:lnTo>
                    <a:pt x="246379" y="145415"/>
                  </a:lnTo>
                  <a:lnTo>
                    <a:pt x="262763" y="145415"/>
                  </a:lnTo>
                  <a:lnTo>
                    <a:pt x="262763" y="88138"/>
                  </a:lnTo>
                  <a:lnTo>
                    <a:pt x="265175" y="84455"/>
                  </a:lnTo>
                  <a:lnTo>
                    <a:pt x="281939" y="84455"/>
                  </a:lnTo>
                  <a:lnTo>
                    <a:pt x="281939" y="45847"/>
                  </a:lnTo>
                  <a:lnTo>
                    <a:pt x="284988" y="41656"/>
                  </a:lnTo>
                  <a:lnTo>
                    <a:pt x="300736" y="41656"/>
                  </a:lnTo>
                  <a:lnTo>
                    <a:pt x="300736" y="3683"/>
                  </a:lnTo>
                  <a:lnTo>
                    <a:pt x="303784" y="0"/>
                  </a:lnTo>
                  <a:lnTo>
                    <a:pt x="394335" y="0"/>
                  </a:lnTo>
                  <a:lnTo>
                    <a:pt x="397255" y="3683"/>
                  </a:lnTo>
                  <a:lnTo>
                    <a:pt x="397255" y="21336"/>
                  </a:lnTo>
                  <a:lnTo>
                    <a:pt x="394335" y="24003"/>
                  </a:lnTo>
                  <a:lnTo>
                    <a:pt x="358648" y="24003"/>
                  </a:lnTo>
                  <a:lnTo>
                    <a:pt x="358648" y="332105"/>
                  </a:lnTo>
                  <a:lnTo>
                    <a:pt x="394335" y="332105"/>
                  </a:lnTo>
                  <a:lnTo>
                    <a:pt x="397255" y="336296"/>
                  </a:lnTo>
                  <a:lnTo>
                    <a:pt x="397255" y="353441"/>
                  </a:lnTo>
                  <a:lnTo>
                    <a:pt x="394335" y="356108"/>
                  </a:lnTo>
                  <a:lnTo>
                    <a:pt x="284988" y="356108"/>
                  </a:lnTo>
                  <a:lnTo>
                    <a:pt x="281939" y="353441"/>
                  </a:lnTo>
                  <a:lnTo>
                    <a:pt x="281939" y="336296"/>
                  </a:lnTo>
                  <a:lnTo>
                    <a:pt x="284988" y="332105"/>
                  </a:lnTo>
                  <a:lnTo>
                    <a:pt x="320548" y="332105"/>
                  </a:lnTo>
                  <a:lnTo>
                    <a:pt x="320548" y="45847"/>
                  </a:lnTo>
                  <a:lnTo>
                    <a:pt x="303784" y="45847"/>
                  </a:lnTo>
                  <a:lnTo>
                    <a:pt x="303784" y="84455"/>
                  </a:lnTo>
                  <a:lnTo>
                    <a:pt x="300736" y="88138"/>
                  </a:lnTo>
                  <a:lnTo>
                    <a:pt x="284988" y="88138"/>
                  </a:lnTo>
                  <a:lnTo>
                    <a:pt x="284988" y="145415"/>
                  </a:lnTo>
                  <a:lnTo>
                    <a:pt x="281939" y="148082"/>
                  </a:lnTo>
                  <a:lnTo>
                    <a:pt x="265175" y="148082"/>
                  </a:lnTo>
                  <a:lnTo>
                    <a:pt x="265175" y="187198"/>
                  </a:lnTo>
                  <a:lnTo>
                    <a:pt x="262763" y="190246"/>
                  </a:lnTo>
                  <a:lnTo>
                    <a:pt x="246379" y="190246"/>
                  </a:lnTo>
                  <a:lnTo>
                    <a:pt x="246379" y="250317"/>
                  </a:lnTo>
                  <a:lnTo>
                    <a:pt x="243839" y="252349"/>
                  </a:lnTo>
                  <a:lnTo>
                    <a:pt x="227584" y="252349"/>
                  </a:lnTo>
                  <a:lnTo>
                    <a:pt x="227584" y="289306"/>
                  </a:lnTo>
                  <a:lnTo>
                    <a:pt x="225044" y="293497"/>
                  </a:lnTo>
                  <a:lnTo>
                    <a:pt x="207772" y="293497"/>
                  </a:lnTo>
                  <a:lnTo>
                    <a:pt x="207772" y="353441"/>
                  </a:lnTo>
                  <a:lnTo>
                    <a:pt x="205359" y="356108"/>
                  </a:lnTo>
                  <a:lnTo>
                    <a:pt x="191897" y="356108"/>
                  </a:lnTo>
                  <a:lnTo>
                    <a:pt x="188975" y="353441"/>
                  </a:lnTo>
                  <a:lnTo>
                    <a:pt x="188975" y="336296"/>
                  </a:lnTo>
                  <a:lnTo>
                    <a:pt x="173100" y="336296"/>
                  </a:lnTo>
                  <a:lnTo>
                    <a:pt x="170179" y="332105"/>
                  </a:lnTo>
                  <a:lnTo>
                    <a:pt x="170179" y="293497"/>
                  </a:lnTo>
                  <a:lnTo>
                    <a:pt x="153415" y="293497"/>
                  </a:lnTo>
                  <a:lnTo>
                    <a:pt x="150875" y="289306"/>
                  </a:lnTo>
                  <a:lnTo>
                    <a:pt x="150875" y="252349"/>
                  </a:lnTo>
                  <a:lnTo>
                    <a:pt x="134620" y="252349"/>
                  </a:lnTo>
                  <a:lnTo>
                    <a:pt x="131063" y="250317"/>
                  </a:lnTo>
                  <a:lnTo>
                    <a:pt x="131063" y="210693"/>
                  </a:lnTo>
                  <a:lnTo>
                    <a:pt x="114808" y="210693"/>
                  </a:lnTo>
                  <a:lnTo>
                    <a:pt x="112267" y="208026"/>
                  </a:lnTo>
                  <a:lnTo>
                    <a:pt x="112267" y="168910"/>
                  </a:lnTo>
                  <a:lnTo>
                    <a:pt x="96012" y="168910"/>
                  </a:lnTo>
                  <a:lnTo>
                    <a:pt x="92455" y="165227"/>
                  </a:lnTo>
                  <a:lnTo>
                    <a:pt x="92455" y="126111"/>
                  </a:lnTo>
                  <a:lnTo>
                    <a:pt x="76708" y="126111"/>
                  </a:lnTo>
                  <a:lnTo>
                    <a:pt x="73660" y="123571"/>
                  </a:lnTo>
                  <a:lnTo>
                    <a:pt x="73660" y="88138"/>
                  </a:lnTo>
                  <a:lnTo>
                    <a:pt x="56896" y="88138"/>
                  </a:lnTo>
                  <a:lnTo>
                    <a:pt x="56896" y="332105"/>
                  </a:lnTo>
                  <a:lnTo>
                    <a:pt x="92455" y="332105"/>
                  </a:lnTo>
                  <a:lnTo>
                    <a:pt x="96012" y="336296"/>
                  </a:lnTo>
                  <a:lnTo>
                    <a:pt x="96012" y="353441"/>
                  </a:lnTo>
                  <a:lnTo>
                    <a:pt x="92455" y="356108"/>
                  </a:lnTo>
                  <a:lnTo>
                    <a:pt x="2032" y="356108"/>
                  </a:lnTo>
                  <a:lnTo>
                    <a:pt x="0" y="353441"/>
                  </a:lnTo>
                  <a:lnTo>
                    <a:pt x="0" y="336296"/>
                  </a:lnTo>
                  <a:lnTo>
                    <a:pt x="2032" y="332105"/>
                  </a:lnTo>
                  <a:lnTo>
                    <a:pt x="38100" y="332105"/>
                  </a:lnTo>
                  <a:lnTo>
                    <a:pt x="38100" y="24003"/>
                  </a:lnTo>
                  <a:lnTo>
                    <a:pt x="2032" y="24003"/>
                  </a:lnTo>
                  <a:lnTo>
                    <a:pt x="0" y="21336"/>
                  </a:lnTo>
                  <a:lnTo>
                    <a:pt x="0" y="3683"/>
                  </a:lnTo>
                  <a:lnTo>
                    <a:pt x="2032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1" name="object 31"/>
            <p:cNvSpPr/>
            <p:nvPr/>
          </p:nvSpPr>
          <p:spPr>
            <a:xfrm>
              <a:off x="3739896" y="3415284"/>
              <a:ext cx="182880" cy="356235"/>
            </a:xfrm>
            <a:custGeom>
              <a:avLst/>
              <a:gdLst/>
              <a:ahLst/>
              <a:cxnLst/>
              <a:rect l="l" t="t" r="r" b="b"/>
              <a:pathLst>
                <a:path w="182879" h="356235">
                  <a:moveTo>
                    <a:pt x="145414" y="274193"/>
                  </a:moveTo>
                  <a:lnTo>
                    <a:pt x="106552" y="274193"/>
                  </a:lnTo>
                  <a:lnTo>
                    <a:pt x="106552" y="353441"/>
                  </a:lnTo>
                  <a:lnTo>
                    <a:pt x="108965" y="356108"/>
                  </a:lnTo>
                  <a:lnTo>
                    <a:pt x="143001" y="356108"/>
                  </a:lnTo>
                  <a:lnTo>
                    <a:pt x="145414" y="353441"/>
                  </a:lnTo>
                  <a:lnTo>
                    <a:pt x="145414" y="274193"/>
                  </a:lnTo>
                  <a:close/>
                </a:path>
                <a:path w="182879" h="356235">
                  <a:moveTo>
                    <a:pt x="143001" y="0"/>
                  </a:moveTo>
                  <a:lnTo>
                    <a:pt x="108965" y="0"/>
                  </a:lnTo>
                  <a:lnTo>
                    <a:pt x="106552" y="3683"/>
                  </a:lnTo>
                  <a:lnTo>
                    <a:pt x="106552" y="21336"/>
                  </a:lnTo>
                  <a:lnTo>
                    <a:pt x="90296" y="21336"/>
                  </a:lnTo>
                  <a:lnTo>
                    <a:pt x="88264" y="24003"/>
                  </a:lnTo>
                  <a:lnTo>
                    <a:pt x="88264" y="63627"/>
                  </a:lnTo>
                  <a:lnTo>
                    <a:pt x="72898" y="63627"/>
                  </a:lnTo>
                  <a:lnTo>
                    <a:pt x="70612" y="66675"/>
                  </a:lnTo>
                  <a:lnTo>
                    <a:pt x="70612" y="84455"/>
                  </a:lnTo>
                  <a:lnTo>
                    <a:pt x="54737" y="84455"/>
                  </a:lnTo>
                  <a:lnTo>
                    <a:pt x="52324" y="88138"/>
                  </a:lnTo>
                  <a:lnTo>
                    <a:pt x="52324" y="123571"/>
                  </a:lnTo>
                  <a:lnTo>
                    <a:pt x="39369" y="123571"/>
                  </a:lnTo>
                  <a:lnTo>
                    <a:pt x="35940" y="126111"/>
                  </a:lnTo>
                  <a:lnTo>
                    <a:pt x="35940" y="165227"/>
                  </a:lnTo>
                  <a:lnTo>
                    <a:pt x="20192" y="165227"/>
                  </a:lnTo>
                  <a:lnTo>
                    <a:pt x="17779" y="168910"/>
                  </a:lnTo>
                  <a:lnTo>
                    <a:pt x="17779" y="208026"/>
                  </a:lnTo>
                  <a:lnTo>
                    <a:pt x="1904" y="208026"/>
                  </a:lnTo>
                  <a:lnTo>
                    <a:pt x="0" y="210693"/>
                  </a:lnTo>
                  <a:lnTo>
                    <a:pt x="0" y="271653"/>
                  </a:lnTo>
                  <a:lnTo>
                    <a:pt x="1904" y="274193"/>
                  </a:lnTo>
                  <a:lnTo>
                    <a:pt x="179958" y="274193"/>
                  </a:lnTo>
                  <a:lnTo>
                    <a:pt x="182371" y="271653"/>
                  </a:lnTo>
                  <a:lnTo>
                    <a:pt x="182371" y="232537"/>
                  </a:lnTo>
                  <a:lnTo>
                    <a:pt x="179958" y="229870"/>
                  </a:lnTo>
                  <a:lnTo>
                    <a:pt x="39369" y="229870"/>
                  </a:lnTo>
                  <a:lnTo>
                    <a:pt x="39369" y="190246"/>
                  </a:lnTo>
                  <a:lnTo>
                    <a:pt x="52324" y="190246"/>
                  </a:lnTo>
                  <a:lnTo>
                    <a:pt x="54737" y="187198"/>
                  </a:lnTo>
                  <a:lnTo>
                    <a:pt x="54737" y="148082"/>
                  </a:lnTo>
                  <a:lnTo>
                    <a:pt x="70612" y="148082"/>
                  </a:lnTo>
                  <a:lnTo>
                    <a:pt x="72898" y="145415"/>
                  </a:lnTo>
                  <a:lnTo>
                    <a:pt x="72898" y="108458"/>
                  </a:lnTo>
                  <a:lnTo>
                    <a:pt x="88264" y="108458"/>
                  </a:lnTo>
                  <a:lnTo>
                    <a:pt x="90296" y="105791"/>
                  </a:lnTo>
                  <a:lnTo>
                    <a:pt x="90296" y="66675"/>
                  </a:lnTo>
                  <a:lnTo>
                    <a:pt x="145414" y="66675"/>
                  </a:lnTo>
                  <a:lnTo>
                    <a:pt x="145414" y="3683"/>
                  </a:lnTo>
                  <a:lnTo>
                    <a:pt x="143001" y="0"/>
                  </a:lnTo>
                  <a:close/>
                </a:path>
                <a:path w="182879" h="356235">
                  <a:moveTo>
                    <a:pt x="145414" y="66675"/>
                  </a:moveTo>
                  <a:lnTo>
                    <a:pt x="106552" y="66675"/>
                  </a:lnTo>
                  <a:lnTo>
                    <a:pt x="106552" y="229870"/>
                  </a:lnTo>
                  <a:lnTo>
                    <a:pt x="145414" y="229870"/>
                  </a:lnTo>
                  <a:lnTo>
                    <a:pt x="145414" y="66675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74694" y="3477387"/>
              <a:ext cx="76327" cy="172339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739896" y="3415284"/>
              <a:ext cx="182880" cy="356235"/>
            </a:xfrm>
            <a:custGeom>
              <a:avLst/>
              <a:gdLst/>
              <a:ahLst/>
              <a:cxnLst/>
              <a:rect l="l" t="t" r="r" b="b"/>
              <a:pathLst>
                <a:path w="182879" h="356235">
                  <a:moveTo>
                    <a:pt x="108965" y="0"/>
                  </a:moveTo>
                  <a:lnTo>
                    <a:pt x="143001" y="0"/>
                  </a:lnTo>
                  <a:lnTo>
                    <a:pt x="145414" y="3683"/>
                  </a:lnTo>
                  <a:lnTo>
                    <a:pt x="145414" y="229870"/>
                  </a:lnTo>
                  <a:lnTo>
                    <a:pt x="179958" y="229870"/>
                  </a:lnTo>
                  <a:lnTo>
                    <a:pt x="182371" y="232537"/>
                  </a:lnTo>
                  <a:lnTo>
                    <a:pt x="182371" y="271653"/>
                  </a:lnTo>
                  <a:lnTo>
                    <a:pt x="179958" y="274193"/>
                  </a:lnTo>
                  <a:lnTo>
                    <a:pt x="145414" y="274193"/>
                  </a:lnTo>
                  <a:lnTo>
                    <a:pt x="145414" y="353441"/>
                  </a:lnTo>
                  <a:lnTo>
                    <a:pt x="143001" y="356108"/>
                  </a:lnTo>
                  <a:lnTo>
                    <a:pt x="108965" y="356108"/>
                  </a:lnTo>
                  <a:lnTo>
                    <a:pt x="106552" y="353441"/>
                  </a:lnTo>
                  <a:lnTo>
                    <a:pt x="106552" y="274193"/>
                  </a:lnTo>
                  <a:lnTo>
                    <a:pt x="1904" y="274193"/>
                  </a:lnTo>
                  <a:lnTo>
                    <a:pt x="0" y="271653"/>
                  </a:lnTo>
                  <a:lnTo>
                    <a:pt x="0" y="210693"/>
                  </a:lnTo>
                  <a:lnTo>
                    <a:pt x="1904" y="208026"/>
                  </a:lnTo>
                  <a:lnTo>
                    <a:pt x="17779" y="208026"/>
                  </a:lnTo>
                  <a:lnTo>
                    <a:pt x="17779" y="168910"/>
                  </a:lnTo>
                  <a:lnTo>
                    <a:pt x="20192" y="165227"/>
                  </a:lnTo>
                  <a:lnTo>
                    <a:pt x="35940" y="165227"/>
                  </a:lnTo>
                  <a:lnTo>
                    <a:pt x="35940" y="126111"/>
                  </a:lnTo>
                  <a:lnTo>
                    <a:pt x="39369" y="123571"/>
                  </a:lnTo>
                  <a:lnTo>
                    <a:pt x="52324" y="123571"/>
                  </a:lnTo>
                  <a:lnTo>
                    <a:pt x="52324" y="88138"/>
                  </a:lnTo>
                  <a:lnTo>
                    <a:pt x="54737" y="84455"/>
                  </a:lnTo>
                  <a:lnTo>
                    <a:pt x="70612" y="84455"/>
                  </a:lnTo>
                  <a:lnTo>
                    <a:pt x="70612" y="66675"/>
                  </a:lnTo>
                  <a:lnTo>
                    <a:pt x="72898" y="63627"/>
                  </a:lnTo>
                  <a:lnTo>
                    <a:pt x="88264" y="63627"/>
                  </a:lnTo>
                  <a:lnTo>
                    <a:pt x="88264" y="24003"/>
                  </a:lnTo>
                  <a:lnTo>
                    <a:pt x="90296" y="21336"/>
                  </a:lnTo>
                  <a:lnTo>
                    <a:pt x="106552" y="21336"/>
                  </a:lnTo>
                  <a:lnTo>
                    <a:pt x="106552" y="3683"/>
                  </a:lnTo>
                  <a:lnTo>
                    <a:pt x="108965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4" name="object 34"/>
            <p:cNvSpPr/>
            <p:nvPr/>
          </p:nvSpPr>
          <p:spPr>
            <a:xfrm>
              <a:off x="5102352" y="3415284"/>
              <a:ext cx="393065" cy="356235"/>
            </a:xfrm>
            <a:custGeom>
              <a:avLst/>
              <a:gdLst/>
              <a:ahLst/>
              <a:cxnLst/>
              <a:rect l="l" t="t" r="r" b="b"/>
              <a:pathLst>
                <a:path w="393064" h="356235">
                  <a:moveTo>
                    <a:pt x="390271" y="0"/>
                  </a:moveTo>
                  <a:lnTo>
                    <a:pt x="300736" y="0"/>
                  </a:lnTo>
                  <a:lnTo>
                    <a:pt x="298196" y="3683"/>
                  </a:lnTo>
                  <a:lnTo>
                    <a:pt x="298196" y="41656"/>
                  </a:lnTo>
                  <a:lnTo>
                    <a:pt x="281939" y="41656"/>
                  </a:lnTo>
                  <a:lnTo>
                    <a:pt x="279526" y="45847"/>
                  </a:lnTo>
                  <a:lnTo>
                    <a:pt x="279526" y="84455"/>
                  </a:lnTo>
                  <a:lnTo>
                    <a:pt x="262763" y="84455"/>
                  </a:lnTo>
                  <a:lnTo>
                    <a:pt x="260350" y="88138"/>
                  </a:lnTo>
                  <a:lnTo>
                    <a:pt x="260350" y="145415"/>
                  </a:lnTo>
                  <a:lnTo>
                    <a:pt x="244094" y="145415"/>
                  </a:lnTo>
                  <a:lnTo>
                    <a:pt x="241681" y="148082"/>
                  </a:lnTo>
                  <a:lnTo>
                    <a:pt x="241681" y="187198"/>
                  </a:lnTo>
                  <a:lnTo>
                    <a:pt x="225425" y="187198"/>
                  </a:lnTo>
                  <a:lnTo>
                    <a:pt x="221996" y="190246"/>
                  </a:lnTo>
                  <a:lnTo>
                    <a:pt x="221996" y="250317"/>
                  </a:lnTo>
                  <a:lnTo>
                    <a:pt x="206248" y="250317"/>
                  </a:lnTo>
                  <a:lnTo>
                    <a:pt x="203200" y="252349"/>
                  </a:lnTo>
                  <a:lnTo>
                    <a:pt x="203200" y="289306"/>
                  </a:lnTo>
                  <a:lnTo>
                    <a:pt x="189992" y="289306"/>
                  </a:lnTo>
                  <a:lnTo>
                    <a:pt x="189992" y="252349"/>
                  </a:lnTo>
                  <a:lnTo>
                    <a:pt x="186944" y="250317"/>
                  </a:lnTo>
                  <a:lnTo>
                    <a:pt x="170814" y="250317"/>
                  </a:lnTo>
                  <a:lnTo>
                    <a:pt x="170814" y="210693"/>
                  </a:lnTo>
                  <a:lnTo>
                    <a:pt x="168275" y="208026"/>
                  </a:lnTo>
                  <a:lnTo>
                    <a:pt x="152019" y="208026"/>
                  </a:lnTo>
                  <a:lnTo>
                    <a:pt x="152019" y="168910"/>
                  </a:lnTo>
                  <a:lnTo>
                    <a:pt x="148589" y="165227"/>
                  </a:lnTo>
                  <a:lnTo>
                    <a:pt x="132334" y="165227"/>
                  </a:lnTo>
                  <a:lnTo>
                    <a:pt x="132334" y="126111"/>
                  </a:lnTo>
                  <a:lnTo>
                    <a:pt x="129921" y="123571"/>
                  </a:lnTo>
                  <a:lnTo>
                    <a:pt x="113664" y="123571"/>
                  </a:lnTo>
                  <a:lnTo>
                    <a:pt x="113664" y="88138"/>
                  </a:lnTo>
                  <a:lnTo>
                    <a:pt x="111251" y="84455"/>
                  </a:lnTo>
                  <a:lnTo>
                    <a:pt x="94487" y="84455"/>
                  </a:lnTo>
                  <a:lnTo>
                    <a:pt x="94487" y="45847"/>
                  </a:lnTo>
                  <a:lnTo>
                    <a:pt x="92075" y="41656"/>
                  </a:lnTo>
                  <a:lnTo>
                    <a:pt x="76326" y="41656"/>
                  </a:lnTo>
                  <a:lnTo>
                    <a:pt x="76326" y="3683"/>
                  </a:lnTo>
                  <a:lnTo>
                    <a:pt x="73278" y="0"/>
                  </a:lnTo>
                  <a:lnTo>
                    <a:pt x="2032" y="0"/>
                  </a:lnTo>
                  <a:lnTo>
                    <a:pt x="0" y="3683"/>
                  </a:lnTo>
                  <a:lnTo>
                    <a:pt x="0" y="21336"/>
                  </a:lnTo>
                  <a:lnTo>
                    <a:pt x="2032" y="24003"/>
                  </a:lnTo>
                  <a:lnTo>
                    <a:pt x="37846" y="24003"/>
                  </a:lnTo>
                  <a:lnTo>
                    <a:pt x="37846" y="332105"/>
                  </a:lnTo>
                  <a:lnTo>
                    <a:pt x="2032" y="332105"/>
                  </a:lnTo>
                  <a:lnTo>
                    <a:pt x="0" y="336296"/>
                  </a:lnTo>
                  <a:lnTo>
                    <a:pt x="0" y="353441"/>
                  </a:lnTo>
                  <a:lnTo>
                    <a:pt x="2032" y="356108"/>
                  </a:lnTo>
                  <a:lnTo>
                    <a:pt x="92075" y="356108"/>
                  </a:lnTo>
                  <a:lnTo>
                    <a:pt x="94487" y="353441"/>
                  </a:lnTo>
                  <a:lnTo>
                    <a:pt x="94487" y="336296"/>
                  </a:lnTo>
                  <a:lnTo>
                    <a:pt x="92075" y="332105"/>
                  </a:lnTo>
                  <a:lnTo>
                    <a:pt x="56642" y="332105"/>
                  </a:lnTo>
                  <a:lnTo>
                    <a:pt x="56642" y="88138"/>
                  </a:lnTo>
                  <a:lnTo>
                    <a:pt x="73278" y="88138"/>
                  </a:lnTo>
                  <a:lnTo>
                    <a:pt x="73278" y="123571"/>
                  </a:lnTo>
                  <a:lnTo>
                    <a:pt x="76326" y="126111"/>
                  </a:lnTo>
                  <a:lnTo>
                    <a:pt x="92075" y="126111"/>
                  </a:lnTo>
                  <a:lnTo>
                    <a:pt x="92075" y="165227"/>
                  </a:lnTo>
                  <a:lnTo>
                    <a:pt x="94487" y="168910"/>
                  </a:lnTo>
                  <a:lnTo>
                    <a:pt x="111251" y="168910"/>
                  </a:lnTo>
                  <a:lnTo>
                    <a:pt x="111251" y="208026"/>
                  </a:lnTo>
                  <a:lnTo>
                    <a:pt x="113664" y="210693"/>
                  </a:lnTo>
                  <a:lnTo>
                    <a:pt x="129921" y="210693"/>
                  </a:lnTo>
                  <a:lnTo>
                    <a:pt x="129921" y="250317"/>
                  </a:lnTo>
                  <a:lnTo>
                    <a:pt x="132334" y="252349"/>
                  </a:lnTo>
                  <a:lnTo>
                    <a:pt x="148589" y="252349"/>
                  </a:lnTo>
                  <a:lnTo>
                    <a:pt x="148589" y="289306"/>
                  </a:lnTo>
                  <a:lnTo>
                    <a:pt x="152019" y="293497"/>
                  </a:lnTo>
                  <a:lnTo>
                    <a:pt x="168275" y="293497"/>
                  </a:lnTo>
                  <a:lnTo>
                    <a:pt x="168275" y="332105"/>
                  </a:lnTo>
                  <a:lnTo>
                    <a:pt x="170814" y="336296"/>
                  </a:lnTo>
                  <a:lnTo>
                    <a:pt x="186944" y="336296"/>
                  </a:lnTo>
                  <a:lnTo>
                    <a:pt x="186944" y="353441"/>
                  </a:lnTo>
                  <a:lnTo>
                    <a:pt x="189992" y="356108"/>
                  </a:lnTo>
                  <a:lnTo>
                    <a:pt x="203200" y="356108"/>
                  </a:lnTo>
                  <a:lnTo>
                    <a:pt x="206248" y="353441"/>
                  </a:lnTo>
                  <a:lnTo>
                    <a:pt x="206248" y="293497"/>
                  </a:lnTo>
                  <a:lnTo>
                    <a:pt x="221996" y="293497"/>
                  </a:lnTo>
                  <a:lnTo>
                    <a:pt x="225425" y="289306"/>
                  </a:lnTo>
                  <a:lnTo>
                    <a:pt x="225425" y="252349"/>
                  </a:lnTo>
                  <a:lnTo>
                    <a:pt x="241681" y="252349"/>
                  </a:lnTo>
                  <a:lnTo>
                    <a:pt x="244094" y="250317"/>
                  </a:lnTo>
                  <a:lnTo>
                    <a:pt x="244094" y="190246"/>
                  </a:lnTo>
                  <a:lnTo>
                    <a:pt x="260350" y="190246"/>
                  </a:lnTo>
                  <a:lnTo>
                    <a:pt x="262763" y="187198"/>
                  </a:lnTo>
                  <a:lnTo>
                    <a:pt x="262763" y="148082"/>
                  </a:lnTo>
                  <a:lnTo>
                    <a:pt x="279526" y="148082"/>
                  </a:lnTo>
                  <a:lnTo>
                    <a:pt x="281939" y="145415"/>
                  </a:lnTo>
                  <a:lnTo>
                    <a:pt x="281939" y="88138"/>
                  </a:lnTo>
                  <a:lnTo>
                    <a:pt x="298196" y="88138"/>
                  </a:lnTo>
                  <a:lnTo>
                    <a:pt x="300736" y="84455"/>
                  </a:lnTo>
                  <a:lnTo>
                    <a:pt x="300736" y="45847"/>
                  </a:lnTo>
                  <a:lnTo>
                    <a:pt x="316864" y="45847"/>
                  </a:lnTo>
                  <a:lnTo>
                    <a:pt x="316864" y="332105"/>
                  </a:lnTo>
                  <a:lnTo>
                    <a:pt x="281939" y="332105"/>
                  </a:lnTo>
                  <a:lnTo>
                    <a:pt x="279526" y="336296"/>
                  </a:lnTo>
                  <a:lnTo>
                    <a:pt x="279526" y="353441"/>
                  </a:lnTo>
                  <a:lnTo>
                    <a:pt x="281939" y="356108"/>
                  </a:lnTo>
                  <a:lnTo>
                    <a:pt x="390271" y="356108"/>
                  </a:lnTo>
                  <a:lnTo>
                    <a:pt x="392684" y="353441"/>
                  </a:lnTo>
                  <a:lnTo>
                    <a:pt x="392684" y="336296"/>
                  </a:lnTo>
                  <a:lnTo>
                    <a:pt x="390271" y="332105"/>
                  </a:lnTo>
                  <a:lnTo>
                    <a:pt x="355346" y="332105"/>
                  </a:lnTo>
                  <a:lnTo>
                    <a:pt x="355346" y="24003"/>
                  </a:lnTo>
                  <a:lnTo>
                    <a:pt x="390271" y="24003"/>
                  </a:lnTo>
                  <a:lnTo>
                    <a:pt x="392684" y="21336"/>
                  </a:lnTo>
                  <a:lnTo>
                    <a:pt x="392684" y="3683"/>
                  </a:lnTo>
                  <a:lnTo>
                    <a:pt x="390271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5" name="object 35"/>
            <p:cNvSpPr/>
            <p:nvPr/>
          </p:nvSpPr>
          <p:spPr>
            <a:xfrm>
              <a:off x="5102352" y="3415284"/>
              <a:ext cx="393065" cy="356235"/>
            </a:xfrm>
            <a:custGeom>
              <a:avLst/>
              <a:gdLst/>
              <a:ahLst/>
              <a:cxnLst/>
              <a:rect l="l" t="t" r="r" b="b"/>
              <a:pathLst>
                <a:path w="393064" h="356235">
                  <a:moveTo>
                    <a:pt x="2032" y="0"/>
                  </a:moveTo>
                  <a:lnTo>
                    <a:pt x="73278" y="0"/>
                  </a:lnTo>
                  <a:lnTo>
                    <a:pt x="76326" y="3683"/>
                  </a:lnTo>
                  <a:lnTo>
                    <a:pt x="76326" y="41656"/>
                  </a:lnTo>
                  <a:lnTo>
                    <a:pt x="92075" y="41656"/>
                  </a:lnTo>
                  <a:lnTo>
                    <a:pt x="94487" y="45847"/>
                  </a:lnTo>
                  <a:lnTo>
                    <a:pt x="94487" y="84455"/>
                  </a:lnTo>
                  <a:lnTo>
                    <a:pt x="111251" y="84455"/>
                  </a:lnTo>
                  <a:lnTo>
                    <a:pt x="113664" y="88138"/>
                  </a:lnTo>
                  <a:lnTo>
                    <a:pt x="113664" y="123571"/>
                  </a:lnTo>
                  <a:lnTo>
                    <a:pt x="129921" y="123571"/>
                  </a:lnTo>
                  <a:lnTo>
                    <a:pt x="132334" y="126111"/>
                  </a:lnTo>
                  <a:lnTo>
                    <a:pt x="132334" y="165227"/>
                  </a:lnTo>
                  <a:lnTo>
                    <a:pt x="148589" y="165227"/>
                  </a:lnTo>
                  <a:lnTo>
                    <a:pt x="152019" y="168910"/>
                  </a:lnTo>
                  <a:lnTo>
                    <a:pt x="152019" y="208026"/>
                  </a:lnTo>
                  <a:lnTo>
                    <a:pt x="168275" y="208026"/>
                  </a:lnTo>
                  <a:lnTo>
                    <a:pt x="170814" y="210693"/>
                  </a:lnTo>
                  <a:lnTo>
                    <a:pt x="170814" y="250317"/>
                  </a:lnTo>
                  <a:lnTo>
                    <a:pt x="186944" y="250317"/>
                  </a:lnTo>
                  <a:lnTo>
                    <a:pt x="189992" y="252349"/>
                  </a:lnTo>
                  <a:lnTo>
                    <a:pt x="189992" y="289306"/>
                  </a:lnTo>
                  <a:lnTo>
                    <a:pt x="203200" y="289306"/>
                  </a:lnTo>
                  <a:lnTo>
                    <a:pt x="203200" y="252349"/>
                  </a:lnTo>
                  <a:lnTo>
                    <a:pt x="206248" y="250317"/>
                  </a:lnTo>
                  <a:lnTo>
                    <a:pt x="221996" y="250317"/>
                  </a:lnTo>
                  <a:lnTo>
                    <a:pt x="221996" y="190246"/>
                  </a:lnTo>
                  <a:lnTo>
                    <a:pt x="225425" y="187198"/>
                  </a:lnTo>
                  <a:lnTo>
                    <a:pt x="241681" y="187198"/>
                  </a:lnTo>
                  <a:lnTo>
                    <a:pt x="241681" y="148082"/>
                  </a:lnTo>
                  <a:lnTo>
                    <a:pt x="244094" y="145415"/>
                  </a:lnTo>
                  <a:lnTo>
                    <a:pt x="260350" y="145415"/>
                  </a:lnTo>
                  <a:lnTo>
                    <a:pt x="260350" y="88138"/>
                  </a:lnTo>
                  <a:lnTo>
                    <a:pt x="262763" y="84455"/>
                  </a:lnTo>
                  <a:lnTo>
                    <a:pt x="279526" y="84455"/>
                  </a:lnTo>
                  <a:lnTo>
                    <a:pt x="279526" y="45847"/>
                  </a:lnTo>
                  <a:lnTo>
                    <a:pt x="281939" y="41656"/>
                  </a:lnTo>
                  <a:lnTo>
                    <a:pt x="298196" y="41656"/>
                  </a:lnTo>
                  <a:lnTo>
                    <a:pt x="298196" y="3683"/>
                  </a:lnTo>
                  <a:lnTo>
                    <a:pt x="300736" y="0"/>
                  </a:lnTo>
                  <a:lnTo>
                    <a:pt x="390271" y="0"/>
                  </a:lnTo>
                  <a:lnTo>
                    <a:pt x="392684" y="3683"/>
                  </a:lnTo>
                  <a:lnTo>
                    <a:pt x="392684" y="21336"/>
                  </a:lnTo>
                  <a:lnTo>
                    <a:pt x="390271" y="24003"/>
                  </a:lnTo>
                  <a:lnTo>
                    <a:pt x="355346" y="24003"/>
                  </a:lnTo>
                  <a:lnTo>
                    <a:pt x="355346" y="332105"/>
                  </a:lnTo>
                  <a:lnTo>
                    <a:pt x="390271" y="332105"/>
                  </a:lnTo>
                  <a:lnTo>
                    <a:pt x="392684" y="336296"/>
                  </a:lnTo>
                  <a:lnTo>
                    <a:pt x="392684" y="353441"/>
                  </a:lnTo>
                  <a:lnTo>
                    <a:pt x="390271" y="356108"/>
                  </a:lnTo>
                  <a:lnTo>
                    <a:pt x="281939" y="356108"/>
                  </a:lnTo>
                  <a:lnTo>
                    <a:pt x="279526" y="353441"/>
                  </a:lnTo>
                  <a:lnTo>
                    <a:pt x="279526" y="336296"/>
                  </a:lnTo>
                  <a:lnTo>
                    <a:pt x="281939" y="332105"/>
                  </a:lnTo>
                  <a:lnTo>
                    <a:pt x="316864" y="332105"/>
                  </a:lnTo>
                  <a:lnTo>
                    <a:pt x="316864" y="45847"/>
                  </a:lnTo>
                  <a:lnTo>
                    <a:pt x="300736" y="45847"/>
                  </a:lnTo>
                  <a:lnTo>
                    <a:pt x="300736" y="84455"/>
                  </a:lnTo>
                  <a:lnTo>
                    <a:pt x="298196" y="88138"/>
                  </a:lnTo>
                  <a:lnTo>
                    <a:pt x="281939" y="88138"/>
                  </a:lnTo>
                  <a:lnTo>
                    <a:pt x="281939" y="145415"/>
                  </a:lnTo>
                  <a:lnTo>
                    <a:pt x="279526" y="148082"/>
                  </a:lnTo>
                  <a:lnTo>
                    <a:pt x="262763" y="148082"/>
                  </a:lnTo>
                  <a:lnTo>
                    <a:pt x="262763" y="187198"/>
                  </a:lnTo>
                  <a:lnTo>
                    <a:pt x="260350" y="190246"/>
                  </a:lnTo>
                  <a:lnTo>
                    <a:pt x="244094" y="190246"/>
                  </a:lnTo>
                  <a:lnTo>
                    <a:pt x="244094" y="250317"/>
                  </a:lnTo>
                  <a:lnTo>
                    <a:pt x="241681" y="252349"/>
                  </a:lnTo>
                  <a:lnTo>
                    <a:pt x="225425" y="252349"/>
                  </a:lnTo>
                  <a:lnTo>
                    <a:pt x="225425" y="289306"/>
                  </a:lnTo>
                  <a:lnTo>
                    <a:pt x="221996" y="293497"/>
                  </a:lnTo>
                  <a:lnTo>
                    <a:pt x="206248" y="293497"/>
                  </a:lnTo>
                  <a:lnTo>
                    <a:pt x="206248" y="353441"/>
                  </a:lnTo>
                  <a:lnTo>
                    <a:pt x="203200" y="356108"/>
                  </a:lnTo>
                  <a:lnTo>
                    <a:pt x="189992" y="356108"/>
                  </a:lnTo>
                  <a:lnTo>
                    <a:pt x="186944" y="353441"/>
                  </a:lnTo>
                  <a:lnTo>
                    <a:pt x="186944" y="336296"/>
                  </a:lnTo>
                  <a:lnTo>
                    <a:pt x="170814" y="336296"/>
                  </a:lnTo>
                  <a:lnTo>
                    <a:pt x="168275" y="332105"/>
                  </a:lnTo>
                  <a:lnTo>
                    <a:pt x="168275" y="293497"/>
                  </a:lnTo>
                  <a:lnTo>
                    <a:pt x="152019" y="293497"/>
                  </a:lnTo>
                  <a:lnTo>
                    <a:pt x="148589" y="289306"/>
                  </a:lnTo>
                  <a:lnTo>
                    <a:pt x="148589" y="252349"/>
                  </a:lnTo>
                  <a:lnTo>
                    <a:pt x="132334" y="252349"/>
                  </a:lnTo>
                  <a:lnTo>
                    <a:pt x="129921" y="250317"/>
                  </a:lnTo>
                  <a:lnTo>
                    <a:pt x="129921" y="210693"/>
                  </a:lnTo>
                  <a:lnTo>
                    <a:pt x="113664" y="210693"/>
                  </a:lnTo>
                  <a:lnTo>
                    <a:pt x="111251" y="208026"/>
                  </a:lnTo>
                  <a:lnTo>
                    <a:pt x="111251" y="168910"/>
                  </a:lnTo>
                  <a:lnTo>
                    <a:pt x="94487" y="168910"/>
                  </a:lnTo>
                  <a:lnTo>
                    <a:pt x="92075" y="165227"/>
                  </a:lnTo>
                  <a:lnTo>
                    <a:pt x="92075" y="126111"/>
                  </a:lnTo>
                  <a:lnTo>
                    <a:pt x="76326" y="126111"/>
                  </a:lnTo>
                  <a:lnTo>
                    <a:pt x="73278" y="123571"/>
                  </a:lnTo>
                  <a:lnTo>
                    <a:pt x="73278" y="88138"/>
                  </a:lnTo>
                  <a:lnTo>
                    <a:pt x="56642" y="88138"/>
                  </a:lnTo>
                  <a:lnTo>
                    <a:pt x="56642" y="332105"/>
                  </a:lnTo>
                  <a:lnTo>
                    <a:pt x="92075" y="332105"/>
                  </a:lnTo>
                  <a:lnTo>
                    <a:pt x="94487" y="336296"/>
                  </a:lnTo>
                  <a:lnTo>
                    <a:pt x="94487" y="353441"/>
                  </a:lnTo>
                  <a:lnTo>
                    <a:pt x="92075" y="356108"/>
                  </a:lnTo>
                  <a:lnTo>
                    <a:pt x="2032" y="356108"/>
                  </a:lnTo>
                  <a:lnTo>
                    <a:pt x="0" y="353441"/>
                  </a:lnTo>
                  <a:lnTo>
                    <a:pt x="0" y="336296"/>
                  </a:lnTo>
                  <a:lnTo>
                    <a:pt x="2032" y="332105"/>
                  </a:lnTo>
                  <a:lnTo>
                    <a:pt x="37846" y="332105"/>
                  </a:lnTo>
                  <a:lnTo>
                    <a:pt x="37846" y="24003"/>
                  </a:lnTo>
                  <a:lnTo>
                    <a:pt x="2032" y="24003"/>
                  </a:lnTo>
                  <a:lnTo>
                    <a:pt x="0" y="21336"/>
                  </a:lnTo>
                  <a:lnTo>
                    <a:pt x="0" y="3683"/>
                  </a:lnTo>
                  <a:lnTo>
                    <a:pt x="2032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6" name="object 36"/>
            <p:cNvSpPr/>
            <p:nvPr/>
          </p:nvSpPr>
          <p:spPr>
            <a:xfrm>
              <a:off x="5522976" y="3415284"/>
              <a:ext cx="187325" cy="356235"/>
            </a:xfrm>
            <a:custGeom>
              <a:avLst/>
              <a:gdLst/>
              <a:ahLst/>
              <a:cxnLst/>
              <a:rect l="l" t="t" r="r" b="b"/>
              <a:pathLst>
                <a:path w="187325" h="356235">
                  <a:moveTo>
                    <a:pt x="184531" y="0"/>
                  </a:moveTo>
                  <a:lnTo>
                    <a:pt x="56261" y="0"/>
                  </a:lnTo>
                  <a:lnTo>
                    <a:pt x="53721" y="3683"/>
                  </a:lnTo>
                  <a:lnTo>
                    <a:pt x="53721" y="41656"/>
                  </a:lnTo>
                  <a:lnTo>
                    <a:pt x="40512" y="41656"/>
                  </a:lnTo>
                  <a:lnTo>
                    <a:pt x="37973" y="45847"/>
                  </a:lnTo>
                  <a:lnTo>
                    <a:pt x="37973" y="84455"/>
                  </a:lnTo>
                  <a:lnTo>
                    <a:pt x="22225" y="84455"/>
                  </a:lnTo>
                  <a:lnTo>
                    <a:pt x="18287" y="88138"/>
                  </a:lnTo>
                  <a:lnTo>
                    <a:pt x="18287" y="145415"/>
                  </a:lnTo>
                  <a:lnTo>
                    <a:pt x="22225" y="148082"/>
                  </a:lnTo>
                  <a:lnTo>
                    <a:pt x="72516" y="148082"/>
                  </a:lnTo>
                  <a:lnTo>
                    <a:pt x="72516" y="165227"/>
                  </a:lnTo>
                  <a:lnTo>
                    <a:pt x="74929" y="168910"/>
                  </a:lnTo>
                  <a:lnTo>
                    <a:pt x="109474" y="168910"/>
                  </a:lnTo>
                  <a:lnTo>
                    <a:pt x="109474" y="187198"/>
                  </a:lnTo>
                  <a:lnTo>
                    <a:pt x="112013" y="190246"/>
                  </a:lnTo>
                  <a:lnTo>
                    <a:pt x="128270" y="190246"/>
                  </a:lnTo>
                  <a:lnTo>
                    <a:pt x="128270" y="208026"/>
                  </a:lnTo>
                  <a:lnTo>
                    <a:pt x="130683" y="210693"/>
                  </a:lnTo>
                  <a:lnTo>
                    <a:pt x="146558" y="210693"/>
                  </a:lnTo>
                  <a:lnTo>
                    <a:pt x="146558" y="289306"/>
                  </a:lnTo>
                  <a:lnTo>
                    <a:pt x="130683" y="289306"/>
                  </a:lnTo>
                  <a:lnTo>
                    <a:pt x="128270" y="293497"/>
                  </a:lnTo>
                  <a:lnTo>
                    <a:pt x="128270" y="311277"/>
                  </a:lnTo>
                  <a:lnTo>
                    <a:pt x="112013" y="311277"/>
                  </a:lnTo>
                  <a:lnTo>
                    <a:pt x="109474" y="314325"/>
                  </a:lnTo>
                  <a:lnTo>
                    <a:pt x="109474" y="332105"/>
                  </a:lnTo>
                  <a:lnTo>
                    <a:pt x="56261" y="332105"/>
                  </a:lnTo>
                  <a:lnTo>
                    <a:pt x="56261" y="314325"/>
                  </a:lnTo>
                  <a:lnTo>
                    <a:pt x="53721" y="311277"/>
                  </a:lnTo>
                  <a:lnTo>
                    <a:pt x="40512" y="311277"/>
                  </a:lnTo>
                  <a:lnTo>
                    <a:pt x="40512" y="293497"/>
                  </a:lnTo>
                  <a:lnTo>
                    <a:pt x="37973" y="289306"/>
                  </a:lnTo>
                  <a:lnTo>
                    <a:pt x="2412" y="289306"/>
                  </a:lnTo>
                  <a:lnTo>
                    <a:pt x="0" y="293497"/>
                  </a:lnTo>
                  <a:lnTo>
                    <a:pt x="0" y="332105"/>
                  </a:lnTo>
                  <a:lnTo>
                    <a:pt x="2412" y="336296"/>
                  </a:lnTo>
                  <a:lnTo>
                    <a:pt x="18287" y="336296"/>
                  </a:lnTo>
                  <a:lnTo>
                    <a:pt x="18287" y="353441"/>
                  </a:lnTo>
                  <a:lnTo>
                    <a:pt x="22225" y="356108"/>
                  </a:lnTo>
                  <a:lnTo>
                    <a:pt x="128270" y="356108"/>
                  </a:lnTo>
                  <a:lnTo>
                    <a:pt x="130683" y="353441"/>
                  </a:lnTo>
                  <a:lnTo>
                    <a:pt x="130683" y="336296"/>
                  </a:lnTo>
                  <a:lnTo>
                    <a:pt x="165226" y="336296"/>
                  </a:lnTo>
                  <a:lnTo>
                    <a:pt x="167766" y="332105"/>
                  </a:lnTo>
                  <a:lnTo>
                    <a:pt x="167766" y="293497"/>
                  </a:lnTo>
                  <a:lnTo>
                    <a:pt x="184531" y="293497"/>
                  </a:lnTo>
                  <a:lnTo>
                    <a:pt x="186944" y="289306"/>
                  </a:lnTo>
                  <a:lnTo>
                    <a:pt x="186944" y="190246"/>
                  </a:lnTo>
                  <a:lnTo>
                    <a:pt x="184531" y="187198"/>
                  </a:lnTo>
                  <a:lnTo>
                    <a:pt x="167766" y="187198"/>
                  </a:lnTo>
                  <a:lnTo>
                    <a:pt x="167766" y="148082"/>
                  </a:lnTo>
                  <a:lnTo>
                    <a:pt x="165226" y="145415"/>
                  </a:lnTo>
                  <a:lnTo>
                    <a:pt x="130683" y="145415"/>
                  </a:lnTo>
                  <a:lnTo>
                    <a:pt x="130683" y="126111"/>
                  </a:lnTo>
                  <a:lnTo>
                    <a:pt x="128270" y="123571"/>
                  </a:lnTo>
                  <a:lnTo>
                    <a:pt x="93218" y="123571"/>
                  </a:lnTo>
                  <a:lnTo>
                    <a:pt x="93218" y="108458"/>
                  </a:lnTo>
                  <a:lnTo>
                    <a:pt x="91312" y="105791"/>
                  </a:lnTo>
                  <a:lnTo>
                    <a:pt x="56261" y="105791"/>
                  </a:lnTo>
                  <a:lnTo>
                    <a:pt x="56261" y="45847"/>
                  </a:lnTo>
                  <a:lnTo>
                    <a:pt x="165226" y="45847"/>
                  </a:lnTo>
                  <a:lnTo>
                    <a:pt x="167766" y="41656"/>
                  </a:lnTo>
                  <a:lnTo>
                    <a:pt x="167766" y="24003"/>
                  </a:lnTo>
                  <a:lnTo>
                    <a:pt x="184531" y="24003"/>
                  </a:lnTo>
                  <a:lnTo>
                    <a:pt x="186944" y="21336"/>
                  </a:lnTo>
                  <a:lnTo>
                    <a:pt x="186944" y="3683"/>
                  </a:lnTo>
                  <a:lnTo>
                    <a:pt x="184531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7" name="object 37"/>
            <p:cNvSpPr/>
            <p:nvPr/>
          </p:nvSpPr>
          <p:spPr>
            <a:xfrm>
              <a:off x="5522976" y="3415284"/>
              <a:ext cx="187325" cy="356235"/>
            </a:xfrm>
            <a:custGeom>
              <a:avLst/>
              <a:gdLst/>
              <a:ahLst/>
              <a:cxnLst/>
              <a:rect l="l" t="t" r="r" b="b"/>
              <a:pathLst>
                <a:path w="187325" h="356235">
                  <a:moveTo>
                    <a:pt x="56261" y="0"/>
                  </a:moveTo>
                  <a:lnTo>
                    <a:pt x="184531" y="0"/>
                  </a:lnTo>
                  <a:lnTo>
                    <a:pt x="186944" y="3683"/>
                  </a:lnTo>
                  <a:lnTo>
                    <a:pt x="186944" y="21336"/>
                  </a:lnTo>
                  <a:lnTo>
                    <a:pt x="184531" y="24003"/>
                  </a:lnTo>
                  <a:lnTo>
                    <a:pt x="167766" y="24003"/>
                  </a:lnTo>
                  <a:lnTo>
                    <a:pt x="167766" y="41656"/>
                  </a:lnTo>
                  <a:lnTo>
                    <a:pt x="165226" y="45847"/>
                  </a:lnTo>
                  <a:lnTo>
                    <a:pt x="56261" y="45847"/>
                  </a:lnTo>
                  <a:lnTo>
                    <a:pt x="56261" y="105791"/>
                  </a:lnTo>
                  <a:lnTo>
                    <a:pt x="91312" y="105791"/>
                  </a:lnTo>
                  <a:lnTo>
                    <a:pt x="93218" y="108458"/>
                  </a:lnTo>
                  <a:lnTo>
                    <a:pt x="93218" y="123571"/>
                  </a:lnTo>
                  <a:lnTo>
                    <a:pt x="128270" y="123571"/>
                  </a:lnTo>
                  <a:lnTo>
                    <a:pt x="130683" y="126111"/>
                  </a:lnTo>
                  <a:lnTo>
                    <a:pt x="130683" y="145415"/>
                  </a:lnTo>
                  <a:lnTo>
                    <a:pt x="165226" y="145415"/>
                  </a:lnTo>
                  <a:lnTo>
                    <a:pt x="167766" y="148082"/>
                  </a:lnTo>
                  <a:lnTo>
                    <a:pt x="167766" y="187198"/>
                  </a:lnTo>
                  <a:lnTo>
                    <a:pt x="184531" y="187198"/>
                  </a:lnTo>
                  <a:lnTo>
                    <a:pt x="186944" y="190246"/>
                  </a:lnTo>
                  <a:lnTo>
                    <a:pt x="186944" y="289306"/>
                  </a:lnTo>
                  <a:lnTo>
                    <a:pt x="184531" y="293497"/>
                  </a:lnTo>
                  <a:lnTo>
                    <a:pt x="167766" y="293497"/>
                  </a:lnTo>
                  <a:lnTo>
                    <a:pt x="167766" y="332105"/>
                  </a:lnTo>
                  <a:lnTo>
                    <a:pt x="165226" y="336296"/>
                  </a:lnTo>
                  <a:lnTo>
                    <a:pt x="130683" y="336296"/>
                  </a:lnTo>
                  <a:lnTo>
                    <a:pt x="130683" y="353441"/>
                  </a:lnTo>
                  <a:lnTo>
                    <a:pt x="128270" y="356108"/>
                  </a:lnTo>
                  <a:lnTo>
                    <a:pt x="22225" y="356108"/>
                  </a:lnTo>
                  <a:lnTo>
                    <a:pt x="18287" y="353441"/>
                  </a:lnTo>
                  <a:lnTo>
                    <a:pt x="18287" y="336296"/>
                  </a:lnTo>
                  <a:lnTo>
                    <a:pt x="2412" y="336296"/>
                  </a:lnTo>
                  <a:lnTo>
                    <a:pt x="0" y="332105"/>
                  </a:lnTo>
                  <a:lnTo>
                    <a:pt x="0" y="293497"/>
                  </a:lnTo>
                  <a:lnTo>
                    <a:pt x="2412" y="289306"/>
                  </a:lnTo>
                  <a:lnTo>
                    <a:pt x="37973" y="289306"/>
                  </a:lnTo>
                  <a:lnTo>
                    <a:pt x="40512" y="293497"/>
                  </a:lnTo>
                  <a:lnTo>
                    <a:pt x="40512" y="311277"/>
                  </a:lnTo>
                  <a:lnTo>
                    <a:pt x="53721" y="311277"/>
                  </a:lnTo>
                  <a:lnTo>
                    <a:pt x="56261" y="314325"/>
                  </a:lnTo>
                  <a:lnTo>
                    <a:pt x="56261" y="332105"/>
                  </a:lnTo>
                  <a:lnTo>
                    <a:pt x="109474" y="332105"/>
                  </a:lnTo>
                  <a:lnTo>
                    <a:pt x="109474" y="314325"/>
                  </a:lnTo>
                  <a:lnTo>
                    <a:pt x="112013" y="311277"/>
                  </a:lnTo>
                  <a:lnTo>
                    <a:pt x="128270" y="311277"/>
                  </a:lnTo>
                  <a:lnTo>
                    <a:pt x="128270" y="293497"/>
                  </a:lnTo>
                  <a:lnTo>
                    <a:pt x="130683" y="289306"/>
                  </a:lnTo>
                  <a:lnTo>
                    <a:pt x="146558" y="289306"/>
                  </a:lnTo>
                  <a:lnTo>
                    <a:pt x="146558" y="210693"/>
                  </a:lnTo>
                  <a:lnTo>
                    <a:pt x="130683" y="210693"/>
                  </a:lnTo>
                  <a:lnTo>
                    <a:pt x="128270" y="208026"/>
                  </a:lnTo>
                  <a:lnTo>
                    <a:pt x="128270" y="190246"/>
                  </a:lnTo>
                  <a:lnTo>
                    <a:pt x="112013" y="190246"/>
                  </a:lnTo>
                  <a:lnTo>
                    <a:pt x="109474" y="187198"/>
                  </a:lnTo>
                  <a:lnTo>
                    <a:pt x="109474" y="168910"/>
                  </a:lnTo>
                  <a:lnTo>
                    <a:pt x="74929" y="168910"/>
                  </a:lnTo>
                  <a:lnTo>
                    <a:pt x="72516" y="165227"/>
                  </a:lnTo>
                  <a:lnTo>
                    <a:pt x="72516" y="148082"/>
                  </a:lnTo>
                  <a:lnTo>
                    <a:pt x="22225" y="148082"/>
                  </a:lnTo>
                  <a:lnTo>
                    <a:pt x="18287" y="145415"/>
                  </a:lnTo>
                  <a:lnTo>
                    <a:pt x="18287" y="88138"/>
                  </a:lnTo>
                  <a:lnTo>
                    <a:pt x="22225" y="84455"/>
                  </a:lnTo>
                  <a:lnTo>
                    <a:pt x="37973" y="84455"/>
                  </a:lnTo>
                  <a:lnTo>
                    <a:pt x="37973" y="45847"/>
                  </a:lnTo>
                  <a:lnTo>
                    <a:pt x="40512" y="41656"/>
                  </a:lnTo>
                  <a:lnTo>
                    <a:pt x="53721" y="41656"/>
                  </a:lnTo>
                  <a:lnTo>
                    <a:pt x="53721" y="3683"/>
                  </a:lnTo>
                  <a:lnTo>
                    <a:pt x="56261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8" name="object 38"/>
            <p:cNvSpPr/>
            <p:nvPr/>
          </p:nvSpPr>
          <p:spPr>
            <a:xfrm>
              <a:off x="6885432" y="3415284"/>
              <a:ext cx="397510" cy="356235"/>
            </a:xfrm>
            <a:custGeom>
              <a:avLst/>
              <a:gdLst/>
              <a:ahLst/>
              <a:cxnLst/>
              <a:rect l="l" t="t" r="r" b="b"/>
              <a:pathLst>
                <a:path w="397509" h="356235">
                  <a:moveTo>
                    <a:pt x="394335" y="0"/>
                  </a:moveTo>
                  <a:lnTo>
                    <a:pt x="303784" y="0"/>
                  </a:lnTo>
                  <a:lnTo>
                    <a:pt x="300736" y="3683"/>
                  </a:lnTo>
                  <a:lnTo>
                    <a:pt x="300736" y="41656"/>
                  </a:lnTo>
                  <a:lnTo>
                    <a:pt x="284988" y="41656"/>
                  </a:lnTo>
                  <a:lnTo>
                    <a:pt x="281940" y="45847"/>
                  </a:lnTo>
                  <a:lnTo>
                    <a:pt x="281940" y="84455"/>
                  </a:lnTo>
                  <a:lnTo>
                    <a:pt x="265175" y="84455"/>
                  </a:lnTo>
                  <a:lnTo>
                    <a:pt x="262763" y="88138"/>
                  </a:lnTo>
                  <a:lnTo>
                    <a:pt x="262763" y="145415"/>
                  </a:lnTo>
                  <a:lnTo>
                    <a:pt x="246379" y="145415"/>
                  </a:lnTo>
                  <a:lnTo>
                    <a:pt x="243840" y="148082"/>
                  </a:lnTo>
                  <a:lnTo>
                    <a:pt x="243840" y="187198"/>
                  </a:lnTo>
                  <a:lnTo>
                    <a:pt x="227584" y="187198"/>
                  </a:lnTo>
                  <a:lnTo>
                    <a:pt x="225044" y="190246"/>
                  </a:lnTo>
                  <a:lnTo>
                    <a:pt x="225044" y="250317"/>
                  </a:lnTo>
                  <a:lnTo>
                    <a:pt x="207772" y="250317"/>
                  </a:lnTo>
                  <a:lnTo>
                    <a:pt x="205359" y="252349"/>
                  </a:lnTo>
                  <a:lnTo>
                    <a:pt x="205359" y="289306"/>
                  </a:lnTo>
                  <a:lnTo>
                    <a:pt x="191897" y="289306"/>
                  </a:lnTo>
                  <a:lnTo>
                    <a:pt x="191897" y="252349"/>
                  </a:lnTo>
                  <a:lnTo>
                    <a:pt x="188975" y="250317"/>
                  </a:lnTo>
                  <a:lnTo>
                    <a:pt x="173100" y="250317"/>
                  </a:lnTo>
                  <a:lnTo>
                    <a:pt x="173100" y="210693"/>
                  </a:lnTo>
                  <a:lnTo>
                    <a:pt x="170179" y="208026"/>
                  </a:lnTo>
                  <a:lnTo>
                    <a:pt x="153416" y="208026"/>
                  </a:lnTo>
                  <a:lnTo>
                    <a:pt x="153416" y="168910"/>
                  </a:lnTo>
                  <a:lnTo>
                    <a:pt x="150875" y="165227"/>
                  </a:lnTo>
                  <a:lnTo>
                    <a:pt x="134620" y="165227"/>
                  </a:lnTo>
                  <a:lnTo>
                    <a:pt x="134620" y="126111"/>
                  </a:lnTo>
                  <a:lnTo>
                    <a:pt x="131064" y="123571"/>
                  </a:lnTo>
                  <a:lnTo>
                    <a:pt x="114808" y="123571"/>
                  </a:lnTo>
                  <a:lnTo>
                    <a:pt x="114808" y="88138"/>
                  </a:lnTo>
                  <a:lnTo>
                    <a:pt x="112268" y="84455"/>
                  </a:lnTo>
                  <a:lnTo>
                    <a:pt x="96012" y="84455"/>
                  </a:lnTo>
                  <a:lnTo>
                    <a:pt x="96012" y="45847"/>
                  </a:lnTo>
                  <a:lnTo>
                    <a:pt x="92456" y="41656"/>
                  </a:lnTo>
                  <a:lnTo>
                    <a:pt x="76708" y="41656"/>
                  </a:lnTo>
                  <a:lnTo>
                    <a:pt x="76708" y="3683"/>
                  </a:lnTo>
                  <a:lnTo>
                    <a:pt x="73660" y="0"/>
                  </a:lnTo>
                  <a:lnTo>
                    <a:pt x="2032" y="0"/>
                  </a:lnTo>
                  <a:lnTo>
                    <a:pt x="0" y="3683"/>
                  </a:lnTo>
                  <a:lnTo>
                    <a:pt x="0" y="21336"/>
                  </a:lnTo>
                  <a:lnTo>
                    <a:pt x="2032" y="24003"/>
                  </a:lnTo>
                  <a:lnTo>
                    <a:pt x="38100" y="24003"/>
                  </a:lnTo>
                  <a:lnTo>
                    <a:pt x="38100" y="332105"/>
                  </a:lnTo>
                  <a:lnTo>
                    <a:pt x="2032" y="332105"/>
                  </a:lnTo>
                  <a:lnTo>
                    <a:pt x="0" y="336296"/>
                  </a:lnTo>
                  <a:lnTo>
                    <a:pt x="0" y="353441"/>
                  </a:lnTo>
                  <a:lnTo>
                    <a:pt x="2032" y="356108"/>
                  </a:lnTo>
                  <a:lnTo>
                    <a:pt x="92456" y="356108"/>
                  </a:lnTo>
                  <a:lnTo>
                    <a:pt x="96012" y="353441"/>
                  </a:lnTo>
                  <a:lnTo>
                    <a:pt x="96012" y="336296"/>
                  </a:lnTo>
                  <a:lnTo>
                    <a:pt x="92456" y="332105"/>
                  </a:lnTo>
                  <a:lnTo>
                    <a:pt x="56896" y="332105"/>
                  </a:lnTo>
                  <a:lnTo>
                    <a:pt x="56896" y="88138"/>
                  </a:lnTo>
                  <a:lnTo>
                    <a:pt x="73660" y="88138"/>
                  </a:lnTo>
                  <a:lnTo>
                    <a:pt x="73660" y="123571"/>
                  </a:lnTo>
                  <a:lnTo>
                    <a:pt x="76708" y="126111"/>
                  </a:lnTo>
                  <a:lnTo>
                    <a:pt x="92456" y="126111"/>
                  </a:lnTo>
                  <a:lnTo>
                    <a:pt x="92456" y="165227"/>
                  </a:lnTo>
                  <a:lnTo>
                    <a:pt x="96012" y="168910"/>
                  </a:lnTo>
                  <a:lnTo>
                    <a:pt x="112268" y="168910"/>
                  </a:lnTo>
                  <a:lnTo>
                    <a:pt x="112268" y="208026"/>
                  </a:lnTo>
                  <a:lnTo>
                    <a:pt x="114808" y="210693"/>
                  </a:lnTo>
                  <a:lnTo>
                    <a:pt x="131064" y="210693"/>
                  </a:lnTo>
                  <a:lnTo>
                    <a:pt x="131064" y="250317"/>
                  </a:lnTo>
                  <a:lnTo>
                    <a:pt x="134620" y="252349"/>
                  </a:lnTo>
                  <a:lnTo>
                    <a:pt x="150875" y="252349"/>
                  </a:lnTo>
                  <a:lnTo>
                    <a:pt x="150875" y="289306"/>
                  </a:lnTo>
                  <a:lnTo>
                    <a:pt x="153416" y="293497"/>
                  </a:lnTo>
                  <a:lnTo>
                    <a:pt x="170179" y="293497"/>
                  </a:lnTo>
                  <a:lnTo>
                    <a:pt x="170179" y="332105"/>
                  </a:lnTo>
                  <a:lnTo>
                    <a:pt x="173100" y="336296"/>
                  </a:lnTo>
                  <a:lnTo>
                    <a:pt x="188975" y="336296"/>
                  </a:lnTo>
                  <a:lnTo>
                    <a:pt x="188975" y="353441"/>
                  </a:lnTo>
                  <a:lnTo>
                    <a:pt x="191897" y="356108"/>
                  </a:lnTo>
                  <a:lnTo>
                    <a:pt x="205359" y="356108"/>
                  </a:lnTo>
                  <a:lnTo>
                    <a:pt x="207772" y="353441"/>
                  </a:lnTo>
                  <a:lnTo>
                    <a:pt x="207772" y="293497"/>
                  </a:lnTo>
                  <a:lnTo>
                    <a:pt x="225044" y="293497"/>
                  </a:lnTo>
                  <a:lnTo>
                    <a:pt x="227584" y="289306"/>
                  </a:lnTo>
                  <a:lnTo>
                    <a:pt x="227584" y="252349"/>
                  </a:lnTo>
                  <a:lnTo>
                    <a:pt x="243840" y="252349"/>
                  </a:lnTo>
                  <a:lnTo>
                    <a:pt x="246379" y="250317"/>
                  </a:lnTo>
                  <a:lnTo>
                    <a:pt x="246379" y="190246"/>
                  </a:lnTo>
                  <a:lnTo>
                    <a:pt x="262763" y="190246"/>
                  </a:lnTo>
                  <a:lnTo>
                    <a:pt x="265175" y="187198"/>
                  </a:lnTo>
                  <a:lnTo>
                    <a:pt x="265175" y="148082"/>
                  </a:lnTo>
                  <a:lnTo>
                    <a:pt x="281940" y="148082"/>
                  </a:lnTo>
                  <a:lnTo>
                    <a:pt x="284988" y="145415"/>
                  </a:lnTo>
                  <a:lnTo>
                    <a:pt x="284988" y="88138"/>
                  </a:lnTo>
                  <a:lnTo>
                    <a:pt x="300736" y="88138"/>
                  </a:lnTo>
                  <a:lnTo>
                    <a:pt x="303784" y="84455"/>
                  </a:lnTo>
                  <a:lnTo>
                    <a:pt x="303784" y="45847"/>
                  </a:lnTo>
                  <a:lnTo>
                    <a:pt x="320548" y="45847"/>
                  </a:lnTo>
                  <a:lnTo>
                    <a:pt x="320548" y="332105"/>
                  </a:lnTo>
                  <a:lnTo>
                    <a:pt x="284988" y="332105"/>
                  </a:lnTo>
                  <a:lnTo>
                    <a:pt x="281940" y="336296"/>
                  </a:lnTo>
                  <a:lnTo>
                    <a:pt x="281940" y="353441"/>
                  </a:lnTo>
                  <a:lnTo>
                    <a:pt x="284988" y="356108"/>
                  </a:lnTo>
                  <a:lnTo>
                    <a:pt x="394335" y="356108"/>
                  </a:lnTo>
                  <a:lnTo>
                    <a:pt x="397256" y="353441"/>
                  </a:lnTo>
                  <a:lnTo>
                    <a:pt x="397256" y="336296"/>
                  </a:lnTo>
                  <a:lnTo>
                    <a:pt x="394335" y="332105"/>
                  </a:lnTo>
                  <a:lnTo>
                    <a:pt x="358648" y="332105"/>
                  </a:lnTo>
                  <a:lnTo>
                    <a:pt x="358648" y="24003"/>
                  </a:lnTo>
                  <a:lnTo>
                    <a:pt x="394335" y="24003"/>
                  </a:lnTo>
                  <a:lnTo>
                    <a:pt x="397256" y="21336"/>
                  </a:lnTo>
                  <a:lnTo>
                    <a:pt x="397256" y="3683"/>
                  </a:lnTo>
                  <a:lnTo>
                    <a:pt x="394335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9" name="object 39"/>
            <p:cNvSpPr/>
            <p:nvPr/>
          </p:nvSpPr>
          <p:spPr>
            <a:xfrm>
              <a:off x="6885432" y="3415284"/>
              <a:ext cx="397510" cy="356235"/>
            </a:xfrm>
            <a:custGeom>
              <a:avLst/>
              <a:gdLst/>
              <a:ahLst/>
              <a:cxnLst/>
              <a:rect l="l" t="t" r="r" b="b"/>
              <a:pathLst>
                <a:path w="397509" h="356235">
                  <a:moveTo>
                    <a:pt x="2032" y="0"/>
                  </a:moveTo>
                  <a:lnTo>
                    <a:pt x="73660" y="0"/>
                  </a:lnTo>
                  <a:lnTo>
                    <a:pt x="76708" y="3683"/>
                  </a:lnTo>
                  <a:lnTo>
                    <a:pt x="76708" y="41656"/>
                  </a:lnTo>
                  <a:lnTo>
                    <a:pt x="92456" y="41656"/>
                  </a:lnTo>
                  <a:lnTo>
                    <a:pt x="96012" y="45847"/>
                  </a:lnTo>
                  <a:lnTo>
                    <a:pt x="96012" y="84455"/>
                  </a:lnTo>
                  <a:lnTo>
                    <a:pt x="112268" y="84455"/>
                  </a:lnTo>
                  <a:lnTo>
                    <a:pt x="114808" y="88138"/>
                  </a:lnTo>
                  <a:lnTo>
                    <a:pt x="114808" y="123571"/>
                  </a:lnTo>
                  <a:lnTo>
                    <a:pt x="131064" y="123571"/>
                  </a:lnTo>
                  <a:lnTo>
                    <a:pt x="134620" y="126111"/>
                  </a:lnTo>
                  <a:lnTo>
                    <a:pt x="134620" y="165227"/>
                  </a:lnTo>
                  <a:lnTo>
                    <a:pt x="150875" y="165227"/>
                  </a:lnTo>
                  <a:lnTo>
                    <a:pt x="153416" y="168910"/>
                  </a:lnTo>
                  <a:lnTo>
                    <a:pt x="153416" y="208026"/>
                  </a:lnTo>
                  <a:lnTo>
                    <a:pt x="170179" y="208026"/>
                  </a:lnTo>
                  <a:lnTo>
                    <a:pt x="173100" y="210693"/>
                  </a:lnTo>
                  <a:lnTo>
                    <a:pt x="173100" y="250317"/>
                  </a:lnTo>
                  <a:lnTo>
                    <a:pt x="188975" y="250317"/>
                  </a:lnTo>
                  <a:lnTo>
                    <a:pt x="191897" y="252349"/>
                  </a:lnTo>
                  <a:lnTo>
                    <a:pt x="191897" y="289306"/>
                  </a:lnTo>
                  <a:lnTo>
                    <a:pt x="205359" y="289306"/>
                  </a:lnTo>
                  <a:lnTo>
                    <a:pt x="205359" y="252349"/>
                  </a:lnTo>
                  <a:lnTo>
                    <a:pt x="207772" y="250317"/>
                  </a:lnTo>
                  <a:lnTo>
                    <a:pt x="225044" y="250317"/>
                  </a:lnTo>
                  <a:lnTo>
                    <a:pt x="225044" y="190246"/>
                  </a:lnTo>
                  <a:lnTo>
                    <a:pt x="227584" y="187198"/>
                  </a:lnTo>
                  <a:lnTo>
                    <a:pt x="243840" y="187198"/>
                  </a:lnTo>
                  <a:lnTo>
                    <a:pt x="243840" y="148082"/>
                  </a:lnTo>
                  <a:lnTo>
                    <a:pt x="246379" y="145415"/>
                  </a:lnTo>
                  <a:lnTo>
                    <a:pt x="262763" y="145415"/>
                  </a:lnTo>
                  <a:lnTo>
                    <a:pt x="262763" y="88138"/>
                  </a:lnTo>
                  <a:lnTo>
                    <a:pt x="265175" y="84455"/>
                  </a:lnTo>
                  <a:lnTo>
                    <a:pt x="281940" y="84455"/>
                  </a:lnTo>
                  <a:lnTo>
                    <a:pt x="281940" y="45847"/>
                  </a:lnTo>
                  <a:lnTo>
                    <a:pt x="284988" y="41656"/>
                  </a:lnTo>
                  <a:lnTo>
                    <a:pt x="300736" y="41656"/>
                  </a:lnTo>
                  <a:lnTo>
                    <a:pt x="300736" y="3683"/>
                  </a:lnTo>
                  <a:lnTo>
                    <a:pt x="303784" y="0"/>
                  </a:lnTo>
                  <a:lnTo>
                    <a:pt x="394335" y="0"/>
                  </a:lnTo>
                  <a:lnTo>
                    <a:pt x="397256" y="3683"/>
                  </a:lnTo>
                  <a:lnTo>
                    <a:pt x="397256" y="21336"/>
                  </a:lnTo>
                  <a:lnTo>
                    <a:pt x="394335" y="24003"/>
                  </a:lnTo>
                  <a:lnTo>
                    <a:pt x="358648" y="24003"/>
                  </a:lnTo>
                  <a:lnTo>
                    <a:pt x="358648" y="332105"/>
                  </a:lnTo>
                  <a:lnTo>
                    <a:pt x="394335" y="332105"/>
                  </a:lnTo>
                  <a:lnTo>
                    <a:pt x="397256" y="336296"/>
                  </a:lnTo>
                  <a:lnTo>
                    <a:pt x="397256" y="353441"/>
                  </a:lnTo>
                  <a:lnTo>
                    <a:pt x="394335" y="356108"/>
                  </a:lnTo>
                  <a:lnTo>
                    <a:pt x="284988" y="356108"/>
                  </a:lnTo>
                  <a:lnTo>
                    <a:pt x="281940" y="353441"/>
                  </a:lnTo>
                  <a:lnTo>
                    <a:pt x="281940" y="336296"/>
                  </a:lnTo>
                  <a:lnTo>
                    <a:pt x="284988" y="332105"/>
                  </a:lnTo>
                  <a:lnTo>
                    <a:pt x="320548" y="332105"/>
                  </a:lnTo>
                  <a:lnTo>
                    <a:pt x="320548" y="45847"/>
                  </a:lnTo>
                  <a:lnTo>
                    <a:pt x="303784" y="45847"/>
                  </a:lnTo>
                  <a:lnTo>
                    <a:pt x="303784" y="84455"/>
                  </a:lnTo>
                  <a:lnTo>
                    <a:pt x="300736" y="88138"/>
                  </a:lnTo>
                  <a:lnTo>
                    <a:pt x="284988" y="88138"/>
                  </a:lnTo>
                  <a:lnTo>
                    <a:pt x="284988" y="145415"/>
                  </a:lnTo>
                  <a:lnTo>
                    <a:pt x="281940" y="148082"/>
                  </a:lnTo>
                  <a:lnTo>
                    <a:pt x="265175" y="148082"/>
                  </a:lnTo>
                  <a:lnTo>
                    <a:pt x="265175" y="187198"/>
                  </a:lnTo>
                  <a:lnTo>
                    <a:pt x="262763" y="190246"/>
                  </a:lnTo>
                  <a:lnTo>
                    <a:pt x="246379" y="190246"/>
                  </a:lnTo>
                  <a:lnTo>
                    <a:pt x="246379" y="250317"/>
                  </a:lnTo>
                  <a:lnTo>
                    <a:pt x="243840" y="252349"/>
                  </a:lnTo>
                  <a:lnTo>
                    <a:pt x="227584" y="252349"/>
                  </a:lnTo>
                  <a:lnTo>
                    <a:pt x="227584" y="289306"/>
                  </a:lnTo>
                  <a:lnTo>
                    <a:pt x="225044" y="293497"/>
                  </a:lnTo>
                  <a:lnTo>
                    <a:pt x="207772" y="293497"/>
                  </a:lnTo>
                  <a:lnTo>
                    <a:pt x="207772" y="353441"/>
                  </a:lnTo>
                  <a:lnTo>
                    <a:pt x="205359" y="356108"/>
                  </a:lnTo>
                  <a:lnTo>
                    <a:pt x="191897" y="356108"/>
                  </a:lnTo>
                  <a:lnTo>
                    <a:pt x="188975" y="353441"/>
                  </a:lnTo>
                  <a:lnTo>
                    <a:pt x="188975" y="336296"/>
                  </a:lnTo>
                  <a:lnTo>
                    <a:pt x="173100" y="336296"/>
                  </a:lnTo>
                  <a:lnTo>
                    <a:pt x="170179" y="332105"/>
                  </a:lnTo>
                  <a:lnTo>
                    <a:pt x="170179" y="293497"/>
                  </a:lnTo>
                  <a:lnTo>
                    <a:pt x="153416" y="293497"/>
                  </a:lnTo>
                  <a:lnTo>
                    <a:pt x="150875" y="289306"/>
                  </a:lnTo>
                  <a:lnTo>
                    <a:pt x="150875" y="252349"/>
                  </a:lnTo>
                  <a:lnTo>
                    <a:pt x="134620" y="252349"/>
                  </a:lnTo>
                  <a:lnTo>
                    <a:pt x="131064" y="250317"/>
                  </a:lnTo>
                  <a:lnTo>
                    <a:pt x="131064" y="210693"/>
                  </a:lnTo>
                  <a:lnTo>
                    <a:pt x="114808" y="210693"/>
                  </a:lnTo>
                  <a:lnTo>
                    <a:pt x="112268" y="208026"/>
                  </a:lnTo>
                  <a:lnTo>
                    <a:pt x="112268" y="168910"/>
                  </a:lnTo>
                  <a:lnTo>
                    <a:pt x="96012" y="168910"/>
                  </a:lnTo>
                  <a:lnTo>
                    <a:pt x="92456" y="165227"/>
                  </a:lnTo>
                  <a:lnTo>
                    <a:pt x="92456" y="126111"/>
                  </a:lnTo>
                  <a:lnTo>
                    <a:pt x="76708" y="126111"/>
                  </a:lnTo>
                  <a:lnTo>
                    <a:pt x="73660" y="123571"/>
                  </a:lnTo>
                  <a:lnTo>
                    <a:pt x="73660" y="88138"/>
                  </a:lnTo>
                  <a:lnTo>
                    <a:pt x="56896" y="88138"/>
                  </a:lnTo>
                  <a:lnTo>
                    <a:pt x="56896" y="332105"/>
                  </a:lnTo>
                  <a:lnTo>
                    <a:pt x="92456" y="332105"/>
                  </a:lnTo>
                  <a:lnTo>
                    <a:pt x="96012" y="336296"/>
                  </a:lnTo>
                  <a:lnTo>
                    <a:pt x="96012" y="353441"/>
                  </a:lnTo>
                  <a:lnTo>
                    <a:pt x="92456" y="356108"/>
                  </a:lnTo>
                  <a:lnTo>
                    <a:pt x="2032" y="356108"/>
                  </a:lnTo>
                  <a:lnTo>
                    <a:pt x="0" y="353441"/>
                  </a:lnTo>
                  <a:lnTo>
                    <a:pt x="0" y="336296"/>
                  </a:lnTo>
                  <a:lnTo>
                    <a:pt x="2032" y="332105"/>
                  </a:lnTo>
                  <a:lnTo>
                    <a:pt x="38100" y="332105"/>
                  </a:lnTo>
                  <a:lnTo>
                    <a:pt x="38100" y="24003"/>
                  </a:lnTo>
                  <a:lnTo>
                    <a:pt x="2032" y="24003"/>
                  </a:lnTo>
                  <a:lnTo>
                    <a:pt x="0" y="21336"/>
                  </a:lnTo>
                  <a:lnTo>
                    <a:pt x="0" y="3683"/>
                  </a:lnTo>
                  <a:lnTo>
                    <a:pt x="2032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0" name="object 40"/>
            <p:cNvSpPr/>
            <p:nvPr/>
          </p:nvSpPr>
          <p:spPr>
            <a:xfrm>
              <a:off x="7310627" y="3415284"/>
              <a:ext cx="187325" cy="356235"/>
            </a:xfrm>
            <a:custGeom>
              <a:avLst/>
              <a:gdLst/>
              <a:ahLst/>
              <a:cxnLst/>
              <a:rect l="l" t="t" r="r" b="b"/>
              <a:pathLst>
                <a:path w="187325" h="356235">
                  <a:moveTo>
                    <a:pt x="130175" y="336296"/>
                  </a:moveTo>
                  <a:lnTo>
                    <a:pt x="53721" y="336296"/>
                  </a:lnTo>
                  <a:lnTo>
                    <a:pt x="53721" y="353441"/>
                  </a:lnTo>
                  <a:lnTo>
                    <a:pt x="56261" y="356108"/>
                  </a:lnTo>
                  <a:lnTo>
                    <a:pt x="127762" y="356108"/>
                  </a:lnTo>
                  <a:lnTo>
                    <a:pt x="130175" y="353441"/>
                  </a:lnTo>
                  <a:lnTo>
                    <a:pt x="130175" y="336296"/>
                  </a:lnTo>
                  <a:close/>
                </a:path>
                <a:path w="187325" h="356235">
                  <a:moveTo>
                    <a:pt x="184530" y="0"/>
                  </a:moveTo>
                  <a:lnTo>
                    <a:pt x="112014" y="0"/>
                  </a:lnTo>
                  <a:lnTo>
                    <a:pt x="109474" y="3683"/>
                  </a:lnTo>
                  <a:lnTo>
                    <a:pt x="109474" y="21336"/>
                  </a:lnTo>
                  <a:lnTo>
                    <a:pt x="74549" y="21336"/>
                  </a:lnTo>
                  <a:lnTo>
                    <a:pt x="72008" y="24003"/>
                  </a:lnTo>
                  <a:lnTo>
                    <a:pt x="72008" y="41656"/>
                  </a:lnTo>
                  <a:lnTo>
                    <a:pt x="56261" y="41656"/>
                  </a:lnTo>
                  <a:lnTo>
                    <a:pt x="53721" y="45847"/>
                  </a:lnTo>
                  <a:lnTo>
                    <a:pt x="53721" y="63627"/>
                  </a:lnTo>
                  <a:lnTo>
                    <a:pt x="40513" y="63627"/>
                  </a:lnTo>
                  <a:lnTo>
                    <a:pt x="36956" y="66675"/>
                  </a:lnTo>
                  <a:lnTo>
                    <a:pt x="36956" y="84455"/>
                  </a:lnTo>
                  <a:lnTo>
                    <a:pt x="20700" y="84455"/>
                  </a:lnTo>
                  <a:lnTo>
                    <a:pt x="18288" y="88138"/>
                  </a:lnTo>
                  <a:lnTo>
                    <a:pt x="18288" y="123571"/>
                  </a:lnTo>
                  <a:lnTo>
                    <a:pt x="2031" y="123571"/>
                  </a:lnTo>
                  <a:lnTo>
                    <a:pt x="0" y="126111"/>
                  </a:lnTo>
                  <a:lnTo>
                    <a:pt x="0" y="289306"/>
                  </a:lnTo>
                  <a:lnTo>
                    <a:pt x="2031" y="293497"/>
                  </a:lnTo>
                  <a:lnTo>
                    <a:pt x="18288" y="293497"/>
                  </a:lnTo>
                  <a:lnTo>
                    <a:pt x="18288" y="332105"/>
                  </a:lnTo>
                  <a:lnTo>
                    <a:pt x="20700" y="336296"/>
                  </a:lnTo>
                  <a:lnTo>
                    <a:pt x="165226" y="336296"/>
                  </a:lnTo>
                  <a:lnTo>
                    <a:pt x="167767" y="332105"/>
                  </a:lnTo>
                  <a:lnTo>
                    <a:pt x="92710" y="332105"/>
                  </a:lnTo>
                  <a:lnTo>
                    <a:pt x="92710" y="314325"/>
                  </a:lnTo>
                  <a:lnTo>
                    <a:pt x="90804" y="311277"/>
                  </a:lnTo>
                  <a:lnTo>
                    <a:pt x="56261" y="311277"/>
                  </a:lnTo>
                  <a:lnTo>
                    <a:pt x="56261" y="274193"/>
                  </a:lnTo>
                  <a:lnTo>
                    <a:pt x="53721" y="271653"/>
                  </a:lnTo>
                  <a:lnTo>
                    <a:pt x="40513" y="271653"/>
                  </a:lnTo>
                  <a:lnTo>
                    <a:pt x="40513" y="168910"/>
                  </a:lnTo>
                  <a:lnTo>
                    <a:pt x="72008" y="168910"/>
                  </a:lnTo>
                  <a:lnTo>
                    <a:pt x="74549" y="165227"/>
                  </a:lnTo>
                  <a:lnTo>
                    <a:pt x="74549" y="148082"/>
                  </a:lnTo>
                  <a:lnTo>
                    <a:pt x="167767" y="148082"/>
                  </a:lnTo>
                  <a:lnTo>
                    <a:pt x="165226" y="145415"/>
                  </a:lnTo>
                  <a:lnTo>
                    <a:pt x="56261" y="145415"/>
                  </a:lnTo>
                  <a:lnTo>
                    <a:pt x="56261" y="108458"/>
                  </a:lnTo>
                  <a:lnTo>
                    <a:pt x="72008" y="108458"/>
                  </a:lnTo>
                  <a:lnTo>
                    <a:pt x="74549" y="105791"/>
                  </a:lnTo>
                  <a:lnTo>
                    <a:pt x="74549" y="66675"/>
                  </a:lnTo>
                  <a:lnTo>
                    <a:pt x="90804" y="66675"/>
                  </a:lnTo>
                  <a:lnTo>
                    <a:pt x="92710" y="63627"/>
                  </a:lnTo>
                  <a:lnTo>
                    <a:pt x="92710" y="45847"/>
                  </a:lnTo>
                  <a:lnTo>
                    <a:pt x="127762" y="45847"/>
                  </a:lnTo>
                  <a:lnTo>
                    <a:pt x="130175" y="41656"/>
                  </a:lnTo>
                  <a:lnTo>
                    <a:pt x="130175" y="24003"/>
                  </a:lnTo>
                  <a:lnTo>
                    <a:pt x="184530" y="24003"/>
                  </a:lnTo>
                  <a:lnTo>
                    <a:pt x="186944" y="21336"/>
                  </a:lnTo>
                  <a:lnTo>
                    <a:pt x="186944" y="3683"/>
                  </a:lnTo>
                  <a:lnTo>
                    <a:pt x="184530" y="0"/>
                  </a:lnTo>
                  <a:close/>
                </a:path>
                <a:path w="187325" h="356235">
                  <a:moveTo>
                    <a:pt x="167767" y="148082"/>
                  </a:moveTo>
                  <a:lnTo>
                    <a:pt x="109474" y="148082"/>
                  </a:lnTo>
                  <a:lnTo>
                    <a:pt x="109474" y="165227"/>
                  </a:lnTo>
                  <a:lnTo>
                    <a:pt x="112014" y="168910"/>
                  </a:lnTo>
                  <a:lnTo>
                    <a:pt x="127762" y="168910"/>
                  </a:lnTo>
                  <a:lnTo>
                    <a:pt x="127762" y="187198"/>
                  </a:lnTo>
                  <a:lnTo>
                    <a:pt x="130175" y="190246"/>
                  </a:lnTo>
                  <a:lnTo>
                    <a:pt x="146557" y="190246"/>
                  </a:lnTo>
                  <a:lnTo>
                    <a:pt x="146557" y="289306"/>
                  </a:lnTo>
                  <a:lnTo>
                    <a:pt x="130175" y="289306"/>
                  </a:lnTo>
                  <a:lnTo>
                    <a:pt x="127762" y="293497"/>
                  </a:lnTo>
                  <a:lnTo>
                    <a:pt x="127762" y="311277"/>
                  </a:lnTo>
                  <a:lnTo>
                    <a:pt x="112014" y="311277"/>
                  </a:lnTo>
                  <a:lnTo>
                    <a:pt x="109474" y="314325"/>
                  </a:lnTo>
                  <a:lnTo>
                    <a:pt x="109474" y="332105"/>
                  </a:lnTo>
                  <a:lnTo>
                    <a:pt x="167767" y="332105"/>
                  </a:lnTo>
                  <a:lnTo>
                    <a:pt x="167767" y="293497"/>
                  </a:lnTo>
                  <a:lnTo>
                    <a:pt x="184530" y="293497"/>
                  </a:lnTo>
                  <a:lnTo>
                    <a:pt x="186944" y="289306"/>
                  </a:lnTo>
                  <a:lnTo>
                    <a:pt x="186944" y="190246"/>
                  </a:lnTo>
                  <a:lnTo>
                    <a:pt x="184530" y="187198"/>
                  </a:lnTo>
                  <a:lnTo>
                    <a:pt x="167767" y="187198"/>
                  </a:lnTo>
                  <a:lnTo>
                    <a:pt x="167767" y="148082"/>
                  </a:lnTo>
                  <a:close/>
                </a:path>
                <a:path w="187325" h="356235">
                  <a:moveTo>
                    <a:pt x="127762" y="123571"/>
                  </a:moveTo>
                  <a:lnTo>
                    <a:pt x="74549" y="123571"/>
                  </a:lnTo>
                  <a:lnTo>
                    <a:pt x="72008" y="126111"/>
                  </a:lnTo>
                  <a:lnTo>
                    <a:pt x="72008" y="145415"/>
                  </a:lnTo>
                  <a:lnTo>
                    <a:pt x="130175" y="145415"/>
                  </a:lnTo>
                  <a:lnTo>
                    <a:pt x="130175" y="126111"/>
                  </a:lnTo>
                  <a:lnTo>
                    <a:pt x="127762" y="123571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41" name="object 4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46569" y="3558793"/>
              <a:ext cx="115188" cy="193166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7310627" y="3415284"/>
              <a:ext cx="187325" cy="356235"/>
            </a:xfrm>
            <a:custGeom>
              <a:avLst/>
              <a:gdLst/>
              <a:ahLst/>
              <a:cxnLst/>
              <a:rect l="l" t="t" r="r" b="b"/>
              <a:pathLst>
                <a:path w="187325" h="356235">
                  <a:moveTo>
                    <a:pt x="112014" y="0"/>
                  </a:moveTo>
                  <a:lnTo>
                    <a:pt x="184530" y="0"/>
                  </a:lnTo>
                  <a:lnTo>
                    <a:pt x="186944" y="3683"/>
                  </a:lnTo>
                  <a:lnTo>
                    <a:pt x="186944" y="21336"/>
                  </a:lnTo>
                  <a:lnTo>
                    <a:pt x="184530" y="24003"/>
                  </a:lnTo>
                  <a:lnTo>
                    <a:pt x="130175" y="24003"/>
                  </a:lnTo>
                  <a:lnTo>
                    <a:pt x="130175" y="41656"/>
                  </a:lnTo>
                  <a:lnTo>
                    <a:pt x="127762" y="45847"/>
                  </a:lnTo>
                  <a:lnTo>
                    <a:pt x="92710" y="45847"/>
                  </a:lnTo>
                  <a:lnTo>
                    <a:pt x="92710" y="63627"/>
                  </a:lnTo>
                  <a:lnTo>
                    <a:pt x="90804" y="66675"/>
                  </a:lnTo>
                  <a:lnTo>
                    <a:pt x="74549" y="66675"/>
                  </a:lnTo>
                  <a:lnTo>
                    <a:pt x="74549" y="105791"/>
                  </a:lnTo>
                  <a:lnTo>
                    <a:pt x="72008" y="108458"/>
                  </a:lnTo>
                  <a:lnTo>
                    <a:pt x="56261" y="108458"/>
                  </a:lnTo>
                  <a:lnTo>
                    <a:pt x="56261" y="145415"/>
                  </a:lnTo>
                  <a:lnTo>
                    <a:pt x="72008" y="145415"/>
                  </a:lnTo>
                  <a:lnTo>
                    <a:pt x="72008" y="126111"/>
                  </a:lnTo>
                  <a:lnTo>
                    <a:pt x="74549" y="123571"/>
                  </a:lnTo>
                  <a:lnTo>
                    <a:pt x="127762" y="123571"/>
                  </a:lnTo>
                  <a:lnTo>
                    <a:pt x="130175" y="126111"/>
                  </a:lnTo>
                  <a:lnTo>
                    <a:pt x="130175" y="145415"/>
                  </a:lnTo>
                  <a:lnTo>
                    <a:pt x="165226" y="145415"/>
                  </a:lnTo>
                  <a:lnTo>
                    <a:pt x="167767" y="148082"/>
                  </a:lnTo>
                  <a:lnTo>
                    <a:pt x="167767" y="187198"/>
                  </a:lnTo>
                  <a:lnTo>
                    <a:pt x="184530" y="187198"/>
                  </a:lnTo>
                  <a:lnTo>
                    <a:pt x="186944" y="190246"/>
                  </a:lnTo>
                  <a:lnTo>
                    <a:pt x="186944" y="289306"/>
                  </a:lnTo>
                  <a:lnTo>
                    <a:pt x="184530" y="293497"/>
                  </a:lnTo>
                  <a:lnTo>
                    <a:pt x="167767" y="293497"/>
                  </a:lnTo>
                  <a:lnTo>
                    <a:pt x="167767" y="332105"/>
                  </a:lnTo>
                  <a:lnTo>
                    <a:pt x="165226" y="336296"/>
                  </a:lnTo>
                  <a:lnTo>
                    <a:pt x="130175" y="336296"/>
                  </a:lnTo>
                  <a:lnTo>
                    <a:pt x="130175" y="353441"/>
                  </a:lnTo>
                  <a:lnTo>
                    <a:pt x="127762" y="356108"/>
                  </a:lnTo>
                  <a:lnTo>
                    <a:pt x="56261" y="356108"/>
                  </a:lnTo>
                  <a:lnTo>
                    <a:pt x="53721" y="353441"/>
                  </a:lnTo>
                  <a:lnTo>
                    <a:pt x="53721" y="336296"/>
                  </a:lnTo>
                  <a:lnTo>
                    <a:pt x="20700" y="336296"/>
                  </a:lnTo>
                  <a:lnTo>
                    <a:pt x="18288" y="332105"/>
                  </a:lnTo>
                  <a:lnTo>
                    <a:pt x="18288" y="293497"/>
                  </a:lnTo>
                  <a:lnTo>
                    <a:pt x="2031" y="293497"/>
                  </a:lnTo>
                  <a:lnTo>
                    <a:pt x="0" y="289306"/>
                  </a:lnTo>
                  <a:lnTo>
                    <a:pt x="0" y="126111"/>
                  </a:lnTo>
                  <a:lnTo>
                    <a:pt x="2031" y="123571"/>
                  </a:lnTo>
                  <a:lnTo>
                    <a:pt x="18288" y="123571"/>
                  </a:lnTo>
                  <a:lnTo>
                    <a:pt x="18288" y="88138"/>
                  </a:lnTo>
                  <a:lnTo>
                    <a:pt x="20700" y="84455"/>
                  </a:lnTo>
                  <a:lnTo>
                    <a:pt x="36956" y="84455"/>
                  </a:lnTo>
                  <a:lnTo>
                    <a:pt x="36956" y="66675"/>
                  </a:lnTo>
                  <a:lnTo>
                    <a:pt x="40513" y="63627"/>
                  </a:lnTo>
                  <a:lnTo>
                    <a:pt x="53721" y="63627"/>
                  </a:lnTo>
                  <a:lnTo>
                    <a:pt x="53721" y="45847"/>
                  </a:lnTo>
                  <a:lnTo>
                    <a:pt x="56261" y="41656"/>
                  </a:lnTo>
                  <a:lnTo>
                    <a:pt x="72008" y="41656"/>
                  </a:lnTo>
                  <a:lnTo>
                    <a:pt x="72008" y="24003"/>
                  </a:lnTo>
                  <a:lnTo>
                    <a:pt x="74549" y="21336"/>
                  </a:lnTo>
                  <a:lnTo>
                    <a:pt x="109474" y="21336"/>
                  </a:lnTo>
                  <a:lnTo>
                    <a:pt x="109474" y="3683"/>
                  </a:lnTo>
                  <a:lnTo>
                    <a:pt x="112014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3061788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6877" y="420829"/>
            <a:ext cx="10002684" cy="696772"/>
          </a:xfrm>
          <a:prstGeom prst="rect">
            <a:avLst/>
          </a:prstGeom>
        </p:spPr>
        <p:txBody>
          <a:bodyPr vert="horz" wrap="square" lIns="0" tIns="19473" rIns="0" bIns="0" rtlCol="0" anchor="ctr">
            <a:spAutoFit/>
          </a:bodyPr>
          <a:lstStyle/>
          <a:p>
            <a:pPr marL="702716">
              <a:lnSpc>
                <a:spcPct val="100000"/>
              </a:lnSpc>
              <a:spcBef>
                <a:spcPts val="153"/>
              </a:spcBef>
            </a:pPr>
            <a:r>
              <a:rPr spc="-13" dirty="0"/>
              <a:t>Iterative</a:t>
            </a:r>
            <a:r>
              <a:rPr spc="-180" dirty="0"/>
              <a:t> </a:t>
            </a:r>
            <a:r>
              <a:rPr dirty="0"/>
              <a:t>Nature</a:t>
            </a:r>
            <a:r>
              <a:rPr spc="-93" dirty="0"/>
              <a:t> </a:t>
            </a:r>
            <a:r>
              <a:rPr dirty="0"/>
              <a:t>of</a:t>
            </a:r>
            <a:r>
              <a:rPr spc="-87" dirty="0"/>
              <a:t> </a:t>
            </a:r>
            <a:r>
              <a:rPr spc="-13" dirty="0"/>
              <a:t>Design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07753" y="1117601"/>
            <a:ext cx="11633200" cy="2906117"/>
          </a:xfrm>
          <a:prstGeom prst="rect">
            <a:avLst/>
          </a:prstGeom>
        </p:spPr>
        <p:txBody>
          <a:bodyPr vert="horz" wrap="square" lIns="0" tIns="317500" rIns="0" bIns="0" rtlCol="0">
            <a:spAutoFit/>
          </a:bodyPr>
          <a:lstStyle/>
          <a:p>
            <a:pPr marL="473275" indent="-456342">
              <a:spcBef>
                <a:spcPts val="2500"/>
              </a:spcBef>
              <a:buFont typeface="Arial MT"/>
              <a:buChar char="•"/>
              <a:tabLst>
                <a:tab pos="473275" algn="l"/>
              </a:tabLst>
            </a:pPr>
            <a:r>
              <a:rPr sz="4267" dirty="0">
                <a:solidFill>
                  <a:srgbClr val="000099"/>
                </a:solidFill>
                <a:latin typeface="Calibri"/>
                <a:cs typeface="Calibri"/>
              </a:rPr>
              <a:t>Good</a:t>
            </a:r>
            <a:r>
              <a:rPr sz="4267" spc="-40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4267" dirty="0">
                <a:solidFill>
                  <a:srgbClr val="000099"/>
                </a:solidFill>
                <a:latin typeface="Calibri"/>
                <a:cs typeface="Calibri"/>
              </a:rPr>
              <a:t>software</a:t>
            </a:r>
            <a:r>
              <a:rPr sz="4267" spc="-120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4267" spc="-13" dirty="0">
                <a:solidFill>
                  <a:srgbClr val="000099"/>
                </a:solidFill>
                <a:latin typeface="Calibri"/>
                <a:cs typeface="Calibri"/>
              </a:rPr>
              <a:t>designs:</a:t>
            </a:r>
            <a:endParaRPr sz="4267" dirty="0">
              <a:latin typeface="Calibri"/>
              <a:cs typeface="Calibri"/>
            </a:endParaRPr>
          </a:p>
          <a:p>
            <a:pPr marL="1009201" lvl="1" indent="-382684">
              <a:spcBef>
                <a:spcPts val="2373"/>
              </a:spcBef>
              <a:buFont typeface="Arial MT"/>
              <a:buChar char="–"/>
              <a:tabLst>
                <a:tab pos="1009201" algn="l"/>
              </a:tabLst>
            </a:pPr>
            <a:r>
              <a:rPr sz="4267" dirty="0">
                <a:solidFill>
                  <a:srgbClr val="000099"/>
                </a:solidFill>
                <a:latin typeface="Calibri"/>
                <a:cs typeface="Calibri"/>
              </a:rPr>
              <a:t>Seldom</a:t>
            </a:r>
            <a:r>
              <a:rPr sz="4267" spc="-80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4267" dirty="0">
                <a:solidFill>
                  <a:srgbClr val="000099"/>
                </a:solidFill>
                <a:latin typeface="Calibri"/>
                <a:cs typeface="Calibri"/>
              </a:rPr>
              <a:t>arrived</a:t>
            </a:r>
            <a:r>
              <a:rPr sz="4267" spc="-100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4267" dirty="0">
                <a:solidFill>
                  <a:srgbClr val="000099"/>
                </a:solidFill>
                <a:latin typeface="Calibri"/>
                <a:cs typeface="Calibri"/>
              </a:rPr>
              <a:t>through</a:t>
            </a:r>
            <a:r>
              <a:rPr sz="4267" spc="-147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4267" dirty="0">
                <a:solidFill>
                  <a:srgbClr val="000099"/>
                </a:solidFill>
                <a:latin typeface="Calibri"/>
                <a:cs typeface="Calibri"/>
              </a:rPr>
              <a:t>a</a:t>
            </a:r>
            <a:r>
              <a:rPr sz="4267" spc="-100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4267" dirty="0">
                <a:solidFill>
                  <a:srgbClr val="000099"/>
                </a:solidFill>
                <a:latin typeface="Calibri"/>
                <a:cs typeface="Calibri"/>
              </a:rPr>
              <a:t>single</a:t>
            </a:r>
            <a:r>
              <a:rPr sz="4267" spc="-87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4267" dirty="0">
                <a:solidFill>
                  <a:srgbClr val="000099"/>
                </a:solidFill>
                <a:latin typeface="Calibri"/>
                <a:cs typeface="Calibri"/>
              </a:rPr>
              <a:t>step</a:t>
            </a:r>
            <a:r>
              <a:rPr sz="4267" spc="-100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4267" spc="-13" dirty="0">
                <a:solidFill>
                  <a:srgbClr val="000099"/>
                </a:solidFill>
                <a:latin typeface="Calibri"/>
                <a:cs typeface="Calibri"/>
              </a:rPr>
              <a:t>procedure:</a:t>
            </a:r>
            <a:endParaRPr sz="4267" dirty="0">
              <a:latin typeface="Calibri"/>
              <a:cs typeface="Calibri"/>
            </a:endParaRPr>
          </a:p>
          <a:p>
            <a:pPr marL="1009201" lvl="1" indent="-382684">
              <a:spcBef>
                <a:spcPts val="2373"/>
              </a:spcBef>
              <a:buFont typeface="Arial MT"/>
              <a:buChar char="–"/>
              <a:tabLst>
                <a:tab pos="1009201" algn="l"/>
              </a:tabLst>
            </a:pPr>
            <a:r>
              <a:rPr sz="4267" dirty="0">
                <a:solidFill>
                  <a:srgbClr val="800000"/>
                </a:solidFill>
                <a:latin typeface="Calibri"/>
                <a:cs typeface="Calibri"/>
              </a:rPr>
              <a:t>But</a:t>
            </a:r>
            <a:r>
              <a:rPr sz="4267" spc="-67" dirty="0">
                <a:solidFill>
                  <a:srgbClr val="800000"/>
                </a:solidFill>
                <a:latin typeface="Calibri"/>
                <a:cs typeface="Calibri"/>
              </a:rPr>
              <a:t> </a:t>
            </a:r>
            <a:r>
              <a:rPr sz="4267" dirty="0">
                <a:solidFill>
                  <a:srgbClr val="800000"/>
                </a:solidFill>
                <a:latin typeface="Calibri"/>
                <a:cs typeface="Calibri"/>
              </a:rPr>
              <a:t>through</a:t>
            </a:r>
            <a:r>
              <a:rPr sz="4267" spc="-113" dirty="0">
                <a:solidFill>
                  <a:srgbClr val="800000"/>
                </a:solidFill>
                <a:latin typeface="Calibri"/>
                <a:cs typeface="Calibri"/>
              </a:rPr>
              <a:t> </a:t>
            </a:r>
            <a:r>
              <a:rPr sz="4267" dirty="0">
                <a:solidFill>
                  <a:srgbClr val="800000"/>
                </a:solidFill>
                <a:latin typeface="Calibri"/>
                <a:cs typeface="Calibri"/>
              </a:rPr>
              <a:t>a</a:t>
            </a:r>
            <a:r>
              <a:rPr sz="4267" spc="-67" dirty="0">
                <a:solidFill>
                  <a:srgbClr val="800000"/>
                </a:solidFill>
                <a:latin typeface="Calibri"/>
                <a:cs typeface="Calibri"/>
              </a:rPr>
              <a:t> </a:t>
            </a:r>
            <a:r>
              <a:rPr sz="4267" dirty="0">
                <a:solidFill>
                  <a:srgbClr val="800000"/>
                </a:solidFill>
                <a:latin typeface="Calibri"/>
                <a:cs typeface="Calibri"/>
              </a:rPr>
              <a:t>series</a:t>
            </a:r>
            <a:r>
              <a:rPr sz="4267" spc="-73" dirty="0">
                <a:solidFill>
                  <a:srgbClr val="800000"/>
                </a:solidFill>
                <a:latin typeface="Calibri"/>
                <a:cs typeface="Calibri"/>
              </a:rPr>
              <a:t> </a:t>
            </a:r>
            <a:r>
              <a:rPr sz="4267" dirty="0">
                <a:solidFill>
                  <a:srgbClr val="800000"/>
                </a:solidFill>
                <a:latin typeface="Calibri"/>
                <a:cs typeface="Calibri"/>
              </a:rPr>
              <a:t>of</a:t>
            </a:r>
            <a:r>
              <a:rPr sz="4267" spc="-67" dirty="0">
                <a:solidFill>
                  <a:srgbClr val="800000"/>
                </a:solidFill>
                <a:latin typeface="Calibri"/>
                <a:cs typeface="Calibri"/>
              </a:rPr>
              <a:t> </a:t>
            </a:r>
            <a:r>
              <a:rPr sz="4267" dirty="0">
                <a:solidFill>
                  <a:srgbClr val="800000"/>
                </a:solidFill>
                <a:latin typeface="Calibri"/>
                <a:cs typeface="Calibri"/>
              </a:rPr>
              <a:t>steps</a:t>
            </a:r>
            <a:r>
              <a:rPr sz="4267" spc="-120" dirty="0">
                <a:solidFill>
                  <a:srgbClr val="800000"/>
                </a:solidFill>
                <a:latin typeface="Calibri"/>
                <a:cs typeface="Calibri"/>
              </a:rPr>
              <a:t> </a:t>
            </a:r>
            <a:r>
              <a:rPr sz="4267" dirty="0">
                <a:solidFill>
                  <a:srgbClr val="800000"/>
                </a:solidFill>
                <a:latin typeface="Calibri"/>
                <a:cs typeface="Calibri"/>
              </a:rPr>
              <a:t>and</a:t>
            </a:r>
            <a:r>
              <a:rPr sz="4267" spc="-60" dirty="0">
                <a:solidFill>
                  <a:srgbClr val="800000"/>
                </a:solidFill>
                <a:latin typeface="Calibri"/>
                <a:cs typeface="Calibri"/>
              </a:rPr>
              <a:t> </a:t>
            </a:r>
            <a:r>
              <a:rPr sz="4267" spc="-13" dirty="0">
                <a:solidFill>
                  <a:srgbClr val="800000"/>
                </a:solidFill>
                <a:latin typeface="Calibri"/>
                <a:cs typeface="Calibri"/>
              </a:rPr>
              <a:t>iterations.</a:t>
            </a:r>
            <a:endParaRPr sz="4267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56105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5871" y="404006"/>
            <a:ext cx="9914194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54345">
              <a:lnSpc>
                <a:spcPct val="100000"/>
              </a:lnSpc>
              <a:spcBef>
                <a:spcPts val="133"/>
              </a:spcBef>
            </a:pPr>
            <a:r>
              <a:rPr dirty="0"/>
              <a:t>Stages</a:t>
            </a:r>
            <a:r>
              <a:rPr spc="-47" dirty="0"/>
              <a:t> </a:t>
            </a:r>
            <a:r>
              <a:rPr dirty="0"/>
              <a:t>in</a:t>
            </a:r>
            <a:r>
              <a:rPr spc="-113" dirty="0"/>
              <a:t> </a:t>
            </a:r>
            <a:r>
              <a:rPr spc="-13" dirty="0"/>
              <a:t>Design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8012" y="1717645"/>
            <a:ext cx="10402145" cy="376940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73275" indent="-456342">
              <a:spcBef>
                <a:spcPts val="133"/>
              </a:spcBef>
              <a:buFont typeface="Arial MT"/>
              <a:buChar char="•"/>
              <a:tabLst>
                <a:tab pos="473275" algn="l"/>
              </a:tabLst>
            </a:pPr>
            <a:r>
              <a:rPr sz="3600" dirty="0">
                <a:latin typeface="Calibri"/>
                <a:cs typeface="Calibri"/>
              </a:rPr>
              <a:t>Design</a:t>
            </a:r>
            <a:r>
              <a:rPr sz="3600" spc="-33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activities</a:t>
            </a:r>
            <a:r>
              <a:rPr sz="3600" spc="-113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are</a:t>
            </a:r>
            <a:r>
              <a:rPr sz="3600" spc="-12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usually</a:t>
            </a:r>
            <a:r>
              <a:rPr sz="3600" spc="-53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classified</a:t>
            </a:r>
            <a:r>
              <a:rPr sz="3600" spc="-33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into</a:t>
            </a:r>
            <a:r>
              <a:rPr sz="3600" spc="-87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two</a:t>
            </a:r>
            <a:r>
              <a:rPr sz="3600" spc="-80" dirty="0">
                <a:latin typeface="Calibri"/>
                <a:cs typeface="Calibri"/>
              </a:rPr>
              <a:t> </a:t>
            </a:r>
            <a:r>
              <a:rPr sz="3600" spc="-13" dirty="0">
                <a:latin typeface="Calibri"/>
                <a:cs typeface="Calibri"/>
              </a:rPr>
              <a:t>stages:</a:t>
            </a:r>
            <a:endParaRPr sz="3600" dirty="0">
              <a:latin typeface="Calibri"/>
              <a:cs typeface="Calibri"/>
            </a:endParaRPr>
          </a:p>
          <a:p>
            <a:pPr marL="1010048" lvl="1" indent="-383530">
              <a:spcBef>
                <a:spcPts val="2327"/>
              </a:spcBef>
              <a:buFont typeface="Arial MT"/>
              <a:buChar char="–"/>
              <a:tabLst>
                <a:tab pos="1010048" algn="l"/>
                <a:tab pos="3719314" algn="l"/>
              </a:tabLst>
            </a:pPr>
            <a:r>
              <a:rPr sz="3200" b="1" dirty="0">
                <a:solidFill>
                  <a:srgbClr val="0000FF"/>
                </a:solidFill>
                <a:latin typeface="Calibri"/>
                <a:cs typeface="Calibri"/>
              </a:rPr>
              <a:t>Preliminary</a:t>
            </a:r>
            <a:r>
              <a:rPr sz="3200" b="1" spc="-17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b="1" spc="-33" dirty="0">
                <a:solidFill>
                  <a:srgbClr val="0000FF"/>
                </a:solidFill>
                <a:latin typeface="Calibri"/>
                <a:cs typeface="Calibri"/>
              </a:rPr>
              <a:t>(or</a:t>
            </a:r>
            <a:r>
              <a:rPr sz="3200" b="1" dirty="0">
                <a:solidFill>
                  <a:srgbClr val="0000FF"/>
                </a:solidFill>
                <a:latin typeface="Calibri"/>
                <a:cs typeface="Calibri"/>
              </a:rPr>
              <a:t>	</a:t>
            </a:r>
            <a:r>
              <a:rPr sz="3200" b="1" spc="-13" dirty="0">
                <a:solidFill>
                  <a:srgbClr val="0000FF"/>
                </a:solidFill>
                <a:latin typeface="Calibri"/>
                <a:cs typeface="Calibri"/>
              </a:rPr>
              <a:t>high-</a:t>
            </a:r>
            <a:r>
              <a:rPr sz="3200" b="1" dirty="0">
                <a:solidFill>
                  <a:srgbClr val="0000FF"/>
                </a:solidFill>
                <a:latin typeface="Calibri"/>
                <a:cs typeface="Calibri"/>
              </a:rPr>
              <a:t>level)</a:t>
            </a:r>
            <a:r>
              <a:rPr sz="3200" b="1" spc="-8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b="1" spc="-13" dirty="0">
                <a:solidFill>
                  <a:srgbClr val="0000FF"/>
                </a:solidFill>
                <a:latin typeface="Calibri"/>
                <a:cs typeface="Calibri"/>
              </a:rPr>
              <a:t>design</a:t>
            </a:r>
            <a:endParaRPr sz="3200" dirty="0">
              <a:latin typeface="Calibri"/>
              <a:cs typeface="Calibri"/>
            </a:endParaRPr>
          </a:p>
          <a:p>
            <a:pPr marL="1010048" lvl="1" indent="-383530">
              <a:spcBef>
                <a:spcPts val="2213"/>
              </a:spcBef>
              <a:buFont typeface="Arial MT"/>
              <a:buChar char="–"/>
              <a:tabLst>
                <a:tab pos="1010048" algn="l"/>
              </a:tabLst>
            </a:pPr>
            <a:r>
              <a:rPr sz="3200" b="1" dirty="0">
                <a:solidFill>
                  <a:srgbClr val="0000FF"/>
                </a:solidFill>
                <a:latin typeface="Calibri"/>
                <a:cs typeface="Calibri"/>
              </a:rPr>
              <a:t>Detailed</a:t>
            </a:r>
            <a:r>
              <a:rPr sz="3200" b="1" spc="-13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b="1" spc="-13" dirty="0">
                <a:solidFill>
                  <a:srgbClr val="0000FF"/>
                </a:solidFill>
                <a:latin typeface="Calibri"/>
                <a:cs typeface="Calibri"/>
              </a:rPr>
              <a:t>design.</a:t>
            </a:r>
            <a:endParaRPr sz="3200" dirty="0">
              <a:latin typeface="Calibri"/>
              <a:cs typeface="Calibri"/>
            </a:endParaRPr>
          </a:p>
          <a:p>
            <a:pPr marL="473275" indent="-456342">
              <a:spcBef>
                <a:spcPts val="2247"/>
              </a:spcBef>
              <a:buFont typeface="Arial MT"/>
              <a:buChar char="•"/>
              <a:tabLst>
                <a:tab pos="473275" algn="l"/>
              </a:tabLst>
            </a:pPr>
            <a:r>
              <a:rPr sz="3600" dirty="0">
                <a:latin typeface="Calibri"/>
                <a:cs typeface="Calibri"/>
              </a:rPr>
              <a:t>Meaning</a:t>
            </a:r>
            <a:r>
              <a:rPr sz="3600" spc="-27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and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scope</a:t>
            </a:r>
            <a:r>
              <a:rPr sz="3600" spc="-67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of</a:t>
            </a:r>
            <a:r>
              <a:rPr sz="3600" spc="-8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the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two</a:t>
            </a:r>
            <a:r>
              <a:rPr sz="3600" spc="-80" dirty="0">
                <a:latin typeface="Calibri"/>
                <a:cs typeface="Calibri"/>
              </a:rPr>
              <a:t> </a:t>
            </a:r>
            <a:r>
              <a:rPr sz="3600" spc="-13" dirty="0">
                <a:latin typeface="Calibri"/>
                <a:cs typeface="Calibri"/>
              </a:rPr>
              <a:t>stages:</a:t>
            </a:r>
            <a:endParaRPr sz="3600" dirty="0">
              <a:latin typeface="Calibri"/>
              <a:cs typeface="Calibri"/>
            </a:endParaRPr>
          </a:p>
          <a:p>
            <a:pPr marL="1010048" lvl="1" indent="-383530">
              <a:spcBef>
                <a:spcPts val="2373"/>
              </a:spcBef>
              <a:buFont typeface="Arial MT"/>
              <a:buChar char="–"/>
              <a:tabLst>
                <a:tab pos="1010048" algn="l"/>
              </a:tabLst>
            </a:pPr>
            <a:r>
              <a:rPr sz="3200" dirty="0">
                <a:latin typeface="Calibri"/>
                <a:cs typeface="Calibri"/>
              </a:rPr>
              <a:t>vary</a:t>
            </a:r>
            <a:r>
              <a:rPr sz="3200" spc="-73" dirty="0">
                <a:latin typeface="Calibri"/>
                <a:cs typeface="Calibri"/>
              </a:rPr>
              <a:t> </a:t>
            </a:r>
            <a:r>
              <a:rPr sz="3200" spc="-13" dirty="0">
                <a:latin typeface="Calibri"/>
                <a:cs typeface="Calibri"/>
              </a:rPr>
              <a:t>considerably</a:t>
            </a:r>
            <a:r>
              <a:rPr sz="3200" spc="-33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from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one</a:t>
            </a:r>
            <a:r>
              <a:rPr sz="3200" spc="-73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methodology</a:t>
            </a:r>
            <a:r>
              <a:rPr sz="3200" spc="-152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73" dirty="0">
                <a:latin typeface="Calibri"/>
                <a:cs typeface="Calibri"/>
              </a:rPr>
              <a:t> </a:t>
            </a:r>
            <a:r>
              <a:rPr sz="3200" spc="-13" dirty="0">
                <a:latin typeface="Calibri"/>
                <a:cs typeface="Calibri"/>
              </a:rPr>
              <a:t>another.</a:t>
            </a:r>
            <a:endParaRPr sz="32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86278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0620" y="330301"/>
            <a:ext cx="7996903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538355">
              <a:lnSpc>
                <a:spcPct val="100000"/>
              </a:lnSpc>
              <a:spcBef>
                <a:spcPts val="133"/>
              </a:spcBef>
            </a:pPr>
            <a:r>
              <a:rPr spc="-27" dirty="0"/>
              <a:t>High-</a:t>
            </a:r>
            <a:r>
              <a:rPr dirty="0"/>
              <a:t>level</a:t>
            </a:r>
            <a:r>
              <a:rPr spc="-73" dirty="0"/>
              <a:t> </a:t>
            </a:r>
            <a:r>
              <a:rPr spc="-13" dirty="0"/>
              <a:t>design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0879" y="1346364"/>
            <a:ext cx="9209193" cy="3992802"/>
          </a:xfrm>
          <a:prstGeom prst="rect">
            <a:avLst/>
          </a:prstGeom>
        </p:spPr>
        <p:txBody>
          <a:bodyPr vert="horz" wrap="square" lIns="0" tIns="349673" rIns="0" bIns="0" rtlCol="0">
            <a:spAutoFit/>
          </a:bodyPr>
          <a:lstStyle/>
          <a:p>
            <a:pPr marL="596038" indent="-579106">
              <a:spcBef>
                <a:spcPts val="2753"/>
              </a:spcBef>
              <a:buFont typeface="Arial MT"/>
              <a:buChar char="•"/>
              <a:tabLst>
                <a:tab pos="596038" algn="l"/>
              </a:tabLst>
            </a:pPr>
            <a:r>
              <a:rPr sz="4267" spc="-13" dirty="0">
                <a:latin typeface="Calibri"/>
                <a:cs typeface="Calibri"/>
              </a:rPr>
              <a:t>Identify:</a:t>
            </a:r>
            <a:endParaRPr sz="4267" dirty="0">
              <a:latin typeface="Calibri"/>
              <a:cs typeface="Calibri"/>
            </a:endParaRPr>
          </a:p>
          <a:p>
            <a:pPr marL="1010048" lvl="1" indent="-383530">
              <a:spcBef>
                <a:spcPts val="2613"/>
              </a:spcBef>
              <a:buFont typeface="Arial MT"/>
              <a:buChar char="–"/>
              <a:tabLst>
                <a:tab pos="1010048" algn="l"/>
              </a:tabLst>
            </a:pPr>
            <a:r>
              <a:rPr sz="4267" spc="-13" dirty="0">
                <a:latin typeface="Calibri"/>
                <a:cs typeface="Calibri"/>
              </a:rPr>
              <a:t>modules</a:t>
            </a:r>
            <a:endParaRPr sz="4267" dirty="0">
              <a:latin typeface="Calibri"/>
              <a:cs typeface="Calibri"/>
            </a:endParaRPr>
          </a:p>
          <a:p>
            <a:pPr marL="1010048" lvl="1" indent="-383530">
              <a:spcBef>
                <a:spcPts val="2667"/>
              </a:spcBef>
              <a:buFont typeface="Arial MT"/>
              <a:buChar char="–"/>
              <a:tabLst>
                <a:tab pos="1010048" algn="l"/>
              </a:tabLst>
            </a:pPr>
            <a:r>
              <a:rPr sz="4267" dirty="0">
                <a:latin typeface="Calibri"/>
                <a:cs typeface="Calibri"/>
              </a:rPr>
              <a:t>control</a:t>
            </a:r>
            <a:r>
              <a:rPr sz="4267" spc="-113" dirty="0">
                <a:latin typeface="Calibri"/>
                <a:cs typeface="Calibri"/>
              </a:rPr>
              <a:t> </a:t>
            </a:r>
            <a:r>
              <a:rPr sz="4267" spc="-13" dirty="0">
                <a:latin typeface="Calibri"/>
                <a:cs typeface="Calibri"/>
              </a:rPr>
              <a:t>relationships</a:t>
            </a:r>
            <a:r>
              <a:rPr sz="4267" spc="-140" dirty="0">
                <a:latin typeface="Calibri"/>
                <a:cs typeface="Calibri"/>
              </a:rPr>
              <a:t> </a:t>
            </a:r>
            <a:r>
              <a:rPr sz="4267" dirty="0">
                <a:latin typeface="Calibri"/>
                <a:cs typeface="Calibri"/>
              </a:rPr>
              <a:t>among</a:t>
            </a:r>
            <a:r>
              <a:rPr sz="4267" spc="-93" dirty="0">
                <a:latin typeface="Calibri"/>
                <a:cs typeface="Calibri"/>
              </a:rPr>
              <a:t> </a:t>
            </a:r>
            <a:r>
              <a:rPr sz="4267" spc="-13" dirty="0">
                <a:latin typeface="Calibri"/>
                <a:cs typeface="Calibri"/>
              </a:rPr>
              <a:t>modules</a:t>
            </a:r>
            <a:endParaRPr sz="4267" dirty="0">
              <a:latin typeface="Calibri"/>
              <a:cs typeface="Calibri"/>
            </a:endParaRPr>
          </a:p>
          <a:p>
            <a:pPr marL="1010048" lvl="1" indent="-383530">
              <a:spcBef>
                <a:spcPts val="2613"/>
              </a:spcBef>
              <a:buFont typeface="Arial MT"/>
              <a:buChar char="–"/>
              <a:tabLst>
                <a:tab pos="1010048" algn="l"/>
                <a:tab pos="5068020" algn="l"/>
              </a:tabLst>
            </a:pPr>
            <a:r>
              <a:rPr sz="4267" spc="-13" dirty="0">
                <a:latin typeface="Calibri"/>
                <a:cs typeface="Calibri"/>
              </a:rPr>
              <a:t>interfaces</a:t>
            </a:r>
            <a:r>
              <a:rPr sz="4267" spc="-152" dirty="0">
                <a:latin typeface="Calibri"/>
                <a:cs typeface="Calibri"/>
              </a:rPr>
              <a:t> </a:t>
            </a:r>
            <a:r>
              <a:rPr sz="4267" spc="-27" dirty="0">
                <a:latin typeface="Calibri"/>
                <a:cs typeface="Calibri"/>
              </a:rPr>
              <a:t>among</a:t>
            </a:r>
            <a:r>
              <a:rPr sz="4267" dirty="0">
                <a:latin typeface="Calibri"/>
                <a:cs typeface="Calibri"/>
              </a:rPr>
              <a:t>	</a:t>
            </a:r>
            <a:r>
              <a:rPr sz="4267" spc="-13" dirty="0">
                <a:latin typeface="Calibri"/>
                <a:cs typeface="Calibri"/>
              </a:rPr>
              <a:t>modules.</a:t>
            </a:r>
            <a:endParaRPr sz="4267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09104" y="987551"/>
            <a:ext cx="3895344" cy="213969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186333" y="1315211"/>
            <a:ext cx="242147" cy="258982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6933">
              <a:spcBef>
                <a:spcPts val="180"/>
              </a:spcBef>
            </a:pPr>
            <a:r>
              <a:rPr sz="1533" b="1" spc="-33" dirty="0">
                <a:latin typeface="Times New Roman"/>
                <a:cs typeface="Times New Roman"/>
              </a:rPr>
              <a:t>d1</a:t>
            </a:r>
            <a:endParaRPr sz="1533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01241" y="1285240"/>
            <a:ext cx="242147" cy="258982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6933">
              <a:spcBef>
                <a:spcPts val="180"/>
              </a:spcBef>
            </a:pPr>
            <a:r>
              <a:rPr sz="1533" b="1" spc="-33" dirty="0">
                <a:latin typeface="Times New Roman"/>
                <a:cs typeface="Times New Roman"/>
              </a:rPr>
              <a:t>d2</a:t>
            </a:r>
            <a:endParaRPr sz="1533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235019" y="2153683"/>
            <a:ext cx="242147" cy="2616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6933">
              <a:spcBef>
                <a:spcPts val="120"/>
              </a:spcBef>
            </a:pPr>
            <a:r>
              <a:rPr sz="1600" b="1" spc="-33" dirty="0">
                <a:latin typeface="Times New Roman"/>
                <a:cs typeface="Times New Roman"/>
              </a:rPr>
              <a:t>d3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73388" y="2230459"/>
            <a:ext cx="242147" cy="258982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6933">
              <a:spcBef>
                <a:spcPts val="180"/>
              </a:spcBef>
            </a:pPr>
            <a:r>
              <a:rPr sz="1533" b="1" spc="-33" dirty="0">
                <a:latin typeface="Times New Roman"/>
                <a:cs typeface="Times New Roman"/>
              </a:rPr>
              <a:t>d1</a:t>
            </a:r>
            <a:endParaRPr sz="1533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720072" y="2153683"/>
            <a:ext cx="242147" cy="2616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6933">
              <a:spcBef>
                <a:spcPts val="120"/>
              </a:spcBef>
            </a:pPr>
            <a:r>
              <a:rPr sz="1600" b="1" spc="-33" dirty="0">
                <a:latin typeface="Times New Roman"/>
                <a:cs typeface="Times New Roman"/>
              </a:rPr>
              <a:t>d4</a:t>
            </a:r>
            <a:endParaRPr sz="16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87248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4554" y="333858"/>
            <a:ext cx="10714567" cy="378633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6294" algn="ctr">
              <a:spcBef>
                <a:spcPts val="133"/>
              </a:spcBef>
            </a:pPr>
            <a:r>
              <a:rPr sz="4800" b="1" spc="-27" dirty="0">
                <a:latin typeface="Calibri"/>
                <a:cs typeface="Calibri"/>
              </a:rPr>
              <a:t>High-</a:t>
            </a:r>
            <a:r>
              <a:rPr sz="4800" b="1" dirty="0">
                <a:latin typeface="Calibri"/>
                <a:cs typeface="Calibri"/>
              </a:rPr>
              <a:t>level</a:t>
            </a:r>
            <a:r>
              <a:rPr sz="4800" b="1" spc="-73" dirty="0">
                <a:latin typeface="Calibri"/>
                <a:cs typeface="Calibri"/>
              </a:rPr>
              <a:t> </a:t>
            </a:r>
            <a:r>
              <a:rPr sz="4800" b="1" spc="-13" dirty="0">
                <a:latin typeface="Calibri"/>
                <a:cs typeface="Calibri"/>
              </a:rPr>
              <a:t>design</a:t>
            </a:r>
            <a:endParaRPr sz="4800">
              <a:latin typeface="Calibri"/>
              <a:cs typeface="Calibri"/>
            </a:endParaRPr>
          </a:p>
          <a:p>
            <a:pPr marL="473275" indent="-456342">
              <a:spcBef>
                <a:spcPts val="3613"/>
              </a:spcBef>
              <a:buFont typeface="Arial MT"/>
              <a:buChar char="•"/>
              <a:tabLst>
                <a:tab pos="473275" algn="l"/>
              </a:tabLst>
            </a:pPr>
            <a:r>
              <a:rPr sz="4800" dirty="0">
                <a:latin typeface="Calibri"/>
                <a:cs typeface="Calibri"/>
              </a:rPr>
              <a:t>The</a:t>
            </a:r>
            <a:r>
              <a:rPr sz="4800" spc="-100" dirty="0">
                <a:latin typeface="Calibri"/>
                <a:cs typeface="Calibri"/>
              </a:rPr>
              <a:t> </a:t>
            </a:r>
            <a:r>
              <a:rPr sz="4800" dirty="0">
                <a:latin typeface="Calibri"/>
                <a:cs typeface="Calibri"/>
              </a:rPr>
              <a:t>outcome</a:t>
            </a:r>
            <a:r>
              <a:rPr sz="4800" spc="-100" dirty="0">
                <a:latin typeface="Calibri"/>
                <a:cs typeface="Calibri"/>
              </a:rPr>
              <a:t> </a:t>
            </a:r>
            <a:r>
              <a:rPr sz="4800" dirty="0">
                <a:latin typeface="Calibri"/>
                <a:cs typeface="Calibri"/>
              </a:rPr>
              <a:t>of</a:t>
            </a:r>
            <a:r>
              <a:rPr sz="4800" spc="-47" dirty="0">
                <a:latin typeface="Calibri"/>
                <a:cs typeface="Calibri"/>
              </a:rPr>
              <a:t> </a:t>
            </a:r>
            <a:r>
              <a:rPr sz="4800" dirty="0">
                <a:latin typeface="Calibri"/>
                <a:cs typeface="Calibri"/>
              </a:rPr>
              <a:t>high-level</a:t>
            </a:r>
            <a:r>
              <a:rPr sz="4800" spc="-152" dirty="0">
                <a:latin typeface="Calibri"/>
                <a:cs typeface="Calibri"/>
              </a:rPr>
              <a:t> </a:t>
            </a:r>
            <a:r>
              <a:rPr sz="4800" spc="-13" dirty="0">
                <a:latin typeface="Calibri"/>
                <a:cs typeface="Calibri"/>
              </a:rPr>
              <a:t>design:</a:t>
            </a:r>
            <a:endParaRPr sz="4800">
              <a:latin typeface="Calibri"/>
              <a:cs typeface="Calibri"/>
            </a:endParaRPr>
          </a:p>
          <a:p>
            <a:pPr marL="1010895" marR="6773" indent="-385224">
              <a:lnSpc>
                <a:spcPct val="110100"/>
              </a:lnSpc>
              <a:spcBef>
                <a:spcPts val="1587"/>
              </a:spcBef>
            </a:pPr>
            <a:r>
              <a:rPr sz="4800" dirty="0">
                <a:solidFill>
                  <a:srgbClr val="0000FF"/>
                </a:solidFill>
                <a:latin typeface="Arial MT"/>
                <a:cs typeface="Arial MT"/>
              </a:rPr>
              <a:t>–</a:t>
            </a:r>
            <a:r>
              <a:rPr sz="4800" dirty="0">
                <a:solidFill>
                  <a:srgbClr val="0000FF"/>
                </a:solidFill>
                <a:latin typeface="Calibri"/>
                <a:cs typeface="Calibri"/>
              </a:rPr>
              <a:t>program</a:t>
            </a:r>
            <a:r>
              <a:rPr sz="4800" spc="-47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800" spc="-13" dirty="0">
                <a:solidFill>
                  <a:srgbClr val="0000FF"/>
                </a:solidFill>
                <a:latin typeface="Calibri"/>
                <a:cs typeface="Calibri"/>
              </a:rPr>
              <a:t>structure,</a:t>
            </a:r>
            <a:r>
              <a:rPr sz="4800" spc="-1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800" dirty="0">
                <a:solidFill>
                  <a:srgbClr val="0000FF"/>
                </a:solidFill>
                <a:latin typeface="Calibri"/>
                <a:cs typeface="Calibri"/>
              </a:rPr>
              <a:t>also</a:t>
            </a:r>
            <a:r>
              <a:rPr sz="4800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800" dirty="0">
                <a:solidFill>
                  <a:srgbClr val="0000FF"/>
                </a:solidFill>
                <a:latin typeface="Calibri"/>
                <a:cs typeface="Calibri"/>
              </a:rPr>
              <a:t>called</a:t>
            </a:r>
            <a:r>
              <a:rPr sz="480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800" spc="-13" dirty="0">
                <a:solidFill>
                  <a:srgbClr val="0000FF"/>
                </a:solidFill>
                <a:latin typeface="Calibri"/>
                <a:cs typeface="Calibri"/>
              </a:rPr>
              <a:t>software architecture.</a:t>
            </a:r>
            <a:endParaRPr sz="48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14095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54027" y="380094"/>
            <a:ext cx="4611547" cy="674608"/>
          </a:xfrm>
          <a:prstGeom prst="rect">
            <a:avLst/>
          </a:prstGeom>
        </p:spPr>
        <p:txBody>
          <a:bodyPr vert="horz" wrap="square" lIns="0" tIns="17780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40"/>
              </a:spcBef>
            </a:pPr>
            <a:r>
              <a:rPr sz="4267" spc="-13" dirty="0"/>
              <a:t>High-</a:t>
            </a:r>
            <a:r>
              <a:rPr sz="4267" dirty="0"/>
              <a:t>level</a:t>
            </a:r>
            <a:r>
              <a:rPr sz="4267" spc="-60" dirty="0"/>
              <a:t> </a:t>
            </a:r>
            <a:r>
              <a:rPr sz="4267" spc="-13" dirty="0"/>
              <a:t>Design</a:t>
            </a:r>
            <a:endParaRPr sz="4267" dirty="0"/>
          </a:p>
        </p:txBody>
      </p:sp>
      <p:sp>
        <p:nvSpPr>
          <p:cNvPr id="3" name="object 3"/>
          <p:cNvSpPr txBox="1"/>
          <p:nvPr/>
        </p:nvSpPr>
        <p:spPr>
          <a:xfrm>
            <a:off x="575187" y="950784"/>
            <a:ext cx="11584742" cy="268488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74121" marR="1253035" indent="-458035">
              <a:lnSpc>
                <a:spcPct val="110500"/>
              </a:lnSpc>
              <a:spcBef>
                <a:spcPts val="133"/>
              </a:spcBef>
              <a:buFont typeface="Arial MT"/>
              <a:buChar char="•"/>
              <a:tabLst>
                <a:tab pos="474121" algn="l"/>
              </a:tabLst>
            </a:pPr>
            <a:r>
              <a:rPr sz="3733" dirty="0">
                <a:latin typeface="Calibri"/>
                <a:cs typeface="Calibri"/>
              </a:rPr>
              <a:t>Several</a:t>
            </a:r>
            <a:r>
              <a:rPr sz="3733" spc="-127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notations</a:t>
            </a:r>
            <a:r>
              <a:rPr sz="3733" spc="-107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are</a:t>
            </a:r>
            <a:r>
              <a:rPr sz="3733" spc="-80" dirty="0">
                <a:latin typeface="Calibri"/>
                <a:cs typeface="Calibri"/>
              </a:rPr>
              <a:t> </a:t>
            </a:r>
            <a:r>
              <a:rPr sz="3733" spc="-13" dirty="0">
                <a:latin typeface="Calibri"/>
                <a:cs typeface="Calibri"/>
              </a:rPr>
              <a:t>available</a:t>
            </a:r>
            <a:r>
              <a:rPr sz="3733" spc="-167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to</a:t>
            </a:r>
            <a:r>
              <a:rPr sz="3733" spc="-100" dirty="0">
                <a:latin typeface="Calibri"/>
                <a:cs typeface="Calibri"/>
              </a:rPr>
              <a:t> </a:t>
            </a:r>
            <a:r>
              <a:rPr sz="3733" spc="-13" dirty="0">
                <a:latin typeface="Calibri"/>
                <a:cs typeface="Calibri"/>
              </a:rPr>
              <a:t>represent</a:t>
            </a:r>
            <a:r>
              <a:rPr sz="3733" spc="-173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high-</a:t>
            </a:r>
            <a:r>
              <a:rPr sz="3733" spc="-13" dirty="0">
                <a:latin typeface="Calibri"/>
                <a:cs typeface="Calibri"/>
              </a:rPr>
              <a:t>level design:</a:t>
            </a:r>
            <a:endParaRPr sz="3733" dirty="0">
              <a:latin typeface="Calibri"/>
              <a:cs typeface="Calibri"/>
            </a:endParaRPr>
          </a:p>
          <a:p>
            <a:pPr marL="626518">
              <a:spcBef>
                <a:spcPts val="1907"/>
              </a:spcBef>
              <a:tabLst>
                <a:tab pos="2625448" algn="l"/>
              </a:tabLst>
            </a:pPr>
            <a:r>
              <a:rPr sz="3733" dirty="0">
                <a:latin typeface="Arial MT"/>
                <a:cs typeface="Arial MT"/>
              </a:rPr>
              <a:t>–</a:t>
            </a:r>
            <a:r>
              <a:rPr sz="3733" spc="-100" dirty="0">
                <a:latin typeface="Arial MT"/>
                <a:cs typeface="Arial MT"/>
              </a:rPr>
              <a:t> </a:t>
            </a:r>
            <a:r>
              <a:rPr sz="3733" spc="-13" dirty="0">
                <a:latin typeface="Calibri"/>
                <a:cs typeface="Calibri"/>
              </a:rPr>
              <a:t>Usually</a:t>
            </a:r>
            <a:r>
              <a:rPr sz="3733" dirty="0">
                <a:latin typeface="Calibri"/>
                <a:cs typeface="Calibri"/>
              </a:rPr>
              <a:t>	a</a:t>
            </a:r>
            <a:r>
              <a:rPr sz="3733" spc="-100" dirty="0">
                <a:latin typeface="Calibri"/>
                <a:cs typeface="Calibri"/>
              </a:rPr>
              <a:t> </a:t>
            </a:r>
            <a:r>
              <a:rPr sz="3733" spc="-13" dirty="0">
                <a:latin typeface="Calibri"/>
                <a:cs typeface="Calibri"/>
              </a:rPr>
              <a:t>tree-</a:t>
            </a:r>
            <a:r>
              <a:rPr sz="3733" dirty="0">
                <a:latin typeface="Calibri"/>
                <a:cs typeface="Calibri"/>
              </a:rPr>
              <a:t>like</a:t>
            </a:r>
            <a:r>
              <a:rPr sz="3733" spc="-120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diagram</a:t>
            </a:r>
            <a:r>
              <a:rPr sz="3733" spc="-53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called</a:t>
            </a:r>
            <a:r>
              <a:rPr sz="3733" spc="-100" dirty="0">
                <a:latin typeface="Calibri"/>
                <a:cs typeface="Calibri"/>
              </a:rPr>
              <a:t> </a:t>
            </a:r>
            <a:r>
              <a:rPr sz="3733" b="1" dirty="0">
                <a:solidFill>
                  <a:srgbClr val="0000FF"/>
                </a:solidFill>
                <a:latin typeface="Calibri"/>
                <a:cs typeface="Calibri"/>
              </a:rPr>
              <a:t>structure</a:t>
            </a:r>
            <a:r>
              <a:rPr sz="3733" b="1" spc="-9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733" b="1" dirty="0">
                <a:solidFill>
                  <a:srgbClr val="0000FF"/>
                </a:solidFill>
                <a:latin typeface="Calibri"/>
                <a:cs typeface="Calibri"/>
              </a:rPr>
              <a:t>chart</a:t>
            </a:r>
            <a:r>
              <a:rPr sz="3733" b="1" spc="-11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is</a:t>
            </a:r>
            <a:r>
              <a:rPr sz="3733" spc="-60" dirty="0">
                <a:latin typeface="Calibri"/>
                <a:cs typeface="Calibri"/>
              </a:rPr>
              <a:t> </a:t>
            </a:r>
            <a:r>
              <a:rPr sz="3733" spc="-13" dirty="0">
                <a:latin typeface="Calibri"/>
                <a:cs typeface="Calibri"/>
              </a:rPr>
              <a:t>used.</a:t>
            </a:r>
            <a:endParaRPr sz="3733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1817" y="3484822"/>
            <a:ext cx="3605953" cy="593262"/>
          </a:xfrm>
          <a:prstGeom prst="rect">
            <a:avLst/>
          </a:prstGeom>
        </p:spPr>
        <p:txBody>
          <a:bodyPr vert="horz" wrap="square" lIns="0" tIns="18627" rIns="0" bIns="0" rtlCol="0">
            <a:spAutoFit/>
          </a:bodyPr>
          <a:lstStyle/>
          <a:p>
            <a:pPr marL="16933">
              <a:spcBef>
                <a:spcPts val="147"/>
              </a:spcBef>
            </a:pPr>
            <a:r>
              <a:rPr sz="3733" dirty="0">
                <a:latin typeface="Arial MT"/>
                <a:cs typeface="Arial MT"/>
              </a:rPr>
              <a:t>–</a:t>
            </a:r>
            <a:r>
              <a:rPr sz="3733" spc="-100" dirty="0">
                <a:latin typeface="Arial MT"/>
                <a:cs typeface="Arial MT"/>
              </a:rPr>
              <a:t> </a:t>
            </a:r>
            <a:r>
              <a:rPr sz="3733" dirty="0">
                <a:latin typeface="Calibri"/>
                <a:cs typeface="Calibri"/>
              </a:rPr>
              <a:t>Other</a:t>
            </a:r>
            <a:r>
              <a:rPr sz="3733" spc="-33" dirty="0">
                <a:latin typeface="Calibri"/>
                <a:cs typeface="Calibri"/>
              </a:rPr>
              <a:t> </a:t>
            </a:r>
            <a:r>
              <a:rPr sz="3733" spc="-13" dirty="0">
                <a:latin typeface="Calibri"/>
                <a:cs typeface="Calibri"/>
              </a:rPr>
              <a:t>notations:</a:t>
            </a:r>
            <a:endParaRPr sz="3733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19274" y="4292686"/>
            <a:ext cx="6579447" cy="1291465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320031" marR="6773" indent="-303098">
              <a:lnSpc>
                <a:spcPct val="110500"/>
              </a:lnSpc>
              <a:spcBef>
                <a:spcPts val="127"/>
              </a:spcBef>
              <a:buFont typeface="Arial MT"/>
              <a:buChar char="•"/>
              <a:tabLst>
                <a:tab pos="321725" algn="l"/>
                <a:tab pos="3691374" algn="l"/>
              </a:tabLst>
            </a:pPr>
            <a:r>
              <a:rPr sz="3733" dirty="0">
                <a:latin typeface="Calibri"/>
                <a:cs typeface="Calibri"/>
              </a:rPr>
              <a:t>Jackson</a:t>
            </a:r>
            <a:r>
              <a:rPr sz="3733" spc="-73" dirty="0">
                <a:latin typeface="Calibri"/>
                <a:cs typeface="Calibri"/>
              </a:rPr>
              <a:t> </a:t>
            </a:r>
            <a:r>
              <a:rPr sz="3733" spc="-13" dirty="0">
                <a:latin typeface="Calibri"/>
                <a:cs typeface="Calibri"/>
              </a:rPr>
              <a:t>diagram</a:t>
            </a:r>
            <a:r>
              <a:rPr sz="3733" dirty="0">
                <a:latin typeface="Calibri"/>
                <a:cs typeface="Calibri"/>
              </a:rPr>
              <a:t>	or</a:t>
            </a:r>
            <a:r>
              <a:rPr sz="3733" spc="27" dirty="0">
                <a:latin typeface="Calibri"/>
                <a:cs typeface="Calibri"/>
              </a:rPr>
              <a:t> </a:t>
            </a:r>
            <a:r>
              <a:rPr sz="3733" spc="-33" dirty="0">
                <a:latin typeface="Calibri"/>
                <a:cs typeface="Calibri"/>
              </a:rPr>
              <a:t>Warnier-Orr 	</a:t>
            </a:r>
            <a:r>
              <a:rPr sz="3733" dirty="0">
                <a:latin typeface="Calibri"/>
                <a:cs typeface="Calibri"/>
              </a:rPr>
              <a:t>diagram</a:t>
            </a:r>
            <a:r>
              <a:rPr sz="3733" spc="-80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can</a:t>
            </a:r>
            <a:r>
              <a:rPr sz="3733" spc="-27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also</a:t>
            </a:r>
            <a:r>
              <a:rPr sz="3733" spc="-80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be</a:t>
            </a:r>
            <a:r>
              <a:rPr sz="3733" spc="-67" dirty="0">
                <a:latin typeface="Calibri"/>
                <a:cs typeface="Calibri"/>
              </a:rPr>
              <a:t> </a:t>
            </a:r>
            <a:r>
              <a:rPr sz="3733" spc="-13" dirty="0">
                <a:latin typeface="Calibri"/>
                <a:cs typeface="Calibri"/>
              </a:rPr>
              <a:t>used.</a:t>
            </a:r>
            <a:endParaRPr sz="3733" dirty="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02752" y="3218688"/>
            <a:ext cx="3895344" cy="214579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177948" y="3552443"/>
            <a:ext cx="242147" cy="258982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6933">
              <a:spcBef>
                <a:spcPts val="180"/>
              </a:spcBef>
            </a:pPr>
            <a:r>
              <a:rPr sz="1533" b="1" spc="-33" dirty="0">
                <a:latin typeface="Times New Roman"/>
                <a:cs typeface="Times New Roman"/>
              </a:rPr>
              <a:t>d1</a:t>
            </a:r>
            <a:endParaRPr sz="1533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092858" y="3522471"/>
            <a:ext cx="242993" cy="258982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6933">
              <a:spcBef>
                <a:spcPts val="180"/>
              </a:spcBef>
            </a:pPr>
            <a:r>
              <a:rPr sz="1533" b="1" spc="-33" dirty="0">
                <a:latin typeface="Times New Roman"/>
                <a:cs typeface="Times New Roman"/>
              </a:rPr>
              <a:t>d2</a:t>
            </a:r>
            <a:endParaRPr sz="1533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226635" y="4390915"/>
            <a:ext cx="242147" cy="2616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6933">
              <a:spcBef>
                <a:spcPts val="120"/>
              </a:spcBef>
            </a:pPr>
            <a:r>
              <a:rPr sz="1600" b="1" spc="-33" dirty="0">
                <a:latin typeface="Times New Roman"/>
                <a:cs typeface="Times New Roman"/>
              </a:rPr>
              <a:t>d3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065511" y="4467689"/>
            <a:ext cx="242147" cy="258982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6933">
              <a:spcBef>
                <a:spcPts val="180"/>
              </a:spcBef>
            </a:pPr>
            <a:r>
              <a:rPr sz="1533" b="1" spc="-33" dirty="0">
                <a:latin typeface="Times New Roman"/>
                <a:cs typeface="Times New Roman"/>
              </a:rPr>
              <a:t>d1</a:t>
            </a:r>
            <a:endParaRPr sz="1533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711689" y="4390915"/>
            <a:ext cx="242993" cy="2616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6933">
              <a:spcBef>
                <a:spcPts val="120"/>
              </a:spcBef>
            </a:pPr>
            <a:r>
              <a:rPr sz="1600" b="1" spc="-33" dirty="0">
                <a:latin typeface="Times New Roman"/>
                <a:cs typeface="Times New Roman"/>
              </a:rPr>
              <a:t>d4</a:t>
            </a:r>
            <a:endParaRPr sz="16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3923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1835" y="369871"/>
            <a:ext cx="3948007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dirty="0"/>
              <a:t>Detailed</a:t>
            </a:r>
            <a:r>
              <a:rPr spc="-220" dirty="0"/>
              <a:t> </a:t>
            </a:r>
            <a:r>
              <a:rPr spc="-13" dirty="0"/>
              <a:t>design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7753" y="859752"/>
            <a:ext cx="7198360" cy="4734095"/>
          </a:xfrm>
          <a:prstGeom prst="rect">
            <a:avLst/>
          </a:prstGeom>
        </p:spPr>
        <p:txBody>
          <a:bodyPr vert="horz" wrap="square" lIns="0" tIns="293793" rIns="0" bIns="0" rtlCol="0">
            <a:spAutoFit/>
          </a:bodyPr>
          <a:lstStyle/>
          <a:p>
            <a:pPr marL="473275" indent="-456342">
              <a:spcBef>
                <a:spcPts val="2313"/>
              </a:spcBef>
              <a:buFont typeface="Arial MT"/>
              <a:buChar char="•"/>
              <a:tabLst>
                <a:tab pos="473275" algn="l"/>
              </a:tabLst>
            </a:pPr>
            <a:r>
              <a:rPr sz="4267" dirty="0">
                <a:latin typeface="Calibri"/>
                <a:cs typeface="Calibri"/>
              </a:rPr>
              <a:t>For</a:t>
            </a:r>
            <a:r>
              <a:rPr sz="4267" spc="-93" dirty="0">
                <a:latin typeface="Calibri"/>
                <a:cs typeface="Calibri"/>
              </a:rPr>
              <a:t> </a:t>
            </a:r>
            <a:r>
              <a:rPr sz="4267" dirty="0">
                <a:latin typeface="Calibri"/>
                <a:cs typeface="Calibri"/>
              </a:rPr>
              <a:t>each</a:t>
            </a:r>
            <a:r>
              <a:rPr sz="4267" spc="-127" dirty="0">
                <a:latin typeface="Calibri"/>
                <a:cs typeface="Calibri"/>
              </a:rPr>
              <a:t> </a:t>
            </a:r>
            <a:r>
              <a:rPr sz="4267" dirty="0">
                <a:latin typeface="Calibri"/>
                <a:cs typeface="Calibri"/>
              </a:rPr>
              <a:t>module,</a:t>
            </a:r>
            <a:r>
              <a:rPr sz="4267" spc="-73" dirty="0">
                <a:latin typeface="Calibri"/>
                <a:cs typeface="Calibri"/>
              </a:rPr>
              <a:t> </a:t>
            </a:r>
            <a:r>
              <a:rPr sz="4267" dirty="0">
                <a:latin typeface="Calibri"/>
                <a:cs typeface="Calibri"/>
              </a:rPr>
              <a:t>design</a:t>
            </a:r>
            <a:r>
              <a:rPr sz="4267" spc="-87" dirty="0">
                <a:latin typeface="Calibri"/>
                <a:cs typeface="Calibri"/>
              </a:rPr>
              <a:t> </a:t>
            </a:r>
            <a:r>
              <a:rPr sz="4267" dirty="0">
                <a:latin typeface="Calibri"/>
                <a:cs typeface="Calibri"/>
              </a:rPr>
              <a:t>for</a:t>
            </a:r>
            <a:r>
              <a:rPr sz="4267" spc="-87" dirty="0">
                <a:latin typeface="Calibri"/>
                <a:cs typeface="Calibri"/>
              </a:rPr>
              <a:t> </a:t>
            </a:r>
            <a:r>
              <a:rPr sz="4267" spc="-33" dirty="0">
                <a:latin typeface="Calibri"/>
                <a:cs typeface="Calibri"/>
              </a:rPr>
              <a:t>it:</a:t>
            </a:r>
            <a:endParaRPr sz="4267">
              <a:latin typeface="Calibri"/>
              <a:cs typeface="Calibri"/>
            </a:endParaRPr>
          </a:p>
          <a:p>
            <a:pPr marL="1010048" lvl="1" indent="-383530">
              <a:spcBef>
                <a:spcPts val="2180"/>
              </a:spcBef>
              <a:buFont typeface="Arial MT"/>
              <a:buChar char="–"/>
              <a:tabLst>
                <a:tab pos="1010048" algn="l"/>
              </a:tabLst>
            </a:pPr>
            <a:r>
              <a:rPr sz="4267" dirty="0">
                <a:latin typeface="Calibri"/>
                <a:cs typeface="Calibri"/>
              </a:rPr>
              <a:t>data</a:t>
            </a:r>
            <a:r>
              <a:rPr sz="4267" spc="-193" dirty="0">
                <a:latin typeface="Calibri"/>
                <a:cs typeface="Calibri"/>
              </a:rPr>
              <a:t> </a:t>
            </a:r>
            <a:r>
              <a:rPr sz="4267" spc="-13" dirty="0">
                <a:latin typeface="Calibri"/>
                <a:cs typeface="Calibri"/>
              </a:rPr>
              <a:t>structure</a:t>
            </a:r>
            <a:endParaRPr sz="4267">
              <a:latin typeface="Calibri"/>
              <a:cs typeface="Calibri"/>
            </a:endParaRPr>
          </a:p>
          <a:p>
            <a:pPr marL="1010048" lvl="1" indent="-383530">
              <a:spcBef>
                <a:spcPts val="2233"/>
              </a:spcBef>
              <a:buFont typeface="Arial MT"/>
              <a:buChar char="–"/>
              <a:tabLst>
                <a:tab pos="1010048" algn="l"/>
              </a:tabLst>
            </a:pPr>
            <a:r>
              <a:rPr sz="4267" spc="-13" dirty="0">
                <a:latin typeface="Calibri"/>
                <a:cs typeface="Calibri"/>
              </a:rPr>
              <a:t>algorithms</a:t>
            </a:r>
            <a:endParaRPr sz="4267">
              <a:latin typeface="Calibri"/>
              <a:cs typeface="Calibri"/>
            </a:endParaRPr>
          </a:p>
          <a:p>
            <a:pPr marL="473275" indent="-456342">
              <a:spcBef>
                <a:spcPts val="2419"/>
              </a:spcBef>
              <a:buFont typeface="Arial MT"/>
              <a:buChar char="•"/>
              <a:tabLst>
                <a:tab pos="473275" algn="l"/>
              </a:tabLst>
            </a:pPr>
            <a:r>
              <a:rPr sz="4267" dirty="0">
                <a:latin typeface="Calibri"/>
                <a:cs typeface="Calibri"/>
              </a:rPr>
              <a:t>Outcome</a:t>
            </a:r>
            <a:r>
              <a:rPr sz="4267" spc="-127" dirty="0">
                <a:latin typeface="Calibri"/>
                <a:cs typeface="Calibri"/>
              </a:rPr>
              <a:t> </a:t>
            </a:r>
            <a:r>
              <a:rPr sz="4267" dirty="0">
                <a:latin typeface="Calibri"/>
                <a:cs typeface="Calibri"/>
              </a:rPr>
              <a:t>of</a:t>
            </a:r>
            <a:r>
              <a:rPr sz="4267" spc="-113" dirty="0">
                <a:latin typeface="Calibri"/>
                <a:cs typeface="Calibri"/>
              </a:rPr>
              <a:t> </a:t>
            </a:r>
            <a:r>
              <a:rPr sz="4267" dirty="0">
                <a:latin typeface="Calibri"/>
                <a:cs typeface="Calibri"/>
              </a:rPr>
              <a:t>detailed</a:t>
            </a:r>
            <a:r>
              <a:rPr sz="4267" spc="-100" dirty="0">
                <a:latin typeface="Calibri"/>
                <a:cs typeface="Calibri"/>
              </a:rPr>
              <a:t> </a:t>
            </a:r>
            <a:r>
              <a:rPr sz="4267" spc="-13" dirty="0">
                <a:latin typeface="Calibri"/>
                <a:cs typeface="Calibri"/>
              </a:rPr>
              <a:t>design:</a:t>
            </a:r>
            <a:endParaRPr sz="4267">
              <a:latin typeface="Calibri"/>
              <a:cs typeface="Calibri"/>
            </a:endParaRPr>
          </a:p>
          <a:p>
            <a:pPr marL="1010048" lvl="1" indent="-383530">
              <a:spcBef>
                <a:spcPts val="2180"/>
              </a:spcBef>
              <a:buFont typeface="Arial MT"/>
              <a:buChar char="–"/>
              <a:tabLst>
                <a:tab pos="1010048" algn="l"/>
              </a:tabLst>
            </a:pPr>
            <a:r>
              <a:rPr sz="4267" dirty="0">
                <a:solidFill>
                  <a:srgbClr val="0000FF"/>
                </a:solidFill>
                <a:latin typeface="Calibri"/>
                <a:cs typeface="Calibri"/>
              </a:rPr>
              <a:t>module</a:t>
            </a:r>
            <a:r>
              <a:rPr sz="4267" spc="-1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267" spc="-13" dirty="0">
                <a:solidFill>
                  <a:srgbClr val="0000FF"/>
                </a:solidFill>
                <a:latin typeface="Calibri"/>
                <a:cs typeface="Calibri"/>
              </a:rPr>
              <a:t>specification</a:t>
            </a:r>
            <a:r>
              <a:rPr sz="4267" spc="-13" dirty="0">
                <a:latin typeface="Calibri"/>
                <a:cs typeface="Calibri"/>
              </a:rPr>
              <a:t>.</a:t>
            </a:r>
            <a:endParaRPr sz="4267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95177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94151" y="369859"/>
            <a:ext cx="7167487" cy="696772"/>
          </a:xfrm>
          <a:prstGeom prst="rect">
            <a:avLst/>
          </a:prstGeom>
        </p:spPr>
        <p:txBody>
          <a:bodyPr vert="horz" wrap="square" lIns="0" tIns="1947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53"/>
              </a:spcBef>
            </a:pPr>
            <a:r>
              <a:rPr dirty="0"/>
              <a:t>A</a:t>
            </a:r>
            <a:r>
              <a:rPr spc="-140" dirty="0"/>
              <a:t> </a:t>
            </a:r>
            <a:r>
              <a:rPr dirty="0"/>
              <a:t>fundamental</a:t>
            </a:r>
            <a:r>
              <a:rPr spc="-40" dirty="0"/>
              <a:t> </a:t>
            </a:r>
            <a:r>
              <a:rPr spc="-13" dirty="0"/>
              <a:t>question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04683" y="936969"/>
            <a:ext cx="11527709" cy="4315178"/>
          </a:xfrm>
          <a:prstGeom prst="rect">
            <a:avLst/>
          </a:prstGeom>
        </p:spPr>
        <p:txBody>
          <a:bodyPr vert="horz" wrap="square" lIns="0" tIns="348827" rIns="0" bIns="0" rtlCol="0">
            <a:spAutoFit/>
          </a:bodyPr>
          <a:lstStyle/>
          <a:p>
            <a:pPr marL="473275" indent="-456342">
              <a:spcBef>
                <a:spcPts val="2747"/>
              </a:spcBef>
              <a:buFont typeface="Arial MT"/>
              <a:buChar char="•"/>
              <a:tabLst>
                <a:tab pos="473275" algn="l"/>
                <a:tab pos="8108324" algn="l"/>
              </a:tabLst>
            </a:pPr>
            <a:r>
              <a:rPr sz="4267" dirty="0">
                <a:solidFill>
                  <a:srgbClr val="0000CC"/>
                </a:solidFill>
                <a:latin typeface="Calibri"/>
                <a:cs typeface="Calibri"/>
              </a:rPr>
              <a:t>How</a:t>
            </a:r>
            <a:r>
              <a:rPr sz="4267" spc="-93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4267" dirty="0">
                <a:solidFill>
                  <a:srgbClr val="0000CC"/>
                </a:solidFill>
                <a:latin typeface="Calibri"/>
                <a:cs typeface="Calibri"/>
              </a:rPr>
              <a:t>to</a:t>
            </a:r>
            <a:r>
              <a:rPr sz="4267" spc="-113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4267" dirty="0">
                <a:solidFill>
                  <a:srgbClr val="0000CC"/>
                </a:solidFill>
                <a:latin typeface="Calibri"/>
                <a:cs typeface="Calibri"/>
              </a:rPr>
              <a:t>distinguish</a:t>
            </a:r>
            <a:r>
              <a:rPr sz="4267" spc="-93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4267" dirty="0">
                <a:solidFill>
                  <a:srgbClr val="0000CC"/>
                </a:solidFill>
                <a:latin typeface="Calibri"/>
                <a:cs typeface="Calibri"/>
              </a:rPr>
              <a:t>between</a:t>
            </a:r>
            <a:r>
              <a:rPr sz="4267" spc="-107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4267" spc="-27" dirty="0">
                <a:solidFill>
                  <a:srgbClr val="0000CC"/>
                </a:solidFill>
                <a:latin typeface="Calibri"/>
                <a:cs typeface="Calibri"/>
              </a:rPr>
              <a:t>good</a:t>
            </a:r>
            <a:r>
              <a:rPr sz="4267" dirty="0">
                <a:solidFill>
                  <a:srgbClr val="0000CC"/>
                </a:solidFill>
                <a:latin typeface="Calibri"/>
                <a:cs typeface="Calibri"/>
              </a:rPr>
              <a:t>	and</a:t>
            </a:r>
            <a:r>
              <a:rPr sz="4267" spc="-113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4267" dirty="0">
                <a:solidFill>
                  <a:srgbClr val="0000CC"/>
                </a:solidFill>
                <a:latin typeface="Calibri"/>
                <a:cs typeface="Calibri"/>
              </a:rPr>
              <a:t>bad</a:t>
            </a:r>
            <a:r>
              <a:rPr sz="4267" spc="-53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4267" spc="-13" dirty="0">
                <a:solidFill>
                  <a:srgbClr val="0000CC"/>
                </a:solidFill>
                <a:latin typeface="Calibri"/>
                <a:cs typeface="Calibri"/>
              </a:rPr>
              <a:t>designs?</a:t>
            </a:r>
            <a:endParaRPr sz="4267" dirty="0">
              <a:latin typeface="Calibri"/>
              <a:cs typeface="Calibri"/>
            </a:endParaRPr>
          </a:p>
          <a:p>
            <a:pPr marL="1010048" lvl="1" indent="-383530">
              <a:spcBef>
                <a:spcPts val="2613"/>
              </a:spcBef>
              <a:buFont typeface="Arial MT"/>
              <a:buChar char="–"/>
              <a:tabLst>
                <a:tab pos="1010048" algn="l"/>
              </a:tabLst>
            </a:pPr>
            <a:r>
              <a:rPr sz="4267" dirty="0">
                <a:latin typeface="Calibri"/>
                <a:cs typeface="Calibri"/>
              </a:rPr>
              <a:t>Unless</a:t>
            </a:r>
            <a:r>
              <a:rPr sz="4267" spc="-47" dirty="0">
                <a:latin typeface="Calibri"/>
                <a:cs typeface="Calibri"/>
              </a:rPr>
              <a:t> </a:t>
            </a:r>
            <a:r>
              <a:rPr sz="4267" dirty="0">
                <a:latin typeface="Calibri"/>
                <a:cs typeface="Calibri"/>
              </a:rPr>
              <a:t>we</a:t>
            </a:r>
            <a:r>
              <a:rPr sz="4267" spc="-80" dirty="0">
                <a:latin typeface="Calibri"/>
                <a:cs typeface="Calibri"/>
              </a:rPr>
              <a:t> </a:t>
            </a:r>
            <a:r>
              <a:rPr sz="4267" dirty="0">
                <a:latin typeface="Calibri"/>
                <a:cs typeface="Calibri"/>
              </a:rPr>
              <a:t>know</a:t>
            </a:r>
            <a:r>
              <a:rPr sz="4267" spc="-100" dirty="0">
                <a:latin typeface="Calibri"/>
                <a:cs typeface="Calibri"/>
              </a:rPr>
              <a:t> </a:t>
            </a:r>
            <a:r>
              <a:rPr sz="4267" dirty="0">
                <a:latin typeface="Calibri"/>
                <a:cs typeface="Calibri"/>
              </a:rPr>
              <a:t>what</a:t>
            </a:r>
            <a:r>
              <a:rPr sz="4267" spc="-60" dirty="0">
                <a:latin typeface="Calibri"/>
                <a:cs typeface="Calibri"/>
              </a:rPr>
              <a:t> </a:t>
            </a:r>
            <a:r>
              <a:rPr sz="4267" dirty="0">
                <a:latin typeface="Calibri"/>
                <a:cs typeface="Calibri"/>
              </a:rPr>
              <a:t>a</a:t>
            </a:r>
            <a:r>
              <a:rPr sz="4267" spc="-100" dirty="0">
                <a:latin typeface="Calibri"/>
                <a:cs typeface="Calibri"/>
              </a:rPr>
              <a:t> </a:t>
            </a:r>
            <a:r>
              <a:rPr sz="4267" dirty="0">
                <a:latin typeface="Calibri"/>
                <a:cs typeface="Calibri"/>
              </a:rPr>
              <a:t>good</a:t>
            </a:r>
            <a:r>
              <a:rPr sz="4267" spc="-13" dirty="0">
                <a:latin typeface="Calibri"/>
                <a:cs typeface="Calibri"/>
              </a:rPr>
              <a:t> </a:t>
            </a:r>
            <a:r>
              <a:rPr sz="4267" dirty="0">
                <a:latin typeface="Calibri"/>
                <a:cs typeface="Calibri"/>
              </a:rPr>
              <a:t>software</a:t>
            </a:r>
            <a:r>
              <a:rPr sz="4267" spc="-173" dirty="0">
                <a:latin typeface="Calibri"/>
                <a:cs typeface="Calibri"/>
              </a:rPr>
              <a:t> </a:t>
            </a:r>
            <a:r>
              <a:rPr sz="4267" dirty="0">
                <a:latin typeface="Calibri"/>
                <a:cs typeface="Calibri"/>
              </a:rPr>
              <a:t>design</a:t>
            </a:r>
            <a:r>
              <a:rPr sz="4267" spc="-13" dirty="0">
                <a:latin typeface="Calibri"/>
                <a:cs typeface="Calibri"/>
              </a:rPr>
              <a:t> </a:t>
            </a:r>
            <a:r>
              <a:rPr sz="4267" spc="-33" dirty="0">
                <a:latin typeface="Calibri"/>
                <a:cs typeface="Calibri"/>
              </a:rPr>
              <a:t>is:</a:t>
            </a:r>
            <a:endParaRPr sz="4267" dirty="0">
              <a:latin typeface="Calibri"/>
              <a:cs typeface="Calibri"/>
            </a:endParaRPr>
          </a:p>
          <a:p>
            <a:pPr marL="1540048" lvl="2" indent="-303946">
              <a:spcBef>
                <a:spcPts val="2660"/>
              </a:spcBef>
              <a:buFont typeface="Arial MT"/>
              <a:buChar char="•"/>
              <a:tabLst>
                <a:tab pos="1540048" algn="l"/>
              </a:tabLst>
            </a:pPr>
            <a:r>
              <a:rPr sz="4267" dirty="0">
                <a:solidFill>
                  <a:srgbClr val="0000FF"/>
                </a:solidFill>
                <a:latin typeface="Calibri"/>
                <a:cs typeface="Calibri"/>
              </a:rPr>
              <a:t>we</a:t>
            </a:r>
            <a:r>
              <a:rPr sz="4267" spc="-8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267" dirty="0">
                <a:solidFill>
                  <a:srgbClr val="0000FF"/>
                </a:solidFill>
                <a:latin typeface="Calibri"/>
                <a:cs typeface="Calibri"/>
              </a:rPr>
              <a:t>can</a:t>
            </a:r>
            <a:r>
              <a:rPr sz="4267" spc="-10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267" dirty="0">
                <a:solidFill>
                  <a:srgbClr val="0000FF"/>
                </a:solidFill>
                <a:latin typeface="Calibri"/>
                <a:cs typeface="Calibri"/>
              </a:rPr>
              <a:t>not</a:t>
            </a:r>
            <a:r>
              <a:rPr sz="4267" spc="-5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267" dirty="0">
                <a:solidFill>
                  <a:srgbClr val="0000FF"/>
                </a:solidFill>
                <a:latin typeface="Calibri"/>
                <a:cs typeface="Calibri"/>
              </a:rPr>
              <a:t>possibly</a:t>
            </a:r>
            <a:r>
              <a:rPr sz="4267" spc="-3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267" dirty="0">
                <a:solidFill>
                  <a:srgbClr val="0000FF"/>
                </a:solidFill>
                <a:latin typeface="Calibri"/>
                <a:cs typeface="Calibri"/>
              </a:rPr>
              <a:t>design</a:t>
            </a:r>
            <a:r>
              <a:rPr sz="4267" spc="-6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267" spc="-27" dirty="0">
                <a:solidFill>
                  <a:srgbClr val="0000FF"/>
                </a:solidFill>
                <a:latin typeface="Calibri"/>
                <a:cs typeface="Calibri"/>
              </a:rPr>
              <a:t>one.</a:t>
            </a:r>
            <a:endParaRPr sz="4267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82432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1626" y="255239"/>
            <a:ext cx="9147277" cy="696772"/>
          </a:xfrm>
          <a:prstGeom prst="rect">
            <a:avLst/>
          </a:prstGeom>
        </p:spPr>
        <p:txBody>
          <a:bodyPr vert="horz" wrap="square" lIns="0" tIns="19473" rIns="0" bIns="0" rtlCol="0" anchor="ctr">
            <a:spAutoFit/>
          </a:bodyPr>
          <a:lstStyle/>
          <a:p>
            <a:pPr marL="1130272">
              <a:lnSpc>
                <a:spcPct val="100000"/>
              </a:lnSpc>
              <a:spcBef>
                <a:spcPts val="153"/>
              </a:spcBef>
            </a:pPr>
            <a:r>
              <a:rPr dirty="0"/>
              <a:t>Good</a:t>
            </a:r>
            <a:r>
              <a:rPr spc="-80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bad</a:t>
            </a:r>
            <a:r>
              <a:rPr spc="-60" dirty="0"/>
              <a:t> </a:t>
            </a:r>
            <a:r>
              <a:rPr spc="-13" dirty="0"/>
              <a:t>designs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22671" y="1267731"/>
            <a:ext cx="10542736" cy="5088701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473275" indent="-456342">
              <a:spcBef>
                <a:spcPts val="140"/>
              </a:spcBef>
              <a:buFont typeface="Arial MT"/>
              <a:buChar char="•"/>
              <a:tabLst>
                <a:tab pos="473275" algn="l"/>
              </a:tabLst>
            </a:pPr>
            <a:r>
              <a:rPr sz="4267" dirty="0">
                <a:solidFill>
                  <a:srgbClr val="0000FF"/>
                </a:solidFill>
                <a:latin typeface="Calibri"/>
                <a:cs typeface="Calibri"/>
              </a:rPr>
              <a:t>There</a:t>
            </a:r>
            <a:r>
              <a:rPr sz="4267" spc="-9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267" dirty="0">
                <a:solidFill>
                  <a:srgbClr val="0000FF"/>
                </a:solidFill>
                <a:latin typeface="Calibri"/>
                <a:cs typeface="Calibri"/>
              </a:rPr>
              <a:t>is</a:t>
            </a:r>
            <a:r>
              <a:rPr sz="4267" spc="-3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267" dirty="0">
                <a:solidFill>
                  <a:srgbClr val="0000FF"/>
                </a:solidFill>
                <a:latin typeface="Calibri"/>
                <a:cs typeface="Calibri"/>
              </a:rPr>
              <a:t>no</a:t>
            </a:r>
            <a:r>
              <a:rPr sz="4267" spc="-7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267" dirty="0">
                <a:solidFill>
                  <a:srgbClr val="0000FF"/>
                </a:solidFill>
                <a:latin typeface="Calibri"/>
                <a:cs typeface="Calibri"/>
              </a:rPr>
              <a:t>unique</a:t>
            </a:r>
            <a:r>
              <a:rPr sz="4267" spc="-9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267" dirty="0">
                <a:solidFill>
                  <a:srgbClr val="0000FF"/>
                </a:solidFill>
                <a:latin typeface="Calibri"/>
                <a:cs typeface="Calibri"/>
              </a:rPr>
              <a:t>way</a:t>
            </a:r>
            <a:r>
              <a:rPr sz="4267" spc="-9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267" dirty="0">
                <a:solidFill>
                  <a:srgbClr val="0000FF"/>
                </a:solidFill>
                <a:latin typeface="Calibri"/>
                <a:cs typeface="Calibri"/>
              </a:rPr>
              <a:t>to</a:t>
            </a:r>
            <a:r>
              <a:rPr sz="4267" spc="-7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267" dirty="0">
                <a:solidFill>
                  <a:srgbClr val="0000FF"/>
                </a:solidFill>
                <a:latin typeface="Calibri"/>
                <a:cs typeface="Calibri"/>
              </a:rPr>
              <a:t>design</a:t>
            </a:r>
            <a:r>
              <a:rPr sz="4267" spc="-7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267" dirty="0">
                <a:solidFill>
                  <a:srgbClr val="0000FF"/>
                </a:solidFill>
                <a:latin typeface="Calibri"/>
                <a:cs typeface="Calibri"/>
              </a:rPr>
              <a:t>a</a:t>
            </a:r>
            <a:r>
              <a:rPr sz="4267" spc="-7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267" spc="-13" dirty="0">
                <a:solidFill>
                  <a:srgbClr val="0000FF"/>
                </a:solidFill>
                <a:latin typeface="Calibri"/>
                <a:cs typeface="Calibri"/>
              </a:rPr>
              <a:t>software.</a:t>
            </a:r>
            <a:endParaRPr sz="4267" dirty="0">
              <a:latin typeface="Calibri"/>
              <a:cs typeface="Calibri"/>
            </a:endParaRPr>
          </a:p>
          <a:p>
            <a:pPr marL="473275" indent="-456342">
              <a:spcBef>
                <a:spcPts val="3433"/>
              </a:spcBef>
              <a:buFont typeface="Arial MT"/>
              <a:buChar char="•"/>
              <a:tabLst>
                <a:tab pos="473275" algn="l"/>
              </a:tabLst>
            </a:pPr>
            <a:r>
              <a:rPr sz="4267" dirty="0">
                <a:latin typeface="Calibri"/>
                <a:cs typeface="Calibri"/>
              </a:rPr>
              <a:t>Even</a:t>
            </a:r>
            <a:r>
              <a:rPr sz="4267" spc="-47" dirty="0">
                <a:latin typeface="Calibri"/>
                <a:cs typeface="Calibri"/>
              </a:rPr>
              <a:t> </a:t>
            </a:r>
            <a:r>
              <a:rPr sz="4267" dirty="0">
                <a:latin typeface="Calibri"/>
                <a:cs typeface="Calibri"/>
              </a:rPr>
              <a:t>while</a:t>
            </a:r>
            <a:r>
              <a:rPr sz="4267" spc="-100" dirty="0">
                <a:latin typeface="Calibri"/>
                <a:cs typeface="Calibri"/>
              </a:rPr>
              <a:t> </a:t>
            </a:r>
            <a:r>
              <a:rPr sz="4267" dirty="0">
                <a:latin typeface="Calibri"/>
                <a:cs typeface="Calibri"/>
              </a:rPr>
              <a:t>using</a:t>
            </a:r>
            <a:r>
              <a:rPr sz="4267" spc="-47" dirty="0">
                <a:latin typeface="Calibri"/>
                <a:cs typeface="Calibri"/>
              </a:rPr>
              <a:t> </a:t>
            </a:r>
            <a:r>
              <a:rPr sz="4267" dirty="0">
                <a:latin typeface="Calibri"/>
                <a:cs typeface="Calibri"/>
              </a:rPr>
              <a:t>the</a:t>
            </a:r>
            <a:r>
              <a:rPr sz="4267" spc="-100" dirty="0">
                <a:latin typeface="Calibri"/>
                <a:cs typeface="Calibri"/>
              </a:rPr>
              <a:t> </a:t>
            </a:r>
            <a:r>
              <a:rPr sz="4267" dirty="0">
                <a:latin typeface="Calibri"/>
                <a:cs typeface="Calibri"/>
              </a:rPr>
              <a:t>same</a:t>
            </a:r>
            <a:r>
              <a:rPr sz="4267" spc="-152" dirty="0">
                <a:latin typeface="Calibri"/>
                <a:cs typeface="Calibri"/>
              </a:rPr>
              <a:t> </a:t>
            </a:r>
            <a:r>
              <a:rPr sz="4267" dirty="0">
                <a:latin typeface="Calibri"/>
                <a:cs typeface="Calibri"/>
              </a:rPr>
              <a:t>design</a:t>
            </a:r>
            <a:r>
              <a:rPr sz="4267" spc="-40" dirty="0">
                <a:latin typeface="Calibri"/>
                <a:cs typeface="Calibri"/>
              </a:rPr>
              <a:t> </a:t>
            </a:r>
            <a:r>
              <a:rPr sz="4267" spc="-13" dirty="0">
                <a:latin typeface="Calibri"/>
                <a:cs typeface="Calibri"/>
              </a:rPr>
              <a:t>methodology:</a:t>
            </a:r>
            <a:endParaRPr sz="4267" dirty="0">
              <a:latin typeface="Calibri"/>
              <a:cs typeface="Calibri"/>
            </a:endParaRPr>
          </a:p>
          <a:p>
            <a:pPr marL="16933">
              <a:spcBef>
                <a:spcPts val="3387"/>
              </a:spcBef>
            </a:pPr>
            <a:r>
              <a:rPr sz="3733" dirty="0">
                <a:solidFill>
                  <a:srgbClr val="0000FF"/>
                </a:solidFill>
                <a:latin typeface="Arial MT"/>
                <a:cs typeface="Arial MT"/>
              </a:rPr>
              <a:t>–</a:t>
            </a:r>
            <a:r>
              <a:rPr sz="3733" spc="-173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3733" spc="-27" dirty="0">
                <a:solidFill>
                  <a:srgbClr val="0000FF"/>
                </a:solidFill>
                <a:latin typeface="Calibri"/>
                <a:cs typeface="Calibri"/>
              </a:rPr>
              <a:t>different</a:t>
            </a:r>
            <a:r>
              <a:rPr sz="3733" spc="-147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733" dirty="0">
                <a:solidFill>
                  <a:srgbClr val="0000FF"/>
                </a:solidFill>
                <a:latin typeface="Calibri"/>
                <a:cs typeface="Calibri"/>
              </a:rPr>
              <a:t>engineers</a:t>
            </a:r>
            <a:r>
              <a:rPr sz="3733" spc="-16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733" dirty="0">
                <a:solidFill>
                  <a:srgbClr val="0000FF"/>
                </a:solidFill>
                <a:latin typeface="Calibri"/>
                <a:cs typeface="Calibri"/>
              </a:rPr>
              <a:t>can</a:t>
            </a:r>
            <a:r>
              <a:rPr sz="3733" spc="-5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733" dirty="0">
                <a:solidFill>
                  <a:srgbClr val="0000FF"/>
                </a:solidFill>
                <a:latin typeface="Calibri"/>
                <a:cs typeface="Calibri"/>
              </a:rPr>
              <a:t>arrive</a:t>
            </a:r>
            <a:r>
              <a:rPr sz="3733" spc="-47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733" dirty="0">
                <a:solidFill>
                  <a:srgbClr val="0000FF"/>
                </a:solidFill>
                <a:latin typeface="Calibri"/>
                <a:cs typeface="Calibri"/>
              </a:rPr>
              <a:t>at</a:t>
            </a:r>
            <a:r>
              <a:rPr sz="3733" spc="-67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733" dirty="0">
                <a:solidFill>
                  <a:srgbClr val="0000FF"/>
                </a:solidFill>
                <a:latin typeface="Calibri"/>
                <a:cs typeface="Calibri"/>
              </a:rPr>
              <a:t>very</a:t>
            </a:r>
            <a:r>
              <a:rPr sz="3733" spc="-67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733" spc="-13" dirty="0">
                <a:solidFill>
                  <a:srgbClr val="0000FF"/>
                </a:solidFill>
                <a:latin typeface="Calibri"/>
                <a:cs typeface="Calibri"/>
              </a:rPr>
              <a:t>different</a:t>
            </a:r>
            <a:r>
              <a:rPr sz="3733" spc="-9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733" spc="-13" dirty="0">
                <a:solidFill>
                  <a:srgbClr val="0000FF"/>
                </a:solidFill>
                <a:latin typeface="Calibri"/>
                <a:cs typeface="Calibri"/>
              </a:rPr>
              <a:t>designs</a:t>
            </a:r>
            <a:r>
              <a:rPr sz="3733" spc="-13" dirty="0">
                <a:latin typeface="Calibri"/>
                <a:cs typeface="Calibri"/>
              </a:rPr>
              <a:t>.</a:t>
            </a:r>
            <a:endParaRPr sz="3733" dirty="0">
              <a:latin typeface="Calibri"/>
              <a:cs typeface="Calibri"/>
            </a:endParaRPr>
          </a:p>
          <a:p>
            <a:pPr marL="473275" indent="-456342">
              <a:spcBef>
                <a:spcPts val="3347"/>
              </a:spcBef>
              <a:buFont typeface="Arial MT"/>
              <a:buChar char="•"/>
              <a:tabLst>
                <a:tab pos="473275" algn="l"/>
              </a:tabLst>
            </a:pPr>
            <a:r>
              <a:rPr sz="4267" dirty="0">
                <a:latin typeface="Calibri"/>
                <a:cs typeface="Calibri"/>
              </a:rPr>
              <a:t>Need</a:t>
            </a:r>
            <a:r>
              <a:rPr sz="4267" spc="-73" dirty="0">
                <a:latin typeface="Calibri"/>
                <a:cs typeface="Calibri"/>
              </a:rPr>
              <a:t> </a:t>
            </a:r>
            <a:r>
              <a:rPr sz="4267" dirty="0">
                <a:latin typeface="Calibri"/>
                <a:cs typeface="Calibri"/>
              </a:rPr>
              <a:t>to</a:t>
            </a:r>
            <a:r>
              <a:rPr sz="4267" spc="-73" dirty="0">
                <a:latin typeface="Calibri"/>
                <a:cs typeface="Calibri"/>
              </a:rPr>
              <a:t> </a:t>
            </a:r>
            <a:r>
              <a:rPr sz="4267" dirty="0">
                <a:latin typeface="Calibri"/>
                <a:cs typeface="Calibri"/>
              </a:rPr>
              <a:t>determine</a:t>
            </a:r>
            <a:r>
              <a:rPr sz="4267" spc="-47" dirty="0">
                <a:latin typeface="Calibri"/>
                <a:cs typeface="Calibri"/>
              </a:rPr>
              <a:t> </a:t>
            </a:r>
            <a:r>
              <a:rPr sz="4267" dirty="0">
                <a:latin typeface="Calibri"/>
                <a:cs typeface="Calibri"/>
              </a:rPr>
              <a:t>which</a:t>
            </a:r>
            <a:r>
              <a:rPr sz="4267" spc="-113" dirty="0">
                <a:latin typeface="Calibri"/>
                <a:cs typeface="Calibri"/>
              </a:rPr>
              <a:t> </a:t>
            </a:r>
            <a:r>
              <a:rPr sz="4267" dirty="0">
                <a:latin typeface="Calibri"/>
                <a:cs typeface="Calibri"/>
              </a:rPr>
              <a:t>is</a:t>
            </a:r>
            <a:r>
              <a:rPr sz="4267" spc="-73" dirty="0">
                <a:latin typeface="Calibri"/>
                <a:cs typeface="Calibri"/>
              </a:rPr>
              <a:t> </a:t>
            </a:r>
            <a:r>
              <a:rPr sz="4267" dirty="0">
                <a:latin typeface="Calibri"/>
                <a:cs typeface="Calibri"/>
              </a:rPr>
              <a:t>a</a:t>
            </a:r>
            <a:r>
              <a:rPr sz="4267" spc="-60" dirty="0">
                <a:latin typeface="Calibri"/>
                <a:cs typeface="Calibri"/>
              </a:rPr>
              <a:t> </a:t>
            </a:r>
            <a:r>
              <a:rPr sz="4267" dirty="0">
                <a:latin typeface="Calibri"/>
                <a:cs typeface="Calibri"/>
              </a:rPr>
              <a:t>better</a:t>
            </a:r>
            <a:r>
              <a:rPr sz="4267" spc="-133" dirty="0">
                <a:latin typeface="Calibri"/>
                <a:cs typeface="Calibri"/>
              </a:rPr>
              <a:t> </a:t>
            </a:r>
            <a:r>
              <a:rPr sz="4267" spc="-13" dirty="0">
                <a:latin typeface="Calibri"/>
                <a:cs typeface="Calibri"/>
              </a:rPr>
              <a:t>design.</a:t>
            </a:r>
            <a:endParaRPr sz="4267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37261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2714" y="310566"/>
            <a:ext cx="9990370" cy="674608"/>
          </a:xfrm>
          <a:prstGeom prst="rect">
            <a:avLst/>
          </a:prstGeom>
        </p:spPr>
        <p:txBody>
          <a:bodyPr vert="horz" wrap="square" lIns="0" tIns="17780" rIns="0" bIns="0" rtlCol="0" anchor="ctr">
            <a:spAutoFit/>
          </a:bodyPr>
          <a:lstStyle/>
          <a:p>
            <a:pPr marL="189649">
              <a:lnSpc>
                <a:spcPct val="100000"/>
              </a:lnSpc>
              <a:spcBef>
                <a:spcPts val="140"/>
              </a:spcBef>
            </a:pPr>
            <a:r>
              <a:rPr sz="4267" dirty="0"/>
              <a:t>What</a:t>
            </a:r>
            <a:r>
              <a:rPr sz="4267" spc="-87" dirty="0"/>
              <a:t> </a:t>
            </a:r>
            <a:r>
              <a:rPr sz="4267" dirty="0"/>
              <a:t>Is</a:t>
            </a:r>
            <a:r>
              <a:rPr sz="4267" spc="-67" dirty="0"/>
              <a:t> </a:t>
            </a:r>
            <a:r>
              <a:rPr sz="4267" dirty="0"/>
              <a:t>a</a:t>
            </a:r>
            <a:r>
              <a:rPr sz="4267" spc="-40" dirty="0"/>
              <a:t> </a:t>
            </a:r>
            <a:r>
              <a:rPr sz="4267" dirty="0"/>
              <a:t>Good</a:t>
            </a:r>
            <a:r>
              <a:rPr sz="4267" spc="-80" dirty="0"/>
              <a:t> </a:t>
            </a:r>
            <a:r>
              <a:rPr sz="4267" dirty="0"/>
              <a:t>Software</a:t>
            </a:r>
            <a:r>
              <a:rPr sz="4267" spc="-47" dirty="0"/>
              <a:t> </a:t>
            </a:r>
            <a:r>
              <a:rPr sz="4267" spc="-13" dirty="0"/>
              <a:t>Design?</a:t>
            </a:r>
            <a:endParaRPr sz="4267" dirty="0"/>
          </a:p>
        </p:txBody>
      </p:sp>
      <p:sp>
        <p:nvSpPr>
          <p:cNvPr id="3" name="object 3"/>
          <p:cNvSpPr txBox="1"/>
          <p:nvPr/>
        </p:nvSpPr>
        <p:spPr>
          <a:xfrm>
            <a:off x="672714" y="1229664"/>
            <a:ext cx="9762067" cy="447558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474121" marR="6773" indent="-458035">
              <a:lnSpc>
                <a:spcPts val="4520"/>
              </a:lnSpc>
              <a:spcBef>
                <a:spcPts val="120"/>
              </a:spcBef>
              <a:buFont typeface="Arial MT"/>
              <a:buChar char="•"/>
              <a:tabLst>
                <a:tab pos="474121" algn="l"/>
              </a:tabLst>
            </a:pPr>
            <a:r>
              <a:rPr sz="3600" dirty="0">
                <a:latin typeface="Calibri"/>
                <a:cs typeface="Calibri"/>
              </a:rPr>
              <a:t>Should</a:t>
            </a:r>
            <a:r>
              <a:rPr sz="3600" spc="-6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implement all</a:t>
            </a:r>
            <a:r>
              <a:rPr sz="3600" spc="-93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functionalities</a:t>
            </a:r>
            <a:r>
              <a:rPr sz="3600" spc="-13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of</a:t>
            </a:r>
            <a:r>
              <a:rPr sz="3600" spc="-113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the</a:t>
            </a:r>
            <a:r>
              <a:rPr sz="3600" spc="-53" dirty="0">
                <a:latin typeface="Calibri"/>
                <a:cs typeface="Calibri"/>
              </a:rPr>
              <a:t> </a:t>
            </a:r>
            <a:r>
              <a:rPr sz="3600" spc="-13" dirty="0">
                <a:latin typeface="Calibri"/>
                <a:cs typeface="Calibri"/>
              </a:rPr>
              <a:t>system correctly.</a:t>
            </a:r>
            <a:endParaRPr sz="3600" dirty="0">
              <a:latin typeface="Calibri"/>
              <a:cs typeface="Calibri"/>
            </a:endParaRPr>
          </a:p>
          <a:p>
            <a:pPr marL="474121" indent="-457189">
              <a:spcBef>
                <a:spcPts val="1980"/>
              </a:spcBef>
              <a:buFont typeface="Arial MT"/>
              <a:buChar char="•"/>
              <a:tabLst>
                <a:tab pos="474121" algn="l"/>
              </a:tabLst>
            </a:pPr>
            <a:r>
              <a:rPr sz="3600" b="1" dirty="0">
                <a:solidFill>
                  <a:srgbClr val="0000FF"/>
                </a:solidFill>
                <a:latin typeface="Calibri"/>
                <a:cs typeface="Calibri"/>
              </a:rPr>
              <a:t>Should</a:t>
            </a:r>
            <a:r>
              <a:rPr sz="3600" b="1" spc="7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000FF"/>
                </a:solidFill>
                <a:latin typeface="Calibri"/>
                <a:cs typeface="Calibri"/>
              </a:rPr>
              <a:t>be</a:t>
            </a:r>
            <a:r>
              <a:rPr sz="3600" b="1" spc="-6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000FF"/>
                </a:solidFill>
                <a:latin typeface="Calibri"/>
                <a:cs typeface="Calibri"/>
              </a:rPr>
              <a:t>easily</a:t>
            </a:r>
            <a:r>
              <a:rPr sz="3600" b="1" spc="-5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600" b="1" spc="-13" dirty="0">
                <a:solidFill>
                  <a:srgbClr val="0000FF"/>
                </a:solidFill>
                <a:latin typeface="Calibri"/>
                <a:cs typeface="Calibri"/>
              </a:rPr>
              <a:t>understandable.</a:t>
            </a:r>
            <a:endParaRPr sz="3600" dirty="0">
              <a:latin typeface="Calibri"/>
              <a:cs typeface="Calibri"/>
            </a:endParaRPr>
          </a:p>
          <a:p>
            <a:pPr marL="474121" indent="-457189">
              <a:spcBef>
                <a:spcPts val="2160"/>
              </a:spcBef>
              <a:buFont typeface="Arial MT"/>
              <a:buChar char="•"/>
              <a:tabLst>
                <a:tab pos="474121" algn="l"/>
              </a:tabLst>
            </a:pPr>
            <a:r>
              <a:rPr sz="3600" dirty="0">
                <a:latin typeface="Calibri"/>
                <a:cs typeface="Calibri"/>
              </a:rPr>
              <a:t>Should</a:t>
            </a:r>
            <a:r>
              <a:rPr sz="3600" spc="-27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be</a:t>
            </a:r>
            <a:r>
              <a:rPr sz="3600" spc="-67" dirty="0">
                <a:latin typeface="Calibri"/>
                <a:cs typeface="Calibri"/>
              </a:rPr>
              <a:t> </a:t>
            </a:r>
            <a:r>
              <a:rPr sz="3600" spc="-13" dirty="0">
                <a:latin typeface="Calibri"/>
                <a:cs typeface="Calibri"/>
              </a:rPr>
              <a:t>efficient.</a:t>
            </a:r>
            <a:endParaRPr sz="3600" dirty="0">
              <a:latin typeface="Calibri"/>
              <a:cs typeface="Calibri"/>
            </a:endParaRPr>
          </a:p>
          <a:p>
            <a:pPr marL="474121" indent="-457189">
              <a:spcBef>
                <a:spcPts val="2167"/>
              </a:spcBef>
              <a:buFont typeface="Arial MT"/>
              <a:buChar char="•"/>
              <a:tabLst>
                <a:tab pos="474121" algn="l"/>
              </a:tabLst>
            </a:pPr>
            <a:r>
              <a:rPr sz="3600" dirty="0">
                <a:latin typeface="Calibri"/>
                <a:cs typeface="Calibri"/>
              </a:rPr>
              <a:t>Should</a:t>
            </a:r>
            <a:r>
              <a:rPr sz="3600" spc="-47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be</a:t>
            </a:r>
            <a:r>
              <a:rPr sz="3600" spc="-87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easily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amenable</a:t>
            </a:r>
            <a:r>
              <a:rPr sz="3600" spc="-47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to</a:t>
            </a:r>
            <a:r>
              <a:rPr sz="3600" spc="-53" dirty="0">
                <a:latin typeface="Calibri"/>
                <a:cs typeface="Calibri"/>
              </a:rPr>
              <a:t> </a:t>
            </a:r>
            <a:r>
              <a:rPr sz="3600" spc="-13" dirty="0">
                <a:latin typeface="Calibri"/>
                <a:cs typeface="Calibri"/>
              </a:rPr>
              <a:t>change,</a:t>
            </a:r>
            <a:endParaRPr sz="3600" dirty="0">
              <a:latin typeface="Calibri"/>
              <a:cs typeface="Calibri"/>
            </a:endParaRPr>
          </a:p>
          <a:p>
            <a:pPr marL="626518">
              <a:spcBef>
                <a:spcPts val="2120"/>
              </a:spcBef>
            </a:pPr>
            <a:r>
              <a:rPr sz="3600" dirty="0">
                <a:latin typeface="Arial MT"/>
                <a:cs typeface="Arial MT"/>
              </a:rPr>
              <a:t>–</a:t>
            </a:r>
            <a:r>
              <a:rPr sz="3600" spc="-47" dirty="0">
                <a:latin typeface="Arial MT"/>
                <a:cs typeface="Arial MT"/>
              </a:rPr>
              <a:t> </a:t>
            </a:r>
            <a:r>
              <a:rPr sz="3600" dirty="0">
                <a:latin typeface="Calibri"/>
                <a:cs typeface="Calibri"/>
              </a:rPr>
              <a:t>i.e. easily </a:t>
            </a:r>
            <a:r>
              <a:rPr sz="3600" spc="-13" dirty="0">
                <a:latin typeface="Calibri"/>
                <a:cs typeface="Calibri"/>
              </a:rPr>
              <a:t>maintainable.</a:t>
            </a:r>
            <a:endParaRPr sz="36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225315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07785" y="364960"/>
            <a:ext cx="8022167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dirty="0"/>
              <a:t>What</a:t>
            </a:r>
            <a:r>
              <a:rPr spc="-107" dirty="0"/>
              <a:t> </a:t>
            </a:r>
            <a:r>
              <a:rPr dirty="0"/>
              <a:t>Is</a:t>
            </a:r>
            <a:r>
              <a:rPr spc="-107" dirty="0"/>
              <a:t> </a:t>
            </a:r>
            <a:r>
              <a:rPr dirty="0"/>
              <a:t>Good</a:t>
            </a:r>
            <a:r>
              <a:rPr spc="-107" dirty="0"/>
              <a:t> </a:t>
            </a:r>
            <a:r>
              <a:rPr dirty="0"/>
              <a:t>Software</a:t>
            </a:r>
            <a:r>
              <a:rPr spc="-127" dirty="0"/>
              <a:t> </a:t>
            </a:r>
            <a:r>
              <a:rPr spc="-13" dirty="0"/>
              <a:t>Design?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4554" y="869267"/>
            <a:ext cx="11803380" cy="4014967"/>
          </a:xfrm>
          <a:prstGeom prst="rect">
            <a:avLst/>
          </a:prstGeom>
        </p:spPr>
        <p:txBody>
          <a:bodyPr vert="horz" wrap="square" lIns="0" tIns="366607" rIns="0" bIns="0" rtlCol="0">
            <a:spAutoFit/>
          </a:bodyPr>
          <a:lstStyle/>
          <a:p>
            <a:pPr marL="473275" indent="-456342">
              <a:spcBef>
                <a:spcPts val="2887"/>
              </a:spcBef>
              <a:buFont typeface="Arial MT"/>
              <a:buChar char="•"/>
              <a:tabLst>
                <a:tab pos="473275" algn="l"/>
              </a:tabLst>
            </a:pPr>
            <a:r>
              <a:rPr sz="4800" spc="-13" dirty="0">
                <a:latin typeface="Calibri"/>
                <a:cs typeface="Calibri"/>
              </a:rPr>
              <a:t>Understandability</a:t>
            </a:r>
            <a:r>
              <a:rPr sz="4800" spc="-133" dirty="0">
                <a:latin typeface="Calibri"/>
                <a:cs typeface="Calibri"/>
              </a:rPr>
              <a:t> </a:t>
            </a:r>
            <a:r>
              <a:rPr sz="4800" dirty="0">
                <a:latin typeface="Calibri"/>
                <a:cs typeface="Calibri"/>
              </a:rPr>
              <a:t>of</a:t>
            </a:r>
            <a:r>
              <a:rPr sz="4800" spc="-13" dirty="0">
                <a:latin typeface="Calibri"/>
                <a:cs typeface="Calibri"/>
              </a:rPr>
              <a:t> </a:t>
            </a:r>
            <a:r>
              <a:rPr sz="4800" dirty="0">
                <a:latin typeface="Calibri"/>
                <a:cs typeface="Calibri"/>
              </a:rPr>
              <a:t>a</a:t>
            </a:r>
            <a:r>
              <a:rPr sz="4800" spc="-40" dirty="0">
                <a:latin typeface="Calibri"/>
                <a:cs typeface="Calibri"/>
              </a:rPr>
              <a:t> </a:t>
            </a:r>
            <a:r>
              <a:rPr sz="4800" dirty="0">
                <a:latin typeface="Calibri"/>
                <a:cs typeface="Calibri"/>
              </a:rPr>
              <a:t>design</a:t>
            </a:r>
            <a:r>
              <a:rPr sz="4800" spc="-27" dirty="0">
                <a:latin typeface="Calibri"/>
                <a:cs typeface="Calibri"/>
              </a:rPr>
              <a:t> </a:t>
            </a:r>
            <a:r>
              <a:rPr sz="4800" dirty="0">
                <a:latin typeface="Calibri"/>
                <a:cs typeface="Calibri"/>
              </a:rPr>
              <a:t>is</a:t>
            </a:r>
            <a:r>
              <a:rPr sz="4800" spc="-53" dirty="0">
                <a:latin typeface="Calibri"/>
                <a:cs typeface="Calibri"/>
              </a:rPr>
              <a:t> </a:t>
            </a:r>
            <a:r>
              <a:rPr sz="4800" dirty="0">
                <a:latin typeface="Calibri"/>
                <a:cs typeface="Calibri"/>
              </a:rPr>
              <a:t>a</a:t>
            </a:r>
            <a:r>
              <a:rPr sz="4800" spc="7" dirty="0">
                <a:latin typeface="Calibri"/>
                <a:cs typeface="Calibri"/>
              </a:rPr>
              <a:t> </a:t>
            </a:r>
            <a:r>
              <a:rPr sz="4800" dirty="0">
                <a:latin typeface="Calibri"/>
                <a:cs typeface="Calibri"/>
              </a:rPr>
              <a:t>major</a:t>
            </a:r>
            <a:r>
              <a:rPr sz="4800" spc="-40" dirty="0">
                <a:latin typeface="Calibri"/>
                <a:cs typeface="Calibri"/>
              </a:rPr>
              <a:t> </a:t>
            </a:r>
            <a:r>
              <a:rPr sz="4800" spc="-13" dirty="0">
                <a:latin typeface="Calibri"/>
                <a:cs typeface="Calibri"/>
              </a:rPr>
              <a:t>issue:</a:t>
            </a:r>
            <a:endParaRPr sz="4800">
              <a:latin typeface="Calibri"/>
              <a:cs typeface="Calibri"/>
            </a:endParaRPr>
          </a:p>
          <a:p>
            <a:pPr marL="1010048" lvl="1" indent="-383530">
              <a:spcBef>
                <a:spcPts val="2460"/>
              </a:spcBef>
              <a:buFont typeface="Arial MT"/>
              <a:buChar char="–"/>
              <a:tabLst>
                <a:tab pos="1010048" algn="l"/>
                <a:tab pos="5448164" algn="l"/>
                <a:tab pos="8359778" algn="l"/>
              </a:tabLst>
            </a:pPr>
            <a:r>
              <a:rPr sz="4267" dirty="0">
                <a:latin typeface="Calibri"/>
                <a:cs typeface="Calibri"/>
              </a:rPr>
              <a:t>Largely</a:t>
            </a:r>
            <a:r>
              <a:rPr sz="4267" spc="-213" dirty="0">
                <a:latin typeface="Calibri"/>
                <a:cs typeface="Calibri"/>
              </a:rPr>
              <a:t> </a:t>
            </a:r>
            <a:r>
              <a:rPr sz="4267" spc="-13" dirty="0">
                <a:latin typeface="Calibri"/>
                <a:cs typeface="Calibri"/>
              </a:rPr>
              <a:t>determines</a:t>
            </a:r>
            <a:r>
              <a:rPr sz="4267" dirty="0">
                <a:latin typeface="Calibri"/>
                <a:cs typeface="Calibri"/>
              </a:rPr>
              <a:t>	goodness</a:t>
            </a:r>
            <a:r>
              <a:rPr sz="4267" spc="-113" dirty="0">
                <a:latin typeface="Calibri"/>
                <a:cs typeface="Calibri"/>
              </a:rPr>
              <a:t> </a:t>
            </a:r>
            <a:r>
              <a:rPr sz="4267" spc="-33" dirty="0">
                <a:latin typeface="Calibri"/>
                <a:cs typeface="Calibri"/>
              </a:rPr>
              <a:t>of</a:t>
            </a:r>
            <a:r>
              <a:rPr sz="4267" dirty="0">
                <a:latin typeface="Calibri"/>
                <a:cs typeface="Calibri"/>
              </a:rPr>
              <a:t>	a</a:t>
            </a:r>
            <a:r>
              <a:rPr sz="4267" spc="-13" dirty="0">
                <a:latin typeface="Calibri"/>
                <a:cs typeface="Calibri"/>
              </a:rPr>
              <a:t> design:</a:t>
            </a:r>
            <a:endParaRPr sz="4267">
              <a:latin typeface="Calibri"/>
              <a:cs typeface="Calibri"/>
            </a:endParaRPr>
          </a:p>
          <a:p>
            <a:pPr marL="1010048" lvl="1" indent="-383530">
              <a:spcBef>
                <a:spcPts val="2373"/>
              </a:spcBef>
              <a:buFont typeface="Arial MT"/>
              <a:buChar char="–"/>
              <a:tabLst>
                <a:tab pos="1010048" algn="l"/>
              </a:tabLst>
            </a:pPr>
            <a:r>
              <a:rPr sz="4267" dirty="0">
                <a:solidFill>
                  <a:srgbClr val="0000FF"/>
                </a:solidFill>
                <a:latin typeface="Calibri"/>
                <a:cs typeface="Calibri"/>
              </a:rPr>
              <a:t>a</a:t>
            </a:r>
            <a:r>
              <a:rPr sz="4267" spc="-6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267" dirty="0">
                <a:solidFill>
                  <a:srgbClr val="0000FF"/>
                </a:solidFill>
                <a:latin typeface="Calibri"/>
                <a:cs typeface="Calibri"/>
              </a:rPr>
              <a:t>design</a:t>
            </a:r>
            <a:r>
              <a:rPr sz="4267" spc="-6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267" dirty="0">
                <a:solidFill>
                  <a:srgbClr val="0000FF"/>
                </a:solidFill>
                <a:latin typeface="Calibri"/>
                <a:cs typeface="Calibri"/>
              </a:rPr>
              <a:t>that</a:t>
            </a:r>
            <a:r>
              <a:rPr sz="4267" spc="-7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267" dirty="0">
                <a:solidFill>
                  <a:srgbClr val="0000FF"/>
                </a:solidFill>
                <a:latin typeface="Calibri"/>
                <a:cs typeface="Calibri"/>
              </a:rPr>
              <a:t>is</a:t>
            </a:r>
            <a:r>
              <a:rPr sz="4267" spc="-67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267" dirty="0">
                <a:solidFill>
                  <a:srgbClr val="0000FF"/>
                </a:solidFill>
                <a:latin typeface="Calibri"/>
                <a:cs typeface="Calibri"/>
              </a:rPr>
              <a:t>easy</a:t>
            </a:r>
            <a:r>
              <a:rPr sz="4267" spc="-87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267" dirty="0">
                <a:solidFill>
                  <a:srgbClr val="0000FF"/>
                </a:solidFill>
                <a:latin typeface="Calibri"/>
                <a:cs typeface="Calibri"/>
              </a:rPr>
              <a:t>to</a:t>
            </a:r>
            <a:r>
              <a:rPr sz="4267" spc="-67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267" spc="-13" dirty="0">
                <a:solidFill>
                  <a:srgbClr val="0000FF"/>
                </a:solidFill>
                <a:latin typeface="Calibri"/>
                <a:cs typeface="Calibri"/>
              </a:rPr>
              <a:t>understand:</a:t>
            </a:r>
            <a:endParaRPr sz="4267">
              <a:latin typeface="Calibri"/>
              <a:cs typeface="Calibri"/>
            </a:endParaRPr>
          </a:p>
          <a:p>
            <a:pPr marL="1540048" lvl="2" indent="-303946">
              <a:spcBef>
                <a:spcPts val="2373"/>
              </a:spcBef>
              <a:buFont typeface="Arial MT"/>
              <a:buChar char="•"/>
              <a:tabLst>
                <a:tab pos="1540048" algn="l"/>
              </a:tabLst>
            </a:pPr>
            <a:r>
              <a:rPr sz="4267" dirty="0">
                <a:solidFill>
                  <a:srgbClr val="0000FF"/>
                </a:solidFill>
                <a:latin typeface="Calibri"/>
                <a:cs typeface="Calibri"/>
              </a:rPr>
              <a:t>also</a:t>
            </a:r>
            <a:r>
              <a:rPr sz="4267" spc="-107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267" dirty="0">
                <a:solidFill>
                  <a:srgbClr val="0000FF"/>
                </a:solidFill>
                <a:latin typeface="Calibri"/>
                <a:cs typeface="Calibri"/>
              </a:rPr>
              <a:t>easy</a:t>
            </a:r>
            <a:r>
              <a:rPr sz="4267" spc="-127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267" dirty="0">
                <a:solidFill>
                  <a:srgbClr val="0000FF"/>
                </a:solidFill>
                <a:latin typeface="Calibri"/>
                <a:cs typeface="Calibri"/>
              </a:rPr>
              <a:t>to</a:t>
            </a:r>
            <a:r>
              <a:rPr sz="4267" spc="-11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267" dirty="0">
                <a:solidFill>
                  <a:srgbClr val="0000FF"/>
                </a:solidFill>
                <a:latin typeface="Calibri"/>
                <a:cs typeface="Calibri"/>
              </a:rPr>
              <a:t>maintain</a:t>
            </a:r>
            <a:r>
              <a:rPr sz="4267" spc="-67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267" dirty="0">
                <a:solidFill>
                  <a:srgbClr val="0000FF"/>
                </a:solidFill>
                <a:latin typeface="Calibri"/>
                <a:cs typeface="Calibri"/>
              </a:rPr>
              <a:t>and</a:t>
            </a:r>
            <a:r>
              <a:rPr sz="4267" spc="-152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267" spc="-13" dirty="0">
                <a:solidFill>
                  <a:srgbClr val="0000FF"/>
                </a:solidFill>
                <a:latin typeface="Calibri"/>
                <a:cs typeface="Calibri"/>
              </a:rPr>
              <a:t>change.</a:t>
            </a:r>
            <a:endParaRPr sz="4267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829193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56534" y="375183"/>
            <a:ext cx="8406549" cy="674608"/>
          </a:xfrm>
          <a:prstGeom prst="rect">
            <a:avLst/>
          </a:prstGeom>
        </p:spPr>
        <p:txBody>
          <a:bodyPr vert="horz" wrap="square" lIns="0" tIns="17780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40"/>
              </a:spcBef>
            </a:pPr>
            <a:r>
              <a:rPr sz="4267" dirty="0"/>
              <a:t>What</a:t>
            </a:r>
            <a:r>
              <a:rPr sz="4267" spc="-93" dirty="0"/>
              <a:t> </a:t>
            </a:r>
            <a:r>
              <a:rPr sz="4267" dirty="0"/>
              <a:t>Is</a:t>
            </a:r>
            <a:r>
              <a:rPr sz="4267" spc="-60" dirty="0"/>
              <a:t> </a:t>
            </a:r>
            <a:r>
              <a:rPr sz="4267" dirty="0"/>
              <a:t>a</a:t>
            </a:r>
            <a:r>
              <a:rPr sz="4267" spc="-40" dirty="0"/>
              <a:t> </a:t>
            </a:r>
            <a:r>
              <a:rPr sz="4267" dirty="0"/>
              <a:t>Good</a:t>
            </a:r>
            <a:r>
              <a:rPr sz="4267" spc="-80" dirty="0"/>
              <a:t> </a:t>
            </a:r>
            <a:r>
              <a:rPr sz="4267" dirty="0"/>
              <a:t>Software</a:t>
            </a:r>
            <a:r>
              <a:rPr sz="4267" spc="-47" dirty="0"/>
              <a:t> </a:t>
            </a:r>
            <a:r>
              <a:rPr sz="4267" spc="-13" dirty="0"/>
              <a:t>Design?</a:t>
            </a:r>
            <a:endParaRPr sz="4267" dirty="0"/>
          </a:p>
        </p:txBody>
      </p:sp>
      <p:sp>
        <p:nvSpPr>
          <p:cNvPr id="3" name="object 3"/>
          <p:cNvSpPr txBox="1"/>
          <p:nvPr/>
        </p:nvSpPr>
        <p:spPr>
          <a:xfrm>
            <a:off x="605030" y="1049791"/>
            <a:ext cx="10674773" cy="4776949"/>
          </a:xfrm>
          <a:prstGeom prst="rect">
            <a:avLst/>
          </a:prstGeom>
        </p:spPr>
        <p:txBody>
          <a:bodyPr vert="horz" wrap="square" lIns="0" tIns="259080" rIns="0" bIns="0" rtlCol="0">
            <a:spAutoFit/>
          </a:bodyPr>
          <a:lstStyle/>
          <a:p>
            <a:pPr marL="474121" indent="-457189">
              <a:spcBef>
                <a:spcPts val="2040"/>
              </a:spcBef>
              <a:buFont typeface="Arial MT"/>
              <a:buChar char="•"/>
              <a:tabLst>
                <a:tab pos="474121" algn="l"/>
              </a:tabLst>
            </a:pPr>
            <a:r>
              <a:rPr sz="3733" dirty="0">
                <a:latin typeface="Calibri"/>
                <a:cs typeface="Calibri"/>
              </a:rPr>
              <a:t>Unless</a:t>
            </a:r>
            <a:r>
              <a:rPr sz="3733" spc="-87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a</a:t>
            </a:r>
            <a:r>
              <a:rPr sz="3733" spc="-27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design</a:t>
            </a:r>
            <a:r>
              <a:rPr sz="3733" spc="-100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is</a:t>
            </a:r>
            <a:r>
              <a:rPr sz="3733" spc="-27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easy</a:t>
            </a:r>
            <a:r>
              <a:rPr sz="3733" spc="-113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to</a:t>
            </a:r>
            <a:r>
              <a:rPr sz="3733" spc="-27" dirty="0">
                <a:latin typeface="Calibri"/>
                <a:cs typeface="Calibri"/>
              </a:rPr>
              <a:t> </a:t>
            </a:r>
            <a:r>
              <a:rPr sz="3733" spc="-13" dirty="0">
                <a:latin typeface="Calibri"/>
                <a:cs typeface="Calibri"/>
              </a:rPr>
              <a:t>understand,</a:t>
            </a:r>
            <a:endParaRPr sz="3733" dirty="0">
              <a:latin typeface="Calibri"/>
              <a:cs typeface="Calibri"/>
            </a:endParaRPr>
          </a:p>
          <a:p>
            <a:pPr marL="1009201" lvl="1" indent="-382684">
              <a:spcBef>
                <a:spcPts val="1907"/>
              </a:spcBef>
              <a:buFont typeface="Arial MT"/>
              <a:buChar char="–"/>
              <a:tabLst>
                <a:tab pos="1009201" algn="l"/>
              </a:tabLst>
            </a:pPr>
            <a:r>
              <a:rPr sz="3733" spc="-27" dirty="0">
                <a:latin typeface="Calibri"/>
                <a:cs typeface="Calibri"/>
              </a:rPr>
              <a:t>Tremendous</a:t>
            </a:r>
            <a:r>
              <a:rPr sz="3733" spc="-152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effort</a:t>
            </a:r>
            <a:r>
              <a:rPr sz="3733" spc="-87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needed</a:t>
            </a:r>
            <a:r>
              <a:rPr sz="3733" spc="-160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to</a:t>
            </a:r>
            <a:r>
              <a:rPr sz="3733" spc="-93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maintain</a:t>
            </a:r>
            <a:r>
              <a:rPr sz="3733" spc="-80" dirty="0">
                <a:latin typeface="Calibri"/>
                <a:cs typeface="Calibri"/>
              </a:rPr>
              <a:t> </a:t>
            </a:r>
            <a:r>
              <a:rPr sz="3733" spc="-33" dirty="0">
                <a:latin typeface="Calibri"/>
                <a:cs typeface="Calibri"/>
              </a:rPr>
              <a:t>it</a:t>
            </a:r>
            <a:endParaRPr sz="3733" dirty="0">
              <a:latin typeface="Calibri"/>
              <a:cs typeface="Calibri"/>
            </a:endParaRPr>
          </a:p>
          <a:p>
            <a:pPr marL="1009201" marR="6773" lvl="1" indent="-382684">
              <a:lnSpc>
                <a:spcPct val="115900"/>
              </a:lnSpc>
              <a:spcBef>
                <a:spcPts val="1200"/>
              </a:spcBef>
              <a:buFont typeface="Arial MT"/>
              <a:buChar char="–"/>
              <a:tabLst>
                <a:tab pos="1010895" algn="l"/>
              </a:tabLst>
            </a:pPr>
            <a:r>
              <a:rPr sz="3733" dirty="0">
                <a:latin typeface="Calibri"/>
                <a:cs typeface="Calibri"/>
              </a:rPr>
              <a:t>We</a:t>
            </a:r>
            <a:r>
              <a:rPr sz="3733" spc="-80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already</a:t>
            </a:r>
            <a:r>
              <a:rPr sz="3733" spc="-53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know</a:t>
            </a:r>
            <a:r>
              <a:rPr sz="3733" spc="-80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that</a:t>
            </a:r>
            <a:r>
              <a:rPr sz="3733" spc="-40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about</a:t>
            </a:r>
            <a:r>
              <a:rPr sz="3733" spc="-47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60%</a:t>
            </a:r>
            <a:r>
              <a:rPr sz="3733" spc="-73" dirty="0">
                <a:latin typeface="Calibri"/>
                <a:cs typeface="Calibri"/>
              </a:rPr>
              <a:t> </a:t>
            </a:r>
            <a:r>
              <a:rPr sz="3733" spc="-13" dirty="0">
                <a:latin typeface="Calibri"/>
                <a:cs typeface="Calibri"/>
              </a:rPr>
              <a:t>effort</a:t>
            </a:r>
            <a:r>
              <a:rPr sz="3733" spc="-93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is</a:t>
            </a:r>
            <a:r>
              <a:rPr sz="3733" spc="-53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spent</a:t>
            </a:r>
            <a:r>
              <a:rPr sz="3733" spc="-87" dirty="0">
                <a:latin typeface="Calibri"/>
                <a:cs typeface="Calibri"/>
              </a:rPr>
              <a:t> </a:t>
            </a:r>
            <a:r>
              <a:rPr sz="3733" spc="-33" dirty="0">
                <a:latin typeface="Calibri"/>
                <a:cs typeface="Calibri"/>
              </a:rPr>
              <a:t>in 	</a:t>
            </a:r>
            <a:r>
              <a:rPr sz="3733" spc="-13" dirty="0">
                <a:latin typeface="Calibri"/>
                <a:cs typeface="Calibri"/>
              </a:rPr>
              <a:t>maintenance.</a:t>
            </a:r>
            <a:endParaRPr sz="3733" dirty="0">
              <a:latin typeface="Calibri"/>
              <a:cs typeface="Calibri"/>
            </a:endParaRPr>
          </a:p>
          <a:p>
            <a:pPr marL="474121" indent="-457189">
              <a:spcBef>
                <a:spcPts val="1907"/>
              </a:spcBef>
              <a:buFont typeface="Arial MT"/>
              <a:buChar char="•"/>
              <a:tabLst>
                <a:tab pos="474121" algn="l"/>
              </a:tabLst>
            </a:pPr>
            <a:r>
              <a:rPr sz="3733" dirty="0">
                <a:solidFill>
                  <a:srgbClr val="6600FF"/>
                </a:solidFill>
                <a:latin typeface="Calibri"/>
                <a:cs typeface="Calibri"/>
              </a:rPr>
              <a:t>If</a:t>
            </a:r>
            <a:r>
              <a:rPr sz="3733" spc="-73" dirty="0">
                <a:solidFill>
                  <a:srgbClr val="6600FF"/>
                </a:solidFill>
                <a:latin typeface="Calibri"/>
                <a:cs typeface="Calibri"/>
              </a:rPr>
              <a:t> </a:t>
            </a:r>
            <a:r>
              <a:rPr sz="3733" dirty="0">
                <a:solidFill>
                  <a:srgbClr val="6600FF"/>
                </a:solidFill>
                <a:latin typeface="Calibri"/>
                <a:cs typeface="Calibri"/>
              </a:rPr>
              <a:t>the</a:t>
            </a:r>
            <a:r>
              <a:rPr sz="3733" spc="-60" dirty="0">
                <a:solidFill>
                  <a:srgbClr val="6600FF"/>
                </a:solidFill>
                <a:latin typeface="Calibri"/>
                <a:cs typeface="Calibri"/>
              </a:rPr>
              <a:t> </a:t>
            </a:r>
            <a:r>
              <a:rPr sz="3733" dirty="0">
                <a:solidFill>
                  <a:srgbClr val="6600FF"/>
                </a:solidFill>
                <a:latin typeface="Calibri"/>
                <a:cs typeface="Calibri"/>
              </a:rPr>
              <a:t>software</a:t>
            </a:r>
            <a:r>
              <a:rPr sz="3733" spc="-100" dirty="0">
                <a:solidFill>
                  <a:srgbClr val="6600FF"/>
                </a:solidFill>
                <a:latin typeface="Calibri"/>
                <a:cs typeface="Calibri"/>
              </a:rPr>
              <a:t> </a:t>
            </a:r>
            <a:r>
              <a:rPr sz="3733" dirty="0">
                <a:solidFill>
                  <a:srgbClr val="6600FF"/>
                </a:solidFill>
                <a:latin typeface="Calibri"/>
                <a:cs typeface="Calibri"/>
              </a:rPr>
              <a:t>is</a:t>
            </a:r>
            <a:r>
              <a:rPr sz="3733" spc="-40" dirty="0">
                <a:solidFill>
                  <a:srgbClr val="6600FF"/>
                </a:solidFill>
                <a:latin typeface="Calibri"/>
                <a:cs typeface="Calibri"/>
              </a:rPr>
              <a:t> </a:t>
            </a:r>
            <a:r>
              <a:rPr sz="3733" dirty="0">
                <a:solidFill>
                  <a:srgbClr val="6600FF"/>
                </a:solidFill>
                <a:latin typeface="Calibri"/>
                <a:cs typeface="Calibri"/>
              </a:rPr>
              <a:t>not</a:t>
            </a:r>
            <a:r>
              <a:rPr sz="3733" spc="-33" dirty="0">
                <a:solidFill>
                  <a:srgbClr val="6600FF"/>
                </a:solidFill>
                <a:latin typeface="Calibri"/>
                <a:cs typeface="Calibri"/>
              </a:rPr>
              <a:t> </a:t>
            </a:r>
            <a:r>
              <a:rPr sz="3733" dirty="0">
                <a:solidFill>
                  <a:srgbClr val="6600FF"/>
                </a:solidFill>
                <a:latin typeface="Calibri"/>
                <a:cs typeface="Calibri"/>
              </a:rPr>
              <a:t>easy</a:t>
            </a:r>
            <a:r>
              <a:rPr sz="3733" spc="-80" dirty="0">
                <a:solidFill>
                  <a:srgbClr val="6600FF"/>
                </a:solidFill>
                <a:latin typeface="Calibri"/>
                <a:cs typeface="Calibri"/>
              </a:rPr>
              <a:t> </a:t>
            </a:r>
            <a:r>
              <a:rPr sz="3733" dirty="0">
                <a:solidFill>
                  <a:srgbClr val="6600FF"/>
                </a:solidFill>
                <a:latin typeface="Calibri"/>
                <a:cs typeface="Calibri"/>
              </a:rPr>
              <a:t>to</a:t>
            </a:r>
            <a:r>
              <a:rPr sz="3733" spc="-33" dirty="0">
                <a:solidFill>
                  <a:srgbClr val="6600FF"/>
                </a:solidFill>
                <a:latin typeface="Calibri"/>
                <a:cs typeface="Calibri"/>
              </a:rPr>
              <a:t> </a:t>
            </a:r>
            <a:r>
              <a:rPr sz="3733" spc="-13" dirty="0">
                <a:solidFill>
                  <a:srgbClr val="6600FF"/>
                </a:solidFill>
                <a:latin typeface="Calibri"/>
                <a:cs typeface="Calibri"/>
              </a:rPr>
              <a:t>understand:</a:t>
            </a:r>
            <a:endParaRPr sz="3733" dirty="0">
              <a:latin typeface="Calibri"/>
              <a:cs typeface="Calibri"/>
            </a:endParaRPr>
          </a:p>
          <a:p>
            <a:pPr marL="1009201" lvl="1" indent="-382684">
              <a:spcBef>
                <a:spcPts val="1913"/>
              </a:spcBef>
              <a:buFont typeface="Arial MT"/>
              <a:buChar char="–"/>
              <a:tabLst>
                <a:tab pos="1009201" algn="l"/>
              </a:tabLst>
            </a:pPr>
            <a:r>
              <a:rPr sz="3733" dirty="0">
                <a:solidFill>
                  <a:srgbClr val="6600FF"/>
                </a:solidFill>
                <a:latin typeface="Calibri"/>
                <a:cs typeface="Calibri"/>
              </a:rPr>
              <a:t>maintenance</a:t>
            </a:r>
            <a:r>
              <a:rPr sz="3733" spc="-127" dirty="0">
                <a:solidFill>
                  <a:srgbClr val="6600FF"/>
                </a:solidFill>
                <a:latin typeface="Calibri"/>
                <a:cs typeface="Calibri"/>
              </a:rPr>
              <a:t> </a:t>
            </a:r>
            <a:r>
              <a:rPr sz="3733" dirty="0">
                <a:solidFill>
                  <a:srgbClr val="6600FF"/>
                </a:solidFill>
                <a:latin typeface="Calibri"/>
                <a:cs typeface="Calibri"/>
              </a:rPr>
              <a:t>effort</a:t>
            </a:r>
            <a:r>
              <a:rPr sz="3733" spc="-100" dirty="0">
                <a:solidFill>
                  <a:srgbClr val="6600FF"/>
                </a:solidFill>
                <a:latin typeface="Calibri"/>
                <a:cs typeface="Calibri"/>
              </a:rPr>
              <a:t> </a:t>
            </a:r>
            <a:r>
              <a:rPr sz="3733" dirty="0">
                <a:solidFill>
                  <a:srgbClr val="6600FF"/>
                </a:solidFill>
                <a:latin typeface="Calibri"/>
                <a:cs typeface="Calibri"/>
              </a:rPr>
              <a:t>would</a:t>
            </a:r>
            <a:r>
              <a:rPr sz="3733" spc="-127" dirty="0">
                <a:solidFill>
                  <a:srgbClr val="6600FF"/>
                </a:solidFill>
                <a:latin typeface="Calibri"/>
                <a:cs typeface="Calibri"/>
              </a:rPr>
              <a:t> </a:t>
            </a:r>
            <a:r>
              <a:rPr sz="3733" dirty="0">
                <a:solidFill>
                  <a:srgbClr val="6600FF"/>
                </a:solidFill>
                <a:latin typeface="Calibri"/>
                <a:cs typeface="Calibri"/>
              </a:rPr>
              <a:t>increase</a:t>
            </a:r>
            <a:r>
              <a:rPr sz="3733" spc="-173" dirty="0">
                <a:solidFill>
                  <a:srgbClr val="6600FF"/>
                </a:solidFill>
                <a:latin typeface="Calibri"/>
                <a:cs typeface="Calibri"/>
              </a:rPr>
              <a:t> </a:t>
            </a:r>
            <a:r>
              <a:rPr sz="3733" dirty="0">
                <a:solidFill>
                  <a:srgbClr val="6600FF"/>
                </a:solidFill>
                <a:latin typeface="Calibri"/>
                <a:cs typeface="Calibri"/>
              </a:rPr>
              <a:t>many</a:t>
            </a:r>
            <a:r>
              <a:rPr sz="3733" spc="-107" dirty="0">
                <a:solidFill>
                  <a:srgbClr val="6600FF"/>
                </a:solidFill>
                <a:latin typeface="Calibri"/>
                <a:cs typeface="Calibri"/>
              </a:rPr>
              <a:t> </a:t>
            </a:r>
            <a:r>
              <a:rPr sz="3733" spc="-13" dirty="0">
                <a:solidFill>
                  <a:srgbClr val="6600FF"/>
                </a:solidFill>
                <a:latin typeface="Calibri"/>
                <a:cs typeface="Calibri"/>
              </a:rPr>
              <a:t>times.</a:t>
            </a:r>
            <a:endParaRPr sz="3733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158241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Design concepts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06130" y="1332271"/>
            <a:ext cx="10247670" cy="5039032"/>
          </a:xfrm>
        </p:spPr>
        <p:txBody>
          <a:bodyPr>
            <a:noAutofit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en-US" altLang="en-US" sz="2400" dirty="0"/>
              <a:t>Design concepts provide the necessary framework for “to get the thing on right way”.</a:t>
            </a:r>
          </a:p>
          <a:p>
            <a:pPr>
              <a:lnSpc>
                <a:spcPct val="80000"/>
              </a:lnSpc>
            </a:pPr>
            <a:r>
              <a:rPr lang="en-US" altLang="en-US" sz="2400" dirty="0"/>
              <a:t>Abstraction</a:t>
            </a:r>
          </a:p>
          <a:p>
            <a:pPr>
              <a:lnSpc>
                <a:spcPct val="80000"/>
              </a:lnSpc>
            </a:pPr>
            <a:r>
              <a:rPr lang="en-US" altLang="en-US" sz="2400" dirty="0"/>
              <a:t>Refinement</a:t>
            </a:r>
          </a:p>
          <a:p>
            <a:pPr>
              <a:lnSpc>
                <a:spcPct val="80000"/>
              </a:lnSpc>
            </a:pPr>
            <a:r>
              <a:rPr lang="en-US" altLang="en-US" sz="2400" dirty="0"/>
              <a:t>Modularity</a:t>
            </a:r>
          </a:p>
          <a:p>
            <a:pPr>
              <a:lnSpc>
                <a:spcPct val="80000"/>
              </a:lnSpc>
            </a:pPr>
            <a:r>
              <a:rPr lang="en-US" altLang="en-US" sz="2400" dirty="0"/>
              <a:t>Architecture</a:t>
            </a:r>
          </a:p>
          <a:p>
            <a:pPr>
              <a:lnSpc>
                <a:spcPct val="80000"/>
              </a:lnSpc>
            </a:pPr>
            <a:r>
              <a:rPr lang="en-US" altLang="en-US" sz="2400" dirty="0"/>
              <a:t>Control Hierarchy</a:t>
            </a:r>
          </a:p>
          <a:p>
            <a:pPr>
              <a:lnSpc>
                <a:spcPct val="80000"/>
              </a:lnSpc>
            </a:pPr>
            <a:r>
              <a:rPr lang="en-US" altLang="en-US" sz="2400" dirty="0"/>
              <a:t>Structural Partitioning</a:t>
            </a:r>
          </a:p>
          <a:p>
            <a:pPr>
              <a:lnSpc>
                <a:spcPct val="80000"/>
              </a:lnSpc>
            </a:pPr>
            <a:r>
              <a:rPr lang="en-US" altLang="en-US" sz="2400" dirty="0"/>
              <a:t>Data Structure</a:t>
            </a:r>
          </a:p>
          <a:p>
            <a:pPr>
              <a:lnSpc>
                <a:spcPct val="80000"/>
              </a:lnSpc>
            </a:pPr>
            <a:r>
              <a:rPr lang="en-US" altLang="en-US" sz="2400" dirty="0"/>
              <a:t>Software Procedure</a:t>
            </a:r>
          </a:p>
          <a:p>
            <a:pPr>
              <a:lnSpc>
                <a:spcPct val="80000"/>
              </a:lnSpc>
            </a:pPr>
            <a:r>
              <a:rPr lang="en-US" altLang="en-US" sz="2400" dirty="0"/>
              <a:t>Information Hiding</a:t>
            </a:r>
          </a:p>
        </p:txBody>
      </p:sp>
    </p:spTree>
    <p:extLst>
      <p:ext uri="{BB962C8B-B14F-4D97-AF65-F5344CB8AC3E}">
        <p14:creationId xmlns:p14="http://schemas.microsoft.com/office/powerpoint/2010/main" val="15936203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0014" y="264802"/>
            <a:ext cx="7593070" cy="571096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3600" dirty="0"/>
              <a:t>How</a:t>
            </a:r>
            <a:r>
              <a:rPr sz="3600" spc="-113" dirty="0"/>
              <a:t> </a:t>
            </a:r>
            <a:r>
              <a:rPr sz="3600" dirty="0"/>
              <a:t>to</a:t>
            </a:r>
            <a:r>
              <a:rPr sz="3600" spc="-87" dirty="0"/>
              <a:t> </a:t>
            </a:r>
            <a:r>
              <a:rPr sz="3600" dirty="0"/>
              <a:t>Improve</a:t>
            </a:r>
            <a:r>
              <a:rPr sz="3600" spc="-53" dirty="0"/>
              <a:t> </a:t>
            </a:r>
            <a:r>
              <a:rPr sz="3600" spc="-13" dirty="0"/>
              <a:t>Understandability?</a:t>
            </a:r>
            <a:endParaRPr sz="3600" dirty="0"/>
          </a:p>
        </p:txBody>
      </p:sp>
      <p:sp>
        <p:nvSpPr>
          <p:cNvPr id="3" name="object 3"/>
          <p:cNvSpPr txBox="1"/>
          <p:nvPr/>
        </p:nvSpPr>
        <p:spPr>
          <a:xfrm>
            <a:off x="530253" y="835898"/>
            <a:ext cx="10274300" cy="5255285"/>
          </a:xfrm>
          <a:prstGeom prst="rect">
            <a:avLst/>
          </a:prstGeom>
        </p:spPr>
        <p:txBody>
          <a:bodyPr vert="horz" wrap="square" lIns="0" tIns="266700" rIns="0" bIns="0" rtlCol="0">
            <a:spAutoFit/>
          </a:bodyPr>
          <a:lstStyle/>
          <a:p>
            <a:pPr marL="474121" indent="-457189">
              <a:spcBef>
                <a:spcPts val="2100"/>
              </a:spcBef>
              <a:buFont typeface="Arial MT"/>
              <a:buChar char="•"/>
              <a:tabLst>
                <a:tab pos="474121" algn="l"/>
              </a:tabLst>
            </a:pPr>
            <a:r>
              <a:rPr sz="3200" dirty="0">
                <a:latin typeface="Calibri"/>
                <a:cs typeface="Calibri"/>
              </a:rPr>
              <a:t>Use</a:t>
            </a:r>
            <a:r>
              <a:rPr sz="3200" spc="-107" dirty="0">
                <a:latin typeface="Calibri"/>
                <a:cs typeface="Calibri"/>
              </a:rPr>
              <a:t> </a:t>
            </a:r>
            <a:r>
              <a:rPr sz="3200" spc="-13" dirty="0">
                <a:latin typeface="Calibri"/>
                <a:cs typeface="Calibri"/>
              </a:rPr>
              <a:t>consistent</a:t>
            </a:r>
            <a:r>
              <a:rPr sz="3200" spc="13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93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meaningful</a:t>
            </a:r>
            <a:r>
              <a:rPr sz="3200" spc="-107" dirty="0">
                <a:latin typeface="Calibri"/>
                <a:cs typeface="Calibri"/>
              </a:rPr>
              <a:t> </a:t>
            </a:r>
            <a:r>
              <a:rPr sz="3200" spc="-13" dirty="0">
                <a:latin typeface="Calibri"/>
                <a:cs typeface="Calibri"/>
              </a:rPr>
              <a:t>names</a:t>
            </a:r>
            <a:endParaRPr sz="3200" dirty="0">
              <a:latin typeface="Calibri"/>
              <a:cs typeface="Calibri"/>
            </a:endParaRPr>
          </a:p>
          <a:p>
            <a:pPr marL="1010048" lvl="1" indent="-383530">
              <a:spcBef>
                <a:spcPts val="1980"/>
              </a:spcBef>
              <a:buFont typeface="Arial MT"/>
              <a:buChar char="–"/>
              <a:tabLst>
                <a:tab pos="1010048" algn="l"/>
              </a:tabLst>
            </a:pPr>
            <a:r>
              <a:rPr sz="3200" dirty="0">
                <a:latin typeface="Calibri"/>
                <a:cs typeface="Calibri"/>
              </a:rPr>
              <a:t>for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various</a:t>
            </a:r>
            <a:r>
              <a:rPr sz="3200" spc="-73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design</a:t>
            </a:r>
            <a:r>
              <a:rPr sz="3200" spc="-113" dirty="0">
                <a:latin typeface="Calibri"/>
                <a:cs typeface="Calibri"/>
              </a:rPr>
              <a:t> </a:t>
            </a:r>
            <a:r>
              <a:rPr sz="3200" spc="-13" dirty="0">
                <a:latin typeface="Calibri"/>
                <a:cs typeface="Calibri"/>
              </a:rPr>
              <a:t>components,</a:t>
            </a:r>
            <a:endParaRPr sz="3200" dirty="0">
              <a:latin typeface="Calibri"/>
              <a:cs typeface="Calibri"/>
            </a:endParaRPr>
          </a:p>
          <a:p>
            <a:pPr marL="474121" indent="-457189">
              <a:spcBef>
                <a:spcPts val="2020"/>
              </a:spcBef>
              <a:buFont typeface="Arial MT"/>
              <a:buChar char="•"/>
              <a:tabLst>
                <a:tab pos="474121" algn="l"/>
              </a:tabLst>
            </a:pPr>
            <a:r>
              <a:rPr sz="3200" dirty="0">
                <a:latin typeface="Calibri"/>
                <a:cs typeface="Calibri"/>
              </a:rPr>
              <a:t>Design</a:t>
            </a:r>
            <a:r>
              <a:rPr sz="3200" spc="-127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solution</a:t>
            </a:r>
            <a:r>
              <a:rPr sz="3200" spc="-87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should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consist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33" dirty="0">
                <a:latin typeface="Calibri"/>
                <a:cs typeface="Calibri"/>
              </a:rPr>
              <a:t>of:</a:t>
            </a:r>
            <a:endParaRPr sz="3200" dirty="0">
              <a:latin typeface="Calibri"/>
              <a:cs typeface="Calibri"/>
            </a:endParaRPr>
          </a:p>
          <a:p>
            <a:pPr marL="1010048" lvl="1" indent="-383530">
              <a:spcBef>
                <a:spcPts val="1973"/>
              </a:spcBef>
              <a:buFont typeface="Arial MT"/>
              <a:buChar char="–"/>
              <a:tabLst>
                <a:tab pos="1010048" algn="l"/>
              </a:tabLst>
            </a:pPr>
            <a:r>
              <a:rPr sz="3200" dirty="0">
                <a:latin typeface="Calibri"/>
                <a:cs typeface="Calibri"/>
              </a:rPr>
              <a:t>A</a:t>
            </a:r>
            <a:r>
              <a:rPr sz="3200" spc="-113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set</a:t>
            </a:r>
            <a:r>
              <a:rPr sz="3200" spc="-47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87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well</a:t>
            </a:r>
            <a:r>
              <a:rPr sz="3200" spc="-47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decomposed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modules</a:t>
            </a:r>
            <a:r>
              <a:rPr sz="3200" spc="-53" dirty="0">
                <a:latin typeface="Calibri"/>
                <a:cs typeface="Calibri"/>
              </a:rPr>
              <a:t> </a:t>
            </a:r>
            <a:r>
              <a:rPr sz="3200" spc="-13" dirty="0">
                <a:solidFill>
                  <a:srgbClr val="0000FF"/>
                </a:solidFill>
                <a:latin typeface="Calibri"/>
                <a:cs typeface="Calibri"/>
              </a:rPr>
              <a:t>(</a:t>
            </a:r>
            <a:r>
              <a:rPr sz="3200" b="1" spc="-13" dirty="0">
                <a:solidFill>
                  <a:srgbClr val="0000FF"/>
                </a:solidFill>
                <a:latin typeface="Calibri"/>
                <a:cs typeface="Calibri"/>
              </a:rPr>
              <a:t>modularity</a:t>
            </a:r>
            <a:r>
              <a:rPr sz="3200" spc="-13" dirty="0">
                <a:solidFill>
                  <a:srgbClr val="0000FF"/>
                </a:solidFill>
                <a:latin typeface="Calibri"/>
                <a:cs typeface="Calibri"/>
              </a:rPr>
              <a:t>),</a:t>
            </a:r>
            <a:endParaRPr sz="3200" dirty="0">
              <a:latin typeface="Calibri"/>
              <a:cs typeface="Calibri"/>
            </a:endParaRPr>
          </a:p>
          <a:p>
            <a:pPr marL="474121" indent="-457189">
              <a:spcBef>
                <a:spcPts val="1973"/>
              </a:spcBef>
              <a:buFont typeface="Arial MT"/>
              <a:buChar char="•"/>
              <a:tabLst>
                <a:tab pos="474121" algn="l"/>
              </a:tabLst>
            </a:pPr>
            <a:r>
              <a:rPr sz="3200" spc="-13" dirty="0">
                <a:latin typeface="Calibri"/>
                <a:cs typeface="Calibri"/>
              </a:rPr>
              <a:t>Different</a:t>
            </a:r>
            <a:r>
              <a:rPr sz="3200" spc="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modules</a:t>
            </a:r>
            <a:r>
              <a:rPr sz="3200" spc="-152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should</a:t>
            </a:r>
            <a:r>
              <a:rPr sz="3200" spc="-73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be</a:t>
            </a:r>
            <a:r>
              <a:rPr sz="3200" spc="-113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neatly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arranged</a:t>
            </a:r>
            <a:r>
              <a:rPr sz="3200" spc="-107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-107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107" dirty="0">
                <a:latin typeface="Calibri"/>
                <a:cs typeface="Calibri"/>
              </a:rPr>
              <a:t> </a:t>
            </a:r>
            <a:r>
              <a:rPr sz="3200" spc="-13" dirty="0">
                <a:latin typeface="Calibri"/>
                <a:cs typeface="Calibri"/>
              </a:rPr>
              <a:t>hierarchy:</a:t>
            </a:r>
            <a:endParaRPr sz="3200" dirty="0">
              <a:latin typeface="Calibri"/>
              <a:cs typeface="Calibri"/>
            </a:endParaRPr>
          </a:p>
          <a:p>
            <a:pPr marL="1010048" lvl="1" indent="-383530">
              <a:spcBef>
                <a:spcPts val="2020"/>
              </a:spcBef>
              <a:buFont typeface="Arial MT"/>
              <a:buChar char="–"/>
              <a:tabLst>
                <a:tab pos="1010048" algn="l"/>
              </a:tabLst>
            </a:pPr>
            <a:r>
              <a:rPr sz="3200" dirty="0">
                <a:latin typeface="Calibri"/>
                <a:cs typeface="Calibri"/>
              </a:rPr>
              <a:t>A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33" dirty="0">
                <a:latin typeface="Calibri"/>
                <a:cs typeface="Calibri"/>
              </a:rPr>
              <a:t>tree-</a:t>
            </a:r>
            <a:r>
              <a:rPr sz="3200" dirty="0">
                <a:latin typeface="Calibri"/>
                <a:cs typeface="Calibri"/>
              </a:rPr>
              <a:t>like</a:t>
            </a:r>
            <a:r>
              <a:rPr sz="3200" spc="13" dirty="0">
                <a:latin typeface="Calibri"/>
                <a:cs typeface="Calibri"/>
              </a:rPr>
              <a:t> </a:t>
            </a:r>
            <a:r>
              <a:rPr sz="3200" spc="-13" dirty="0">
                <a:latin typeface="Calibri"/>
                <a:cs typeface="Calibri"/>
              </a:rPr>
              <a:t>diagram.</a:t>
            </a:r>
            <a:endParaRPr sz="3200" dirty="0">
              <a:latin typeface="Calibri"/>
              <a:cs typeface="Calibri"/>
            </a:endParaRPr>
          </a:p>
          <a:p>
            <a:pPr marL="1010048" lvl="1" indent="-383530">
              <a:spcBef>
                <a:spcPts val="1973"/>
              </a:spcBef>
              <a:buFont typeface="Arial MT"/>
              <a:buChar char="–"/>
              <a:tabLst>
                <a:tab pos="1010048" algn="l"/>
              </a:tabLst>
            </a:pPr>
            <a:r>
              <a:rPr sz="3200" dirty="0">
                <a:latin typeface="Calibri"/>
                <a:cs typeface="Calibri"/>
              </a:rPr>
              <a:t>Called</a:t>
            </a:r>
            <a:r>
              <a:rPr sz="3200" spc="-73" dirty="0">
                <a:latin typeface="Calibri"/>
                <a:cs typeface="Calibri"/>
              </a:rPr>
              <a:t> </a:t>
            </a:r>
            <a:r>
              <a:rPr sz="3200" spc="-13" dirty="0">
                <a:latin typeface="Calibri"/>
                <a:cs typeface="Calibri"/>
              </a:rPr>
              <a:t>Layering</a:t>
            </a:r>
            <a:endParaRPr sz="32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916722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32621" y="273583"/>
            <a:ext cx="2566247" cy="674608"/>
          </a:xfrm>
          <a:prstGeom prst="rect">
            <a:avLst/>
          </a:prstGeom>
        </p:spPr>
        <p:txBody>
          <a:bodyPr vert="horz" wrap="square" lIns="0" tIns="17780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40"/>
              </a:spcBef>
            </a:pPr>
            <a:r>
              <a:rPr sz="4267" spc="-13" dirty="0"/>
              <a:t>Modularity</a:t>
            </a:r>
            <a:endParaRPr sz="4267"/>
          </a:p>
        </p:txBody>
      </p:sp>
      <p:sp>
        <p:nvSpPr>
          <p:cNvPr id="3" name="object 3"/>
          <p:cNvSpPr txBox="1"/>
          <p:nvPr/>
        </p:nvSpPr>
        <p:spPr>
          <a:xfrm>
            <a:off x="400473" y="948191"/>
            <a:ext cx="11791527" cy="4353692"/>
          </a:xfrm>
          <a:prstGeom prst="rect">
            <a:avLst/>
          </a:prstGeom>
        </p:spPr>
        <p:txBody>
          <a:bodyPr vert="horz" wrap="square" lIns="0" tIns="350520" rIns="0" bIns="0" rtlCol="0">
            <a:spAutoFit/>
          </a:bodyPr>
          <a:lstStyle/>
          <a:p>
            <a:pPr marL="474121" indent="-457189">
              <a:spcBef>
                <a:spcPts val="2760"/>
              </a:spcBef>
              <a:buFont typeface="Arial MT"/>
              <a:buChar char="•"/>
              <a:tabLst>
                <a:tab pos="474121" algn="l"/>
              </a:tabLst>
            </a:pPr>
            <a:r>
              <a:rPr sz="3733" dirty="0">
                <a:solidFill>
                  <a:srgbClr val="0000FF"/>
                </a:solidFill>
                <a:latin typeface="Calibri"/>
                <a:cs typeface="Calibri"/>
              </a:rPr>
              <a:t>Modularity</a:t>
            </a:r>
            <a:r>
              <a:rPr sz="3733" spc="-11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733" dirty="0">
                <a:solidFill>
                  <a:srgbClr val="0000FF"/>
                </a:solidFill>
                <a:latin typeface="Calibri"/>
                <a:cs typeface="Calibri"/>
              </a:rPr>
              <a:t>is</a:t>
            </a:r>
            <a:r>
              <a:rPr sz="3733" spc="-6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733" dirty="0">
                <a:solidFill>
                  <a:srgbClr val="0000FF"/>
                </a:solidFill>
                <a:latin typeface="Calibri"/>
                <a:cs typeface="Calibri"/>
              </a:rPr>
              <a:t>a</a:t>
            </a:r>
            <a:r>
              <a:rPr sz="3733" spc="-67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733" dirty="0">
                <a:solidFill>
                  <a:srgbClr val="0000FF"/>
                </a:solidFill>
                <a:latin typeface="Calibri"/>
                <a:cs typeface="Calibri"/>
              </a:rPr>
              <a:t>fundamental</a:t>
            </a:r>
            <a:r>
              <a:rPr sz="3733" spc="-8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733" spc="-13" dirty="0">
                <a:solidFill>
                  <a:srgbClr val="0000FF"/>
                </a:solidFill>
                <a:latin typeface="Calibri"/>
                <a:cs typeface="Calibri"/>
              </a:rPr>
              <a:t>attributes</a:t>
            </a:r>
            <a:r>
              <a:rPr sz="3733" spc="-67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733" dirty="0">
                <a:solidFill>
                  <a:srgbClr val="0000FF"/>
                </a:solidFill>
                <a:latin typeface="Calibri"/>
                <a:cs typeface="Calibri"/>
              </a:rPr>
              <a:t>of</a:t>
            </a:r>
            <a:r>
              <a:rPr sz="3733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733" dirty="0">
                <a:solidFill>
                  <a:srgbClr val="0000FF"/>
                </a:solidFill>
                <a:latin typeface="Calibri"/>
                <a:cs typeface="Calibri"/>
              </a:rPr>
              <a:t>any</a:t>
            </a:r>
            <a:r>
              <a:rPr sz="3733" spc="-10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733" dirty="0">
                <a:solidFill>
                  <a:srgbClr val="0000FF"/>
                </a:solidFill>
                <a:latin typeface="Calibri"/>
                <a:cs typeface="Calibri"/>
              </a:rPr>
              <a:t>good</a:t>
            </a:r>
            <a:r>
              <a:rPr sz="3733" spc="-47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733" spc="-13" dirty="0">
                <a:solidFill>
                  <a:srgbClr val="0000FF"/>
                </a:solidFill>
                <a:latin typeface="Calibri"/>
                <a:cs typeface="Calibri"/>
              </a:rPr>
              <a:t>design</a:t>
            </a:r>
            <a:r>
              <a:rPr sz="3733" spc="-13" dirty="0">
                <a:solidFill>
                  <a:srgbClr val="800000"/>
                </a:solidFill>
                <a:latin typeface="Calibri"/>
                <a:cs typeface="Calibri"/>
              </a:rPr>
              <a:t>.</a:t>
            </a:r>
            <a:endParaRPr sz="3733" dirty="0">
              <a:latin typeface="Calibri"/>
              <a:cs typeface="Calibri"/>
            </a:endParaRPr>
          </a:p>
          <a:p>
            <a:pPr marL="1008355" marR="1659425" lvl="1" indent="-382684">
              <a:lnSpc>
                <a:spcPct val="120100"/>
              </a:lnSpc>
              <a:spcBef>
                <a:spcPts val="1727"/>
              </a:spcBef>
              <a:buFont typeface="Arial MT"/>
              <a:buChar char="–"/>
              <a:tabLst>
                <a:tab pos="1010895" algn="l"/>
                <a:tab pos="7574091" algn="l"/>
              </a:tabLst>
            </a:pPr>
            <a:r>
              <a:rPr sz="3733" dirty="0">
                <a:latin typeface="Calibri"/>
                <a:cs typeface="Calibri"/>
              </a:rPr>
              <a:t>Decomposition</a:t>
            </a:r>
            <a:r>
              <a:rPr sz="3733" spc="-87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of</a:t>
            </a:r>
            <a:r>
              <a:rPr sz="3733" spc="-73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a</a:t>
            </a:r>
            <a:r>
              <a:rPr sz="3733" spc="-53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problem</a:t>
            </a:r>
            <a:r>
              <a:rPr sz="3733" spc="-87" dirty="0">
                <a:latin typeface="Calibri"/>
                <a:cs typeface="Calibri"/>
              </a:rPr>
              <a:t> </a:t>
            </a:r>
            <a:r>
              <a:rPr sz="3733" spc="-27" dirty="0">
                <a:latin typeface="Calibri"/>
                <a:cs typeface="Calibri"/>
              </a:rPr>
              <a:t>into</a:t>
            </a:r>
            <a:r>
              <a:rPr sz="3733" dirty="0">
                <a:latin typeface="Calibri"/>
                <a:cs typeface="Calibri"/>
              </a:rPr>
              <a:t>	a</a:t>
            </a:r>
            <a:r>
              <a:rPr sz="3733" spc="-13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clean</a:t>
            </a:r>
            <a:r>
              <a:rPr sz="3733" spc="-40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set</a:t>
            </a:r>
            <a:r>
              <a:rPr sz="3733" spc="-40" dirty="0">
                <a:latin typeface="Calibri"/>
                <a:cs typeface="Calibri"/>
              </a:rPr>
              <a:t> </a:t>
            </a:r>
            <a:r>
              <a:rPr sz="3733" spc="-33" dirty="0">
                <a:latin typeface="Calibri"/>
                <a:cs typeface="Calibri"/>
              </a:rPr>
              <a:t>of 	</a:t>
            </a:r>
            <a:r>
              <a:rPr sz="3733" spc="-13" dirty="0">
                <a:latin typeface="Calibri"/>
                <a:cs typeface="Calibri"/>
              </a:rPr>
              <a:t>modules:</a:t>
            </a:r>
            <a:endParaRPr sz="3733" dirty="0">
              <a:latin typeface="Calibri"/>
              <a:cs typeface="Calibri"/>
            </a:endParaRPr>
          </a:p>
          <a:p>
            <a:pPr marL="1009201" lvl="1" indent="-382684">
              <a:spcBef>
                <a:spcPts val="2633"/>
              </a:spcBef>
              <a:buFont typeface="Arial MT"/>
              <a:buChar char="–"/>
              <a:tabLst>
                <a:tab pos="1009201" algn="l"/>
              </a:tabLst>
            </a:pPr>
            <a:r>
              <a:rPr sz="3733" dirty="0">
                <a:latin typeface="Calibri"/>
                <a:cs typeface="Calibri"/>
              </a:rPr>
              <a:t>Modules</a:t>
            </a:r>
            <a:r>
              <a:rPr sz="3733" spc="-120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are</a:t>
            </a:r>
            <a:r>
              <a:rPr sz="3733" spc="-33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almost</a:t>
            </a:r>
            <a:r>
              <a:rPr sz="3733" spc="-87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independent</a:t>
            </a:r>
            <a:r>
              <a:rPr sz="3733" spc="-127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of</a:t>
            </a:r>
            <a:r>
              <a:rPr sz="3733" spc="-80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each</a:t>
            </a:r>
            <a:r>
              <a:rPr sz="3733" spc="-40" dirty="0">
                <a:latin typeface="Calibri"/>
                <a:cs typeface="Calibri"/>
              </a:rPr>
              <a:t> </a:t>
            </a:r>
            <a:r>
              <a:rPr sz="3733" spc="-13" dirty="0">
                <a:latin typeface="Calibri"/>
                <a:cs typeface="Calibri"/>
              </a:rPr>
              <a:t>other</a:t>
            </a:r>
            <a:endParaRPr sz="3733" dirty="0">
              <a:latin typeface="Calibri"/>
              <a:cs typeface="Calibri"/>
            </a:endParaRPr>
          </a:p>
          <a:p>
            <a:pPr marL="1120959" lvl="1" indent="-494441">
              <a:spcBef>
                <a:spcPts val="2680"/>
              </a:spcBef>
              <a:buFont typeface="Arial MT"/>
              <a:buChar char="–"/>
              <a:tabLst>
                <a:tab pos="1120959" algn="l"/>
              </a:tabLst>
            </a:pPr>
            <a:r>
              <a:rPr sz="3733" dirty="0">
                <a:latin typeface="Calibri"/>
                <a:cs typeface="Calibri"/>
              </a:rPr>
              <a:t>Based</a:t>
            </a:r>
            <a:r>
              <a:rPr sz="3733" spc="-47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on </a:t>
            </a:r>
            <a:r>
              <a:rPr sz="3733" b="1" dirty="0">
                <a:solidFill>
                  <a:srgbClr val="0000FF"/>
                </a:solidFill>
                <a:latin typeface="Calibri"/>
                <a:cs typeface="Calibri"/>
              </a:rPr>
              <a:t>divide</a:t>
            </a:r>
            <a:r>
              <a:rPr sz="3733" b="1" spc="-5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733" b="1" dirty="0">
                <a:solidFill>
                  <a:srgbClr val="0000FF"/>
                </a:solidFill>
                <a:latin typeface="Calibri"/>
                <a:cs typeface="Calibri"/>
              </a:rPr>
              <a:t>and</a:t>
            </a:r>
            <a:r>
              <a:rPr sz="3733" b="1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733" b="1" dirty="0">
                <a:solidFill>
                  <a:srgbClr val="0000FF"/>
                </a:solidFill>
                <a:latin typeface="Calibri"/>
                <a:cs typeface="Calibri"/>
              </a:rPr>
              <a:t>conquer</a:t>
            </a:r>
            <a:r>
              <a:rPr sz="3733" b="1" spc="-13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733" b="1" spc="-13" dirty="0">
                <a:solidFill>
                  <a:srgbClr val="0000FF"/>
                </a:solidFill>
                <a:latin typeface="Calibri"/>
                <a:cs typeface="Calibri"/>
              </a:rPr>
              <a:t>principle.</a:t>
            </a:r>
            <a:endParaRPr sz="3733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662222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31020" y="288993"/>
            <a:ext cx="2563707" cy="674608"/>
          </a:xfrm>
          <a:prstGeom prst="rect">
            <a:avLst/>
          </a:prstGeom>
        </p:spPr>
        <p:txBody>
          <a:bodyPr vert="horz" wrap="square" lIns="0" tIns="17780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40"/>
              </a:spcBef>
            </a:pPr>
            <a:r>
              <a:rPr sz="4267" spc="-13" dirty="0"/>
              <a:t>Modularity</a:t>
            </a:r>
            <a:endParaRPr sz="4267"/>
          </a:p>
        </p:txBody>
      </p:sp>
      <p:sp>
        <p:nvSpPr>
          <p:cNvPr id="3" name="object 3"/>
          <p:cNvSpPr txBox="1"/>
          <p:nvPr/>
        </p:nvSpPr>
        <p:spPr>
          <a:xfrm>
            <a:off x="174888" y="697340"/>
            <a:ext cx="11642513" cy="5111485"/>
          </a:xfrm>
          <a:prstGeom prst="rect">
            <a:avLst/>
          </a:prstGeom>
        </p:spPr>
        <p:txBody>
          <a:bodyPr vert="horz" wrap="square" lIns="0" tIns="353907" rIns="0" bIns="0" rtlCol="0">
            <a:spAutoFit/>
          </a:bodyPr>
          <a:lstStyle/>
          <a:p>
            <a:pPr marL="473275" indent="-456342">
              <a:spcBef>
                <a:spcPts val="2787"/>
              </a:spcBef>
              <a:buFont typeface="Arial MT"/>
              <a:buChar char="•"/>
              <a:tabLst>
                <a:tab pos="473275" algn="l"/>
                <a:tab pos="3040304" algn="l"/>
              </a:tabLst>
            </a:pPr>
            <a:r>
              <a:rPr sz="4267" dirty="0">
                <a:latin typeface="Calibri"/>
                <a:cs typeface="Calibri"/>
              </a:rPr>
              <a:t>If</a:t>
            </a:r>
            <a:r>
              <a:rPr sz="4267" spc="-13" dirty="0">
                <a:latin typeface="Calibri"/>
                <a:cs typeface="Calibri"/>
              </a:rPr>
              <a:t> modules</a:t>
            </a:r>
            <a:r>
              <a:rPr sz="4267" dirty="0">
                <a:latin typeface="Calibri"/>
                <a:cs typeface="Calibri"/>
              </a:rPr>
              <a:t>	are</a:t>
            </a:r>
            <a:r>
              <a:rPr sz="4267" spc="-60" dirty="0">
                <a:latin typeface="Calibri"/>
                <a:cs typeface="Calibri"/>
              </a:rPr>
              <a:t> </a:t>
            </a:r>
            <a:r>
              <a:rPr sz="4267" spc="-13" dirty="0">
                <a:latin typeface="Calibri"/>
                <a:cs typeface="Calibri"/>
              </a:rPr>
              <a:t>independent:</a:t>
            </a:r>
            <a:endParaRPr sz="4267">
              <a:latin typeface="Calibri"/>
              <a:cs typeface="Calibri"/>
            </a:endParaRPr>
          </a:p>
          <a:p>
            <a:pPr marL="1009201" lvl="1" indent="-382684">
              <a:spcBef>
                <a:spcPts val="2333"/>
              </a:spcBef>
              <a:buFont typeface="Arial MT"/>
              <a:buChar char="–"/>
              <a:tabLst>
                <a:tab pos="1009201" algn="l"/>
              </a:tabLst>
            </a:pPr>
            <a:r>
              <a:rPr sz="3733" dirty="0">
                <a:latin typeface="Calibri"/>
                <a:cs typeface="Calibri"/>
              </a:rPr>
              <a:t>Each</a:t>
            </a:r>
            <a:r>
              <a:rPr sz="3733" spc="-80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module</a:t>
            </a:r>
            <a:r>
              <a:rPr sz="3733" spc="-73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can</a:t>
            </a:r>
            <a:r>
              <a:rPr sz="3733" spc="13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be</a:t>
            </a:r>
            <a:r>
              <a:rPr sz="3733" spc="-67" dirty="0">
                <a:latin typeface="Calibri"/>
                <a:cs typeface="Calibri"/>
              </a:rPr>
              <a:t> </a:t>
            </a:r>
            <a:r>
              <a:rPr sz="3733" spc="-13" dirty="0">
                <a:latin typeface="Calibri"/>
                <a:cs typeface="Calibri"/>
              </a:rPr>
              <a:t>understood</a:t>
            </a:r>
            <a:r>
              <a:rPr sz="3733" spc="-80" dirty="0">
                <a:latin typeface="Calibri"/>
                <a:cs typeface="Calibri"/>
              </a:rPr>
              <a:t> </a:t>
            </a:r>
            <a:r>
              <a:rPr sz="3733" spc="-13" dirty="0">
                <a:latin typeface="Calibri"/>
                <a:cs typeface="Calibri"/>
              </a:rPr>
              <a:t>separately,</a:t>
            </a:r>
            <a:endParaRPr sz="3733">
              <a:latin typeface="Calibri"/>
              <a:cs typeface="Calibri"/>
            </a:endParaRPr>
          </a:p>
          <a:p>
            <a:pPr marL="1539202" lvl="2" indent="-303098">
              <a:spcBef>
                <a:spcPts val="2200"/>
              </a:spcBef>
              <a:buFont typeface="Arial MT"/>
              <a:buChar char="•"/>
              <a:tabLst>
                <a:tab pos="1539202" algn="l"/>
              </a:tabLst>
            </a:pPr>
            <a:r>
              <a:rPr sz="3733" dirty="0">
                <a:latin typeface="Calibri"/>
                <a:cs typeface="Calibri"/>
              </a:rPr>
              <a:t>reduces</a:t>
            </a:r>
            <a:r>
              <a:rPr sz="3733" spc="-147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complexity</a:t>
            </a:r>
            <a:r>
              <a:rPr sz="3733" spc="-152" dirty="0">
                <a:latin typeface="Calibri"/>
                <a:cs typeface="Calibri"/>
              </a:rPr>
              <a:t> </a:t>
            </a:r>
            <a:r>
              <a:rPr sz="3733" spc="-13" dirty="0">
                <a:latin typeface="Calibri"/>
                <a:cs typeface="Calibri"/>
              </a:rPr>
              <a:t>greatly.</a:t>
            </a:r>
            <a:endParaRPr sz="3733">
              <a:latin typeface="Calibri"/>
              <a:cs typeface="Calibri"/>
            </a:endParaRPr>
          </a:p>
          <a:p>
            <a:pPr marL="1009201" lvl="1" indent="-382684">
              <a:spcBef>
                <a:spcPts val="2247"/>
              </a:spcBef>
              <a:buFont typeface="Arial MT"/>
              <a:buChar char="–"/>
              <a:tabLst>
                <a:tab pos="1009201" algn="l"/>
              </a:tabLst>
            </a:pPr>
            <a:r>
              <a:rPr sz="3733" spc="-133" dirty="0">
                <a:latin typeface="Calibri"/>
                <a:cs typeface="Calibri"/>
              </a:rPr>
              <a:t>To</a:t>
            </a:r>
            <a:r>
              <a:rPr sz="3733" spc="-47" dirty="0">
                <a:latin typeface="Calibri"/>
                <a:cs typeface="Calibri"/>
              </a:rPr>
              <a:t> </a:t>
            </a:r>
            <a:r>
              <a:rPr sz="3733" spc="-13" dirty="0">
                <a:latin typeface="Calibri"/>
                <a:cs typeface="Calibri"/>
              </a:rPr>
              <a:t>understand</a:t>
            </a:r>
            <a:r>
              <a:rPr sz="3733" spc="-113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why</a:t>
            </a:r>
            <a:r>
              <a:rPr sz="3733" spc="-87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this</a:t>
            </a:r>
            <a:r>
              <a:rPr sz="3733" spc="-53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is</a:t>
            </a:r>
            <a:r>
              <a:rPr sz="3733" spc="-53" dirty="0">
                <a:latin typeface="Calibri"/>
                <a:cs typeface="Calibri"/>
              </a:rPr>
              <a:t> </a:t>
            </a:r>
            <a:r>
              <a:rPr sz="3733" spc="-33" dirty="0">
                <a:latin typeface="Calibri"/>
                <a:cs typeface="Calibri"/>
              </a:rPr>
              <a:t>so,</a:t>
            </a:r>
            <a:endParaRPr sz="3733">
              <a:latin typeface="Calibri"/>
              <a:cs typeface="Calibri"/>
            </a:endParaRPr>
          </a:p>
          <a:p>
            <a:pPr marL="1539202" marR="6773" lvl="2" indent="-303098">
              <a:lnSpc>
                <a:spcPct val="113599"/>
              </a:lnSpc>
              <a:spcBef>
                <a:spcPts val="1633"/>
              </a:spcBef>
              <a:buFont typeface="Arial MT"/>
              <a:buChar char="•"/>
              <a:tabLst>
                <a:tab pos="1540895" algn="l"/>
              </a:tabLst>
            </a:pPr>
            <a:r>
              <a:rPr sz="3733" dirty="0">
                <a:latin typeface="Calibri"/>
                <a:cs typeface="Calibri"/>
              </a:rPr>
              <a:t>remember</a:t>
            </a:r>
            <a:r>
              <a:rPr sz="3733" spc="-73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that</a:t>
            </a:r>
            <a:r>
              <a:rPr sz="3733" spc="-27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it</a:t>
            </a:r>
            <a:r>
              <a:rPr sz="3733" spc="-60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is</a:t>
            </a:r>
            <a:r>
              <a:rPr sz="3733" spc="-40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very</a:t>
            </a:r>
            <a:r>
              <a:rPr sz="3733" spc="-40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difficult</a:t>
            </a:r>
            <a:r>
              <a:rPr sz="3733" spc="-67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to</a:t>
            </a:r>
            <a:r>
              <a:rPr sz="3733" spc="-27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break</a:t>
            </a:r>
            <a:r>
              <a:rPr sz="3733" spc="-53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a</a:t>
            </a:r>
            <a:r>
              <a:rPr sz="3733" spc="-80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bunch</a:t>
            </a:r>
            <a:r>
              <a:rPr sz="3733" spc="-13" dirty="0">
                <a:latin typeface="Calibri"/>
                <a:cs typeface="Calibri"/>
              </a:rPr>
              <a:t> </a:t>
            </a:r>
            <a:r>
              <a:rPr sz="3733" spc="-33" dirty="0">
                <a:latin typeface="Calibri"/>
                <a:cs typeface="Calibri"/>
              </a:rPr>
              <a:t>of 	</a:t>
            </a:r>
            <a:r>
              <a:rPr sz="3733" dirty="0">
                <a:latin typeface="Calibri"/>
                <a:cs typeface="Calibri"/>
              </a:rPr>
              <a:t>sticks</a:t>
            </a:r>
            <a:r>
              <a:rPr sz="3733" spc="-80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but</a:t>
            </a:r>
            <a:r>
              <a:rPr sz="3733" spc="-40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very</a:t>
            </a:r>
            <a:r>
              <a:rPr sz="3733" spc="-53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easy</a:t>
            </a:r>
            <a:r>
              <a:rPr sz="3733" spc="-87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to</a:t>
            </a:r>
            <a:r>
              <a:rPr sz="3733" spc="-47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break</a:t>
            </a:r>
            <a:r>
              <a:rPr sz="3733" spc="-73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the</a:t>
            </a:r>
            <a:r>
              <a:rPr sz="3733" spc="-67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sticks</a:t>
            </a:r>
            <a:r>
              <a:rPr sz="3733" spc="-60" dirty="0">
                <a:latin typeface="Calibri"/>
                <a:cs typeface="Calibri"/>
              </a:rPr>
              <a:t> </a:t>
            </a:r>
            <a:r>
              <a:rPr sz="3733" spc="-13" dirty="0">
                <a:latin typeface="Calibri"/>
                <a:cs typeface="Calibri"/>
              </a:rPr>
              <a:t>individually.</a:t>
            </a:r>
            <a:endParaRPr sz="3733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373571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16607" y="3011423"/>
            <a:ext cx="982133" cy="536787"/>
            <a:chOff x="1362455" y="2258567"/>
            <a:chExt cx="736600" cy="402590"/>
          </a:xfrm>
        </p:grpSpPr>
        <p:sp>
          <p:nvSpPr>
            <p:cNvPr id="3" name="object 3"/>
            <p:cNvSpPr/>
            <p:nvPr/>
          </p:nvSpPr>
          <p:spPr>
            <a:xfrm>
              <a:off x="1367028" y="2263139"/>
              <a:ext cx="727075" cy="393700"/>
            </a:xfrm>
            <a:custGeom>
              <a:avLst/>
              <a:gdLst/>
              <a:ahLst/>
              <a:cxnLst/>
              <a:rect l="l" t="t" r="r" b="b"/>
              <a:pathLst>
                <a:path w="727075" h="393700">
                  <a:moveTo>
                    <a:pt x="726948" y="0"/>
                  </a:moveTo>
                  <a:lnTo>
                    <a:pt x="0" y="0"/>
                  </a:lnTo>
                  <a:lnTo>
                    <a:pt x="0" y="1270"/>
                  </a:lnTo>
                  <a:lnTo>
                    <a:pt x="0" y="392430"/>
                  </a:lnTo>
                  <a:lnTo>
                    <a:pt x="368" y="392430"/>
                  </a:lnTo>
                  <a:lnTo>
                    <a:pt x="368" y="393700"/>
                  </a:lnTo>
                  <a:lnTo>
                    <a:pt x="726567" y="393700"/>
                  </a:lnTo>
                  <a:lnTo>
                    <a:pt x="726567" y="392430"/>
                  </a:lnTo>
                  <a:lnTo>
                    <a:pt x="726948" y="392430"/>
                  </a:lnTo>
                  <a:lnTo>
                    <a:pt x="726948" y="1270"/>
                  </a:lnTo>
                  <a:lnTo>
                    <a:pt x="726948" y="0"/>
                  </a:lnTo>
                  <a:close/>
                </a:path>
              </a:pathLst>
            </a:custGeom>
            <a:solidFill>
              <a:srgbClr val="00B8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" name="object 4"/>
            <p:cNvSpPr/>
            <p:nvPr/>
          </p:nvSpPr>
          <p:spPr>
            <a:xfrm>
              <a:off x="1367027" y="2263139"/>
              <a:ext cx="727075" cy="393700"/>
            </a:xfrm>
            <a:custGeom>
              <a:avLst/>
              <a:gdLst/>
              <a:ahLst/>
              <a:cxnLst/>
              <a:rect l="l" t="t" r="r" b="b"/>
              <a:pathLst>
                <a:path w="727075" h="393700">
                  <a:moveTo>
                    <a:pt x="0" y="1143"/>
                  </a:moveTo>
                  <a:lnTo>
                    <a:pt x="0" y="508"/>
                  </a:lnTo>
                  <a:lnTo>
                    <a:pt x="508" y="0"/>
                  </a:lnTo>
                  <a:lnTo>
                    <a:pt x="1143" y="0"/>
                  </a:lnTo>
                  <a:lnTo>
                    <a:pt x="725804" y="0"/>
                  </a:lnTo>
                  <a:lnTo>
                    <a:pt x="726440" y="0"/>
                  </a:lnTo>
                  <a:lnTo>
                    <a:pt x="726947" y="508"/>
                  </a:lnTo>
                  <a:lnTo>
                    <a:pt x="726947" y="1143"/>
                  </a:lnTo>
                  <a:lnTo>
                    <a:pt x="726947" y="392049"/>
                  </a:lnTo>
                  <a:lnTo>
                    <a:pt x="726947" y="392684"/>
                  </a:lnTo>
                  <a:lnTo>
                    <a:pt x="726440" y="393192"/>
                  </a:lnTo>
                  <a:lnTo>
                    <a:pt x="725804" y="393192"/>
                  </a:lnTo>
                  <a:lnTo>
                    <a:pt x="1143" y="393192"/>
                  </a:lnTo>
                  <a:lnTo>
                    <a:pt x="508" y="393192"/>
                  </a:lnTo>
                  <a:lnTo>
                    <a:pt x="0" y="392684"/>
                  </a:lnTo>
                  <a:lnTo>
                    <a:pt x="0" y="392049"/>
                  </a:lnTo>
                  <a:lnTo>
                    <a:pt x="0" y="1143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2663952" y="1773937"/>
            <a:ext cx="860213" cy="573193"/>
            <a:chOff x="1997964" y="1330452"/>
            <a:chExt cx="645160" cy="429895"/>
          </a:xfrm>
        </p:grpSpPr>
        <p:sp>
          <p:nvSpPr>
            <p:cNvPr id="6" name="object 6"/>
            <p:cNvSpPr/>
            <p:nvPr/>
          </p:nvSpPr>
          <p:spPr>
            <a:xfrm>
              <a:off x="2002536" y="1334769"/>
              <a:ext cx="635635" cy="420370"/>
            </a:xfrm>
            <a:custGeom>
              <a:avLst/>
              <a:gdLst/>
              <a:ahLst/>
              <a:cxnLst/>
              <a:rect l="l" t="t" r="r" b="b"/>
              <a:pathLst>
                <a:path w="635635" h="420369">
                  <a:moveTo>
                    <a:pt x="635508" y="1270"/>
                  </a:moveTo>
                  <a:lnTo>
                    <a:pt x="635368" y="1270"/>
                  </a:lnTo>
                  <a:lnTo>
                    <a:pt x="635368" y="0"/>
                  </a:lnTo>
                  <a:lnTo>
                    <a:pt x="127" y="0"/>
                  </a:lnTo>
                  <a:lnTo>
                    <a:pt x="127" y="1270"/>
                  </a:lnTo>
                  <a:lnTo>
                    <a:pt x="0" y="1270"/>
                  </a:lnTo>
                  <a:lnTo>
                    <a:pt x="0" y="420370"/>
                  </a:lnTo>
                  <a:lnTo>
                    <a:pt x="635508" y="420370"/>
                  </a:lnTo>
                  <a:lnTo>
                    <a:pt x="635508" y="1270"/>
                  </a:lnTo>
                  <a:close/>
                </a:path>
              </a:pathLst>
            </a:custGeom>
            <a:solidFill>
              <a:srgbClr val="00B8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" name="object 7"/>
            <p:cNvSpPr/>
            <p:nvPr/>
          </p:nvSpPr>
          <p:spPr>
            <a:xfrm>
              <a:off x="2002536" y="1335024"/>
              <a:ext cx="635635" cy="421005"/>
            </a:xfrm>
            <a:custGeom>
              <a:avLst/>
              <a:gdLst/>
              <a:ahLst/>
              <a:cxnLst/>
              <a:rect l="l" t="t" r="r" b="b"/>
              <a:pathLst>
                <a:path w="635635" h="421005">
                  <a:moveTo>
                    <a:pt x="0" y="1142"/>
                  </a:moveTo>
                  <a:lnTo>
                    <a:pt x="0" y="508"/>
                  </a:lnTo>
                  <a:lnTo>
                    <a:pt x="507" y="0"/>
                  </a:lnTo>
                  <a:lnTo>
                    <a:pt x="1143" y="0"/>
                  </a:lnTo>
                  <a:lnTo>
                    <a:pt x="634364" y="0"/>
                  </a:lnTo>
                  <a:lnTo>
                    <a:pt x="635000" y="0"/>
                  </a:lnTo>
                  <a:lnTo>
                    <a:pt x="635507" y="508"/>
                  </a:lnTo>
                  <a:lnTo>
                    <a:pt x="635507" y="1142"/>
                  </a:lnTo>
                  <a:lnTo>
                    <a:pt x="635507" y="419480"/>
                  </a:lnTo>
                  <a:lnTo>
                    <a:pt x="635507" y="420115"/>
                  </a:lnTo>
                  <a:lnTo>
                    <a:pt x="635000" y="420624"/>
                  </a:lnTo>
                  <a:lnTo>
                    <a:pt x="634364" y="420624"/>
                  </a:lnTo>
                  <a:lnTo>
                    <a:pt x="1143" y="420624"/>
                  </a:lnTo>
                  <a:lnTo>
                    <a:pt x="507" y="420624"/>
                  </a:lnTo>
                  <a:lnTo>
                    <a:pt x="0" y="420115"/>
                  </a:lnTo>
                  <a:lnTo>
                    <a:pt x="0" y="419480"/>
                  </a:lnTo>
                  <a:lnTo>
                    <a:pt x="0" y="1142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3547872" y="3011423"/>
            <a:ext cx="975360" cy="536787"/>
            <a:chOff x="2660904" y="2258567"/>
            <a:chExt cx="731520" cy="402590"/>
          </a:xfrm>
        </p:grpSpPr>
        <p:sp>
          <p:nvSpPr>
            <p:cNvPr id="9" name="object 9"/>
            <p:cNvSpPr/>
            <p:nvPr/>
          </p:nvSpPr>
          <p:spPr>
            <a:xfrm>
              <a:off x="2665476" y="2263139"/>
              <a:ext cx="722630" cy="393700"/>
            </a:xfrm>
            <a:custGeom>
              <a:avLst/>
              <a:gdLst/>
              <a:ahLst/>
              <a:cxnLst/>
              <a:rect l="l" t="t" r="r" b="b"/>
              <a:pathLst>
                <a:path w="722629" h="393700">
                  <a:moveTo>
                    <a:pt x="722376" y="0"/>
                  </a:moveTo>
                  <a:lnTo>
                    <a:pt x="0" y="0"/>
                  </a:lnTo>
                  <a:lnTo>
                    <a:pt x="0" y="1270"/>
                  </a:lnTo>
                  <a:lnTo>
                    <a:pt x="0" y="392430"/>
                  </a:lnTo>
                  <a:lnTo>
                    <a:pt x="368" y="392430"/>
                  </a:lnTo>
                  <a:lnTo>
                    <a:pt x="368" y="393700"/>
                  </a:lnTo>
                  <a:lnTo>
                    <a:pt x="721995" y="393700"/>
                  </a:lnTo>
                  <a:lnTo>
                    <a:pt x="721995" y="392430"/>
                  </a:lnTo>
                  <a:lnTo>
                    <a:pt x="722376" y="392430"/>
                  </a:lnTo>
                  <a:lnTo>
                    <a:pt x="722376" y="1270"/>
                  </a:lnTo>
                  <a:lnTo>
                    <a:pt x="722376" y="0"/>
                  </a:lnTo>
                  <a:close/>
                </a:path>
              </a:pathLst>
            </a:custGeom>
            <a:solidFill>
              <a:srgbClr val="00B8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" name="object 10"/>
            <p:cNvSpPr/>
            <p:nvPr/>
          </p:nvSpPr>
          <p:spPr>
            <a:xfrm>
              <a:off x="2665476" y="2263139"/>
              <a:ext cx="722630" cy="393700"/>
            </a:xfrm>
            <a:custGeom>
              <a:avLst/>
              <a:gdLst/>
              <a:ahLst/>
              <a:cxnLst/>
              <a:rect l="l" t="t" r="r" b="b"/>
              <a:pathLst>
                <a:path w="722629" h="393700">
                  <a:moveTo>
                    <a:pt x="0" y="1143"/>
                  </a:moveTo>
                  <a:lnTo>
                    <a:pt x="0" y="508"/>
                  </a:lnTo>
                  <a:lnTo>
                    <a:pt x="507" y="0"/>
                  </a:lnTo>
                  <a:lnTo>
                    <a:pt x="1143" y="0"/>
                  </a:lnTo>
                  <a:lnTo>
                    <a:pt x="721233" y="0"/>
                  </a:lnTo>
                  <a:lnTo>
                    <a:pt x="721868" y="0"/>
                  </a:lnTo>
                  <a:lnTo>
                    <a:pt x="722376" y="508"/>
                  </a:lnTo>
                  <a:lnTo>
                    <a:pt x="722376" y="1143"/>
                  </a:lnTo>
                  <a:lnTo>
                    <a:pt x="722376" y="392049"/>
                  </a:lnTo>
                  <a:lnTo>
                    <a:pt x="722376" y="392684"/>
                  </a:lnTo>
                  <a:lnTo>
                    <a:pt x="721868" y="393192"/>
                  </a:lnTo>
                  <a:lnTo>
                    <a:pt x="721233" y="393192"/>
                  </a:lnTo>
                  <a:lnTo>
                    <a:pt x="1143" y="393192"/>
                  </a:lnTo>
                  <a:lnTo>
                    <a:pt x="507" y="393192"/>
                  </a:lnTo>
                  <a:lnTo>
                    <a:pt x="0" y="392684"/>
                  </a:lnTo>
                  <a:lnTo>
                    <a:pt x="0" y="392049"/>
                  </a:lnTo>
                  <a:lnTo>
                    <a:pt x="0" y="1143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2359152" y="4053839"/>
            <a:ext cx="975360" cy="536787"/>
            <a:chOff x="1769364" y="3040379"/>
            <a:chExt cx="731520" cy="402590"/>
          </a:xfrm>
        </p:grpSpPr>
        <p:sp>
          <p:nvSpPr>
            <p:cNvPr id="12" name="object 12"/>
            <p:cNvSpPr/>
            <p:nvPr/>
          </p:nvSpPr>
          <p:spPr>
            <a:xfrm>
              <a:off x="1773936" y="3045459"/>
              <a:ext cx="722630" cy="392430"/>
            </a:xfrm>
            <a:custGeom>
              <a:avLst/>
              <a:gdLst/>
              <a:ahLst/>
              <a:cxnLst/>
              <a:rect l="l" t="t" r="r" b="b"/>
              <a:pathLst>
                <a:path w="722630" h="392429">
                  <a:moveTo>
                    <a:pt x="722376" y="0"/>
                  </a:moveTo>
                  <a:lnTo>
                    <a:pt x="0" y="0"/>
                  </a:lnTo>
                  <a:lnTo>
                    <a:pt x="0" y="1270"/>
                  </a:lnTo>
                  <a:lnTo>
                    <a:pt x="0" y="392430"/>
                  </a:lnTo>
                  <a:lnTo>
                    <a:pt x="722376" y="392430"/>
                  </a:lnTo>
                  <a:lnTo>
                    <a:pt x="722376" y="1270"/>
                  </a:lnTo>
                  <a:lnTo>
                    <a:pt x="722376" y="0"/>
                  </a:lnTo>
                  <a:close/>
                </a:path>
              </a:pathLst>
            </a:custGeom>
            <a:solidFill>
              <a:srgbClr val="00B8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" name="object 13"/>
            <p:cNvSpPr/>
            <p:nvPr/>
          </p:nvSpPr>
          <p:spPr>
            <a:xfrm>
              <a:off x="1773936" y="3044951"/>
              <a:ext cx="722630" cy="393700"/>
            </a:xfrm>
            <a:custGeom>
              <a:avLst/>
              <a:gdLst/>
              <a:ahLst/>
              <a:cxnLst/>
              <a:rect l="l" t="t" r="r" b="b"/>
              <a:pathLst>
                <a:path w="722630" h="393700">
                  <a:moveTo>
                    <a:pt x="0" y="1143"/>
                  </a:moveTo>
                  <a:lnTo>
                    <a:pt x="0" y="508"/>
                  </a:lnTo>
                  <a:lnTo>
                    <a:pt x="507" y="0"/>
                  </a:lnTo>
                  <a:lnTo>
                    <a:pt x="1143" y="0"/>
                  </a:lnTo>
                  <a:lnTo>
                    <a:pt x="721232" y="0"/>
                  </a:lnTo>
                  <a:lnTo>
                    <a:pt x="721868" y="0"/>
                  </a:lnTo>
                  <a:lnTo>
                    <a:pt x="722376" y="508"/>
                  </a:lnTo>
                  <a:lnTo>
                    <a:pt x="722376" y="1143"/>
                  </a:lnTo>
                  <a:lnTo>
                    <a:pt x="722376" y="392049"/>
                  </a:lnTo>
                  <a:lnTo>
                    <a:pt x="722376" y="392684"/>
                  </a:lnTo>
                  <a:lnTo>
                    <a:pt x="721868" y="393192"/>
                  </a:lnTo>
                  <a:lnTo>
                    <a:pt x="721232" y="393192"/>
                  </a:lnTo>
                  <a:lnTo>
                    <a:pt x="1143" y="393192"/>
                  </a:lnTo>
                  <a:lnTo>
                    <a:pt x="507" y="393192"/>
                  </a:lnTo>
                  <a:lnTo>
                    <a:pt x="0" y="392684"/>
                  </a:lnTo>
                  <a:lnTo>
                    <a:pt x="0" y="392049"/>
                  </a:lnTo>
                  <a:lnTo>
                    <a:pt x="0" y="1143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3584447" y="4053839"/>
            <a:ext cx="975360" cy="536787"/>
            <a:chOff x="2688335" y="3040379"/>
            <a:chExt cx="731520" cy="402590"/>
          </a:xfrm>
        </p:grpSpPr>
        <p:sp>
          <p:nvSpPr>
            <p:cNvPr id="15" name="object 15"/>
            <p:cNvSpPr/>
            <p:nvPr/>
          </p:nvSpPr>
          <p:spPr>
            <a:xfrm>
              <a:off x="2692908" y="3045459"/>
              <a:ext cx="722630" cy="392430"/>
            </a:xfrm>
            <a:custGeom>
              <a:avLst/>
              <a:gdLst/>
              <a:ahLst/>
              <a:cxnLst/>
              <a:rect l="l" t="t" r="r" b="b"/>
              <a:pathLst>
                <a:path w="722629" h="392429">
                  <a:moveTo>
                    <a:pt x="722376" y="0"/>
                  </a:moveTo>
                  <a:lnTo>
                    <a:pt x="0" y="0"/>
                  </a:lnTo>
                  <a:lnTo>
                    <a:pt x="0" y="1270"/>
                  </a:lnTo>
                  <a:lnTo>
                    <a:pt x="0" y="392430"/>
                  </a:lnTo>
                  <a:lnTo>
                    <a:pt x="722376" y="392430"/>
                  </a:lnTo>
                  <a:lnTo>
                    <a:pt x="722376" y="1270"/>
                  </a:lnTo>
                  <a:lnTo>
                    <a:pt x="722376" y="0"/>
                  </a:lnTo>
                  <a:close/>
                </a:path>
              </a:pathLst>
            </a:custGeom>
            <a:solidFill>
              <a:srgbClr val="00B8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6" name="object 16"/>
            <p:cNvSpPr/>
            <p:nvPr/>
          </p:nvSpPr>
          <p:spPr>
            <a:xfrm>
              <a:off x="2692907" y="3044951"/>
              <a:ext cx="722630" cy="393700"/>
            </a:xfrm>
            <a:custGeom>
              <a:avLst/>
              <a:gdLst/>
              <a:ahLst/>
              <a:cxnLst/>
              <a:rect l="l" t="t" r="r" b="b"/>
              <a:pathLst>
                <a:path w="722629" h="393700">
                  <a:moveTo>
                    <a:pt x="0" y="1143"/>
                  </a:moveTo>
                  <a:lnTo>
                    <a:pt x="0" y="508"/>
                  </a:lnTo>
                  <a:lnTo>
                    <a:pt x="508" y="0"/>
                  </a:lnTo>
                  <a:lnTo>
                    <a:pt x="1143" y="0"/>
                  </a:lnTo>
                  <a:lnTo>
                    <a:pt x="721232" y="0"/>
                  </a:lnTo>
                  <a:lnTo>
                    <a:pt x="721868" y="0"/>
                  </a:lnTo>
                  <a:lnTo>
                    <a:pt x="722376" y="508"/>
                  </a:lnTo>
                  <a:lnTo>
                    <a:pt x="722376" y="1143"/>
                  </a:lnTo>
                  <a:lnTo>
                    <a:pt x="722376" y="392049"/>
                  </a:lnTo>
                  <a:lnTo>
                    <a:pt x="722376" y="392684"/>
                  </a:lnTo>
                  <a:lnTo>
                    <a:pt x="721868" y="393192"/>
                  </a:lnTo>
                  <a:lnTo>
                    <a:pt x="721232" y="393192"/>
                  </a:lnTo>
                  <a:lnTo>
                    <a:pt x="1143" y="393192"/>
                  </a:lnTo>
                  <a:lnTo>
                    <a:pt x="508" y="393192"/>
                  </a:lnTo>
                  <a:lnTo>
                    <a:pt x="0" y="392684"/>
                  </a:lnTo>
                  <a:lnTo>
                    <a:pt x="0" y="392049"/>
                  </a:lnTo>
                  <a:lnTo>
                    <a:pt x="0" y="1143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4876800" y="4053839"/>
            <a:ext cx="982133" cy="536787"/>
            <a:chOff x="3657600" y="3040379"/>
            <a:chExt cx="736600" cy="402590"/>
          </a:xfrm>
        </p:grpSpPr>
        <p:sp>
          <p:nvSpPr>
            <p:cNvPr id="18" name="object 18"/>
            <p:cNvSpPr/>
            <p:nvPr/>
          </p:nvSpPr>
          <p:spPr>
            <a:xfrm>
              <a:off x="3662172" y="3045459"/>
              <a:ext cx="727075" cy="392430"/>
            </a:xfrm>
            <a:custGeom>
              <a:avLst/>
              <a:gdLst/>
              <a:ahLst/>
              <a:cxnLst/>
              <a:rect l="l" t="t" r="r" b="b"/>
              <a:pathLst>
                <a:path w="727075" h="392429">
                  <a:moveTo>
                    <a:pt x="726948" y="0"/>
                  </a:moveTo>
                  <a:lnTo>
                    <a:pt x="0" y="0"/>
                  </a:lnTo>
                  <a:lnTo>
                    <a:pt x="0" y="1270"/>
                  </a:lnTo>
                  <a:lnTo>
                    <a:pt x="0" y="392430"/>
                  </a:lnTo>
                  <a:lnTo>
                    <a:pt x="726948" y="392430"/>
                  </a:lnTo>
                  <a:lnTo>
                    <a:pt x="726948" y="1270"/>
                  </a:lnTo>
                  <a:lnTo>
                    <a:pt x="726948" y="0"/>
                  </a:lnTo>
                  <a:close/>
                </a:path>
              </a:pathLst>
            </a:custGeom>
            <a:solidFill>
              <a:srgbClr val="00B8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9" name="object 19"/>
            <p:cNvSpPr/>
            <p:nvPr/>
          </p:nvSpPr>
          <p:spPr>
            <a:xfrm>
              <a:off x="3662172" y="3044951"/>
              <a:ext cx="727075" cy="393700"/>
            </a:xfrm>
            <a:custGeom>
              <a:avLst/>
              <a:gdLst/>
              <a:ahLst/>
              <a:cxnLst/>
              <a:rect l="l" t="t" r="r" b="b"/>
              <a:pathLst>
                <a:path w="727075" h="393700">
                  <a:moveTo>
                    <a:pt x="0" y="1143"/>
                  </a:moveTo>
                  <a:lnTo>
                    <a:pt x="0" y="508"/>
                  </a:lnTo>
                  <a:lnTo>
                    <a:pt x="507" y="0"/>
                  </a:lnTo>
                  <a:lnTo>
                    <a:pt x="1142" y="0"/>
                  </a:lnTo>
                  <a:lnTo>
                    <a:pt x="725804" y="0"/>
                  </a:lnTo>
                  <a:lnTo>
                    <a:pt x="726439" y="0"/>
                  </a:lnTo>
                  <a:lnTo>
                    <a:pt x="726948" y="508"/>
                  </a:lnTo>
                  <a:lnTo>
                    <a:pt x="726948" y="1143"/>
                  </a:lnTo>
                  <a:lnTo>
                    <a:pt x="726948" y="392049"/>
                  </a:lnTo>
                  <a:lnTo>
                    <a:pt x="726948" y="392684"/>
                  </a:lnTo>
                  <a:lnTo>
                    <a:pt x="726439" y="393192"/>
                  </a:lnTo>
                  <a:lnTo>
                    <a:pt x="725804" y="393192"/>
                  </a:lnTo>
                  <a:lnTo>
                    <a:pt x="1142" y="393192"/>
                  </a:lnTo>
                  <a:lnTo>
                    <a:pt x="507" y="393192"/>
                  </a:lnTo>
                  <a:lnTo>
                    <a:pt x="0" y="392684"/>
                  </a:lnTo>
                  <a:lnTo>
                    <a:pt x="0" y="392049"/>
                  </a:lnTo>
                  <a:lnTo>
                    <a:pt x="0" y="1143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0" name="object 20"/>
          <p:cNvSpPr/>
          <p:nvPr/>
        </p:nvSpPr>
        <p:spPr>
          <a:xfrm>
            <a:off x="2316481" y="2322406"/>
            <a:ext cx="1731433" cy="707813"/>
          </a:xfrm>
          <a:custGeom>
            <a:avLst/>
            <a:gdLst/>
            <a:ahLst/>
            <a:cxnLst/>
            <a:rect l="l" t="t" r="r" b="b"/>
            <a:pathLst>
              <a:path w="1298575" h="530860">
                <a:moveTo>
                  <a:pt x="1298448" y="521335"/>
                </a:moveTo>
                <a:lnTo>
                  <a:pt x="1265948" y="460248"/>
                </a:lnTo>
                <a:lnTo>
                  <a:pt x="1231773" y="395986"/>
                </a:lnTo>
                <a:lnTo>
                  <a:pt x="1198689" y="442480"/>
                </a:lnTo>
                <a:lnTo>
                  <a:pt x="594715" y="12788"/>
                </a:lnTo>
                <a:lnTo>
                  <a:pt x="598551" y="9398"/>
                </a:lnTo>
                <a:lnTo>
                  <a:pt x="590169" y="0"/>
                </a:lnTo>
                <a:lnTo>
                  <a:pt x="90893" y="441566"/>
                </a:lnTo>
                <a:lnTo>
                  <a:pt x="53086" y="398780"/>
                </a:lnTo>
                <a:lnTo>
                  <a:pt x="0" y="530479"/>
                </a:lnTo>
                <a:lnTo>
                  <a:pt x="137160" y="493903"/>
                </a:lnTo>
                <a:lnTo>
                  <a:pt x="106730" y="459486"/>
                </a:lnTo>
                <a:lnTo>
                  <a:pt x="99301" y="451078"/>
                </a:lnTo>
                <a:lnTo>
                  <a:pt x="584911" y="21463"/>
                </a:lnTo>
                <a:lnTo>
                  <a:pt x="1191285" y="452869"/>
                </a:lnTo>
                <a:lnTo>
                  <a:pt x="1158113" y="499491"/>
                </a:lnTo>
                <a:lnTo>
                  <a:pt x="1298448" y="5213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" name="object 21"/>
          <p:cNvSpPr/>
          <p:nvPr/>
        </p:nvSpPr>
        <p:spPr>
          <a:xfrm>
            <a:off x="2828545" y="3552105"/>
            <a:ext cx="2542540" cy="515620"/>
          </a:xfrm>
          <a:custGeom>
            <a:avLst/>
            <a:gdLst/>
            <a:ahLst/>
            <a:cxnLst/>
            <a:rect l="l" t="t" r="r" b="b"/>
            <a:pathLst>
              <a:path w="1906904" h="386714">
                <a:moveTo>
                  <a:pt x="903097" y="11811"/>
                </a:moveTo>
                <a:lnTo>
                  <a:pt x="898271" y="127"/>
                </a:lnTo>
                <a:lnTo>
                  <a:pt x="115074" y="322160"/>
                </a:lnTo>
                <a:lnTo>
                  <a:pt x="93345" y="269240"/>
                </a:lnTo>
                <a:lnTo>
                  <a:pt x="0" y="376301"/>
                </a:lnTo>
                <a:lnTo>
                  <a:pt x="141605" y="386715"/>
                </a:lnTo>
                <a:lnTo>
                  <a:pt x="121881" y="338709"/>
                </a:lnTo>
                <a:lnTo>
                  <a:pt x="119888" y="333857"/>
                </a:lnTo>
                <a:lnTo>
                  <a:pt x="903097" y="11811"/>
                </a:lnTo>
                <a:close/>
              </a:path>
              <a:path w="1906904" h="386714">
                <a:moveTo>
                  <a:pt x="1906524" y="362585"/>
                </a:moveTo>
                <a:lnTo>
                  <a:pt x="1875167" y="329438"/>
                </a:lnTo>
                <a:lnTo>
                  <a:pt x="1808988" y="259461"/>
                </a:lnTo>
                <a:lnTo>
                  <a:pt x="1789379" y="313143"/>
                </a:lnTo>
                <a:lnTo>
                  <a:pt x="930275" y="0"/>
                </a:lnTo>
                <a:lnTo>
                  <a:pt x="928116" y="5969"/>
                </a:lnTo>
                <a:lnTo>
                  <a:pt x="921766" y="5969"/>
                </a:lnTo>
                <a:lnTo>
                  <a:pt x="921766" y="221869"/>
                </a:lnTo>
                <a:lnTo>
                  <a:pt x="864616" y="221869"/>
                </a:lnTo>
                <a:lnTo>
                  <a:pt x="928116" y="348869"/>
                </a:lnTo>
                <a:lnTo>
                  <a:pt x="985266" y="234569"/>
                </a:lnTo>
                <a:lnTo>
                  <a:pt x="991616" y="221869"/>
                </a:lnTo>
                <a:lnTo>
                  <a:pt x="934466" y="221869"/>
                </a:lnTo>
                <a:lnTo>
                  <a:pt x="934466" y="15049"/>
                </a:lnTo>
                <a:lnTo>
                  <a:pt x="1785010" y="325107"/>
                </a:lnTo>
                <a:lnTo>
                  <a:pt x="1765427" y="378714"/>
                </a:lnTo>
                <a:lnTo>
                  <a:pt x="1906524" y="3625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grpSp>
        <p:nvGrpSpPr>
          <p:cNvPr id="22" name="object 22"/>
          <p:cNvGrpSpPr/>
          <p:nvPr/>
        </p:nvGrpSpPr>
        <p:grpSpPr>
          <a:xfrm>
            <a:off x="7406640" y="1773937"/>
            <a:ext cx="877993" cy="555412"/>
            <a:chOff x="5554979" y="1330452"/>
            <a:chExt cx="658495" cy="416559"/>
          </a:xfrm>
        </p:grpSpPr>
        <p:sp>
          <p:nvSpPr>
            <p:cNvPr id="23" name="object 23"/>
            <p:cNvSpPr/>
            <p:nvPr/>
          </p:nvSpPr>
          <p:spPr>
            <a:xfrm>
              <a:off x="5559552" y="1334769"/>
              <a:ext cx="649605" cy="407670"/>
            </a:xfrm>
            <a:custGeom>
              <a:avLst/>
              <a:gdLst/>
              <a:ahLst/>
              <a:cxnLst/>
              <a:rect l="l" t="t" r="r" b="b"/>
              <a:pathLst>
                <a:path w="649604" h="407669">
                  <a:moveTo>
                    <a:pt x="649224" y="1270"/>
                  </a:moveTo>
                  <a:lnTo>
                    <a:pt x="649084" y="1270"/>
                  </a:lnTo>
                  <a:lnTo>
                    <a:pt x="649084" y="0"/>
                  </a:lnTo>
                  <a:lnTo>
                    <a:pt x="127" y="0"/>
                  </a:lnTo>
                  <a:lnTo>
                    <a:pt x="127" y="1270"/>
                  </a:lnTo>
                  <a:lnTo>
                    <a:pt x="0" y="1270"/>
                  </a:lnTo>
                  <a:lnTo>
                    <a:pt x="0" y="406400"/>
                  </a:lnTo>
                  <a:lnTo>
                    <a:pt x="368" y="406400"/>
                  </a:lnTo>
                  <a:lnTo>
                    <a:pt x="368" y="407670"/>
                  </a:lnTo>
                  <a:lnTo>
                    <a:pt x="648843" y="407670"/>
                  </a:lnTo>
                  <a:lnTo>
                    <a:pt x="648843" y="406400"/>
                  </a:lnTo>
                  <a:lnTo>
                    <a:pt x="649224" y="406400"/>
                  </a:lnTo>
                  <a:lnTo>
                    <a:pt x="649224" y="1270"/>
                  </a:lnTo>
                  <a:close/>
                </a:path>
              </a:pathLst>
            </a:custGeom>
            <a:solidFill>
              <a:srgbClr val="00B8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4" name="object 24"/>
            <p:cNvSpPr/>
            <p:nvPr/>
          </p:nvSpPr>
          <p:spPr>
            <a:xfrm>
              <a:off x="5559551" y="1335024"/>
              <a:ext cx="649605" cy="407034"/>
            </a:xfrm>
            <a:custGeom>
              <a:avLst/>
              <a:gdLst/>
              <a:ahLst/>
              <a:cxnLst/>
              <a:rect l="l" t="t" r="r" b="b"/>
              <a:pathLst>
                <a:path w="649604" h="407035">
                  <a:moveTo>
                    <a:pt x="0" y="1142"/>
                  </a:moveTo>
                  <a:lnTo>
                    <a:pt x="0" y="508"/>
                  </a:lnTo>
                  <a:lnTo>
                    <a:pt x="508" y="0"/>
                  </a:lnTo>
                  <a:lnTo>
                    <a:pt x="1143" y="0"/>
                  </a:lnTo>
                  <a:lnTo>
                    <a:pt x="648081" y="0"/>
                  </a:lnTo>
                  <a:lnTo>
                    <a:pt x="648715" y="0"/>
                  </a:lnTo>
                  <a:lnTo>
                    <a:pt x="649224" y="508"/>
                  </a:lnTo>
                  <a:lnTo>
                    <a:pt x="649224" y="1142"/>
                  </a:lnTo>
                  <a:lnTo>
                    <a:pt x="649224" y="405764"/>
                  </a:lnTo>
                  <a:lnTo>
                    <a:pt x="649224" y="406400"/>
                  </a:lnTo>
                  <a:lnTo>
                    <a:pt x="648715" y="406908"/>
                  </a:lnTo>
                  <a:lnTo>
                    <a:pt x="648081" y="406908"/>
                  </a:lnTo>
                  <a:lnTo>
                    <a:pt x="1143" y="406908"/>
                  </a:lnTo>
                  <a:lnTo>
                    <a:pt x="508" y="406908"/>
                  </a:lnTo>
                  <a:lnTo>
                    <a:pt x="0" y="406400"/>
                  </a:lnTo>
                  <a:lnTo>
                    <a:pt x="0" y="405764"/>
                  </a:lnTo>
                  <a:lnTo>
                    <a:pt x="0" y="1142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8887968" y="2743201"/>
            <a:ext cx="872067" cy="555412"/>
            <a:chOff x="6665976" y="2057400"/>
            <a:chExt cx="654050" cy="416559"/>
          </a:xfrm>
        </p:grpSpPr>
        <p:sp>
          <p:nvSpPr>
            <p:cNvPr id="26" name="object 26"/>
            <p:cNvSpPr/>
            <p:nvPr/>
          </p:nvSpPr>
          <p:spPr>
            <a:xfrm>
              <a:off x="6670548" y="2062479"/>
              <a:ext cx="645160" cy="406400"/>
            </a:xfrm>
            <a:custGeom>
              <a:avLst/>
              <a:gdLst/>
              <a:ahLst/>
              <a:cxnLst/>
              <a:rect l="l" t="t" r="r" b="b"/>
              <a:pathLst>
                <a:path w="645159" h="406400">
                  <a:moveTo>
                    <a:pt x="644652" y="0"/>
                  </a:moveTo>
                  <a:lnTo>
                    <a:pt x="0" y="0"/>
                  </a:lnTo>
                  <a:lnTo>
                    <a:pt x="0" y="1270"/>
                  </a:lnTo>
                  <a:lnTo>
                    <a:pt x="0" y="406400"/>
                  </a:lnTo>
                  <a:lnTo>
                    <a:pt x="644652" y="406400"/>
                  </a:lnTo>
                  <a:lnTo>
                    <a:pt x="644652" y="1270"/>
                  </a:lnTo>
                  <a:lnTo>
                    <a:pt x="644652" y="0"/>
                  </a:lnTo>
                  <a:close/>
                </a:path>
              </a:pathLst>
            </a:custGeom>
            <a:solidFill>
              <a:srgbClr val="00B8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7" name="object 27"/>
            <p:cNvSpPr/>
            <p:nvPr/>
          </p:nvSpPr>
          <p:spPr>
            <a:xfrm>
              <a:off x="6670548" y="2061972"/>
              <a:ext cx="645160" cy="407034"/>
            </a:xfrm>
            <a:custGeom>
              <a:avLst/>
              <a:gdLst/>
              <a:ahLst/>
              <a:cxnLst/>
              <a:rect l="l" t="t" r="r" b="b"/>
              <a:pathLst>
                <a:path w="645159" h="407035">
                  <a:moveTo>
                    <a:pt x="0" y="1142"/>
                  </a:moveTo>
                  <a:lnTo>
                    <a:pt x="0" y="507"/>
                  </a:lnTo>
                  <a:lnTo>
                    <a:pt x="507" y="0"/>
                  </a:lnTo>
                  <a:lnTo>
                    <a:pt x="1143" y="0"/>
                  </a:lnTo>
                  <a:lnTo>
                    <a:pt x="643508" y="0"/>
                  </a:lnTo>
                  <a:lnTo>
                    <a:pt x="644144" y="0"/>
                  </a:lnTo>
                  <a:lnTo>
                    <a:pt x="644651" y="507"/>
                  </a:lnTo>
                  <a:lnTo>
                    <a:pt x="644651" y="1142"/>
                  </a:lnTo>
                  <a:lnTo>
                    <a:pt x="644651" y="405764"/>
                  </a:lnTo>
                  <a:lnTo>
                    <a:pt x="644651" y="406400"/>
                  </a:lnTo>
                  <a:lnTo>
                    <a:pt x="644144" y="406907"/>
                  </a:lnTo>
                  <a:lnTo>
                    <a:pt x="643508" y="406907"/>
                  </a:lnTo>
                  <a:lnTo>
                    <a:pt x="1143" y="406907"/>
                  </a:lnTo>
                  <a:lnTo>
                    <a:pt x="507" y="406907"/>
                  </a:lnTo>
                  <a:lnTo>
                    <a:pt x="0" y="406400"/>
                  </a:lnTo>
                  <a:lnTo>
                    <a:pt x="0" y="405764"/>
                  </a:lnTo>
                  <a:lnTo>
                    <a:pt x="0" y="1142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9534143" y="3828289"/>
            <a:ext cx="872067" cy="555412"/>
            <a:chOff x="7150607" y="2871216"/>
            <a:chExt cx="654050" cy="416559"/>
          </a:xfrm>
        </p:grpSpPr>
        <p:sp>
          <p:nvSpPr>
            <p:cNvPr id="29" name="object 29"/>
            <p:cNvSpPr/>
            <p:nvPr/>
          </p:nvSpPr>
          <p:spPr>
            <a:xfrm>
              <a:off x="7155180" y="2875279"/>
              <a:ext cx="645160" cy="407670"/>
            </a:xfrm>
            <a:custGeom>
              <a:avLst/>
              <a:gdLst/>
              <a:ahLst/>
              <a:cxnLst/>
              <a:rect l="l" t="t" r="r" b="b"/>
              <a:pathLst>
                <a:path w="645159" h="407670">
                  <a:moveTo>
                    <a:pt x="644652" y="1270"/>
                  </a:moveTo>
                  <a:lnTo>
                    <a:pt x="644271" y="1270"/>
                  </a:lnTo>
                  <a:lnTo>
                    <a:pt x="644271" y="0"/>
                  </a:lnTo>
                  <a:lnTo>
                    <a:pt x="381" y="0"/>
                  </a:lnTo>
                  <a:lnTo>
                    <a:pt x="381" y="1270"/>
                  </a:lnTo>
                  <a:lnTo>
                    <a:pt x="0" y="1270"/>
                  </a:lnTo>
                  <a:lnTo>
                    <a:pt x="0" y="406400"/>
                  </a:lnTo>
                  <a:lnTo>
                    <a:pt x="127" y="406400"/>
                  </a:lnTo>
                  <a:lnTo>
                    <a:pt x="127" y="407670"/>
                  </a:lnTo>
                  <a:lnTo>
                    <a:pt x="644525" y="407670"/>
                  </a:lnTo>
                  <a:lnTo>
                    <a:pt x="644525" y="406400"/>
                  </a:lnTo>
                  <a:lnTo>
                    <a:pt x="644652" y="406400"/>
                  </a:lnTo>
                  <a:lnTo>
                    <a:pt x="644652" y="1270"/>
                  </a:lnTo>
                  <a:close/>
                </a:path>
              </a:pathLst>
            </a:custGeom>
            <a:solidFill>
              <a:srgbClr val="00B8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0" name="object 30"/>
            <p:cNvSpPr/>
            <p:nvPr/>
          </p:nvSpPr>
          <p:spPr>
            <a:xfrm>
              <a:off x="7155179" y="2875788"/>
              <a:ext cx="645160" cy="407034"/>
            </a:xfrm>
            <a:custGeom>
              <a:avLst/>
              <a:gdLst/>
              <a:ahLst/>
              <a:cxnLst/>
              <a:rect l="l" t="t" r="r" b="b"/>
              <a:pathLst>
                <a:path w="645159" h="407035">
                  <a:moveTo>
                    <a:pt x="0" y="1143"/>
                  </a:moveTo>
                  <a:lnTo>
                    <a:pt x="0" y="507"/>
                  </a:lnTo>
                  <a:lnTo>
                    <a:pt x="508" y="0"/>
                  </a:lnTo>
                  <a:lnTo>
                    <a:pt x="1143" y="0"/>
                  </a:lnTo>
                  <a:lnTo>
                    <a:pt x="643509" y="0"/>
                  </a:lnTo>
                  <a:lnTo>
                    <a:pt x="644144" y="0"/>
                  </a:lnTo>
                  <a:lnTo>
                    <a:pt x="644651" y="507"/>
                  </a:lnTo>
                  <a:lnTo>
                    <a:pt x="644651" y="1143"/>
                  </a:lnTo>
                  <a:lnTo>
                    <a:pt x="644651" y="405764"/>
                  </a:lnTo>
                  <a:lnTo>
                    <a:pt x="644651" y="406400"/>
                  </a:lnTo>
                  <a:lnTo>
                    <a:pt x="644144" y="406907"/>
                  </a:lnTo>
                  <a:lnTo>
                    <a:pt x="643509" y="406907"/>
                  </a:lnTo>
                  <a:lnTo>
                    <a:pt x="1143" y="406907"/>
                  </a:lnTo>
                  <a:lnTo>
                    <a:pt x="508" y="406907"/>
                  </a:lnTo>
                  <a:lnTo>
                    <a:pt x="0" y="406400"/>
                  </a:lnTo>
                  <a:lnTo>
                    <a:pt x="0" y="405764"/>
                  </a:lnTo>
                  <a:lnTo>
                    <a:pt x="0" y="1143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31" name="object 31"/>
          <p:cNvGrpSpPr/>
          <p:nvPr/>
        </p:nvGrpSpPr>
        <p:grpSpPr>
          <a:xfrm>
            <a:off x="7985760" y="3828289"/>
            <a:ext cx="872067" cy="555412"/>
            <a:chOff x="5989320" y="2871216"/>
            <a:chExt cx="654050" cy="416559"/>
          </a:xfrm>
        </p:grpSpPr>
        <p:sp>
          <p:nvSpPr>
            <p:cNvPr id="32" name="object 32"/>
            <p:cNvSpPr/>
            <p:nvPr/>
          </p:nvSpPr>
          <p:spPr>
            <a:xfrm>
              <a:off x="5993892" y="2875279"/>
              <a:ext cx="645160" cy="407670"/>
            </a:xfrm>
            <a:custGeom>
              <a:avLst/>
              <a:gdLst/>
              <a:ahLst/>
              <a:cxnLst/>
              <a:rect l="l" t="t" r="r" b="b"/>
              <a:pathLst>
                <a:path w="645159" h="407670">
                  <a:moveTo>
                    <a:pt x="644652" y="1270"/>
                  </a:moveTo>
                  <a:lnTo>
                    <a:pt x="644258" y="1270"/>
                  </a:lnTo>
                  <a:lnTo>
                    <a:pt x="644258" y="0"/>
                  </a:lnTo>
                  <a:lnTo>
                    <a:pt x="381" y="0"/>
                  </a:lnTo>
                  <a:lnTo>
                    <a:pt x="381" y="1270"/>
                  </a:lnTo>
                  <a:lnTo>
                    <a:pt x="0" y="1270"/>
                  </a:lnTo>
                  <a:lnTo>
                    <a:pt x="0" y="406400"/>
                  </a:lnTo>
                  <a:lnTo>
                    <a:pt x="114" y="407670"/>
                  </a:lnTo>
                  <a:lnTo>
                    <a:pt x="644525" y="407670"/>
                  </a:lnTo>
                  <a:lnTo>
                    <a:pt x="644525" y="406400"/>
                  </a:lnTo>
                  <a:lnTo>
                    <a:pt x="644652" y="406400"/>
                  </a:lnTo>
                  <a:lnTo>
                    <a:pt x="644652" y="1270"/>
                  </a:lnTo>
                  <a:close/>
                </a:path>
              </a:pathLst>
            </a:custGeom>
            <a:solidFill>
              <a:srgbClr val="00B8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3" name="object 33"/>
            <p:cNvSpPr/>
            <p:nvPr/>
          </p:nvSpPr>
          <p:spPr>
            <a:xfrm>
              <a:off x="5993892" y="2875788"/>
              <a:ext cx="645160" cy="407034"/>
            </a:xfrm>
            <a:custGeom>
              <a:avLst/>
              <a:gdLst/>
              <a:ahLst/>
              <a:cxnLst/>
              <a:rect l="l" t="t" r="r" b="b"/>
              <a:pathLst>
                <a:path w="645159" h="407035">
                  <a:moveTo>
                    <a:pt x="0" y="1143"/>
                  </a:moveTo>
                  <a:lnTo>
                    <a:pt x="0" y="507"/>
                  </a:lnTo>
                  <a:lnTo>
                    <a:pt x="508" y="0"/>
                  </a:lnTo>
                  <a:lnTo>
                    <a:pt x="1143" y="0"/>
                  </a:lnTo>
                  <a:lnTo>
                    <a:pt x="643509" y="0"/>
                  </a:lnTo>
                  <a:lnTo>
                    <a:pt x="644143" y="0"/>
                  </a:lnTo>
                  <a:lnTo>
                    <a:pt x="644652" y="507"/>
                  </a:lnTo>
                  <a:lnTo>
                    <a:pt x="644652" y="1143"/>
                  </a:lnTo>
                  <a:lnTo>
                    <a:pt x="644652" y="405764"/>
                  </a:lnTo>
                  <a:lnTo>
                    <a:pt x="644652" y="406400"/>
                  </a:lnTo>
                  <a:lnTo>
                    <a:pt x="644143" y="406907"/>
                  </a:lnTo>
                  <a:lnTo>
                    <a:pt x="643509" y="406907"/>
                  </a:lnTo>
                  <a:lnTo>
                    <a:pt x="1143" y="406907"/>
                  </a:lnTo>
                  <a:lnTo>
                    <a:pt x="508" y="406907"/>
                  </a:lnTo>
                  <a:lnTo>
                    <a:pt x="0" y="406400"/>
                  </a:lnTo>
                  <a:lnTo>
                    <a:pt x="0" y="405764"/>
                  </a:lnTo>
                  <a:lnTo>
                    <a:pt x="0" y="1143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6797039" y="3828289"/>
            <a:ext cx="872067" cy="555412"/>
            <a:chOff x="5097779" y="2871216"/>
            <a:chExt cx="654050" cy="416559"/>
          </a:xfrm>
        </p:grpSpPr>
        <p:sp>
          <p:nvSpPr>
            <p:cNvPr id="35" name="object 35"/>
            <p:cNvSpPr/>
            <p:nvPr/>
          </p:nvSpPr>
          <p:spPr>
            <a:xfrm>
              <a:off x="5102352" y="2875279"/>
              <a:ext cx="645160" cy="407670"/>
            </a:xfrm>
            <a:custGeom>
              <a:avLst/>
              <a:gdLst/>
              <a:ahLst/>
              <a:cxnLst/>
              <a:rect l="l" t="t" r="r" b="b"/>
              <a:pathLst>
                <a:path w="645160" h="407670">
                  <a:moveTo>
                    <a:pt x="644652" y="1270"/>
                  </a:moveTo>
                  <a:lnTo>
                    <a:pt x="644271" y="1270"/>
                  </a:lnTo>
                  <a:lnTo>
                    <a:pt x="644271" y="0"/>
                  </a:lnTo>
                  <a:lnTo>
                    <a:pt x="381" y="0"/>
                  </a:lnTo>
                  <a:lnTo>
                    <a:pt x="381" y="1270"/>
                  </a:lnTo>
                  <a:lnTo>
                    <a:pt x="0" y="1270"/>
                  </a:lnTo>
                  <a:lnTo>
                    <a:pt x="0" y="406400"/>
                  </a:lnTo>
                  <a:lnTo>
                    <a:pt x="127" y="406400"/>
                  </a:lnTo>
                  <a:lnTo>
                    <a:pt x="127" y="407670"/>
                  </a:lnTo>
                  <a:lnTo>
                    <a:pt x="644525" y="407670"/>
                  </a:lnTo>
                  <a:lnTo>
                    <a:pt x="644525" y="406400"/>
                  </a:lnTo>
                  <a:lnTo>
                    <a:pt x="644652" y="406400"/>
                  </a:lnTo>
                  <a:lnTo>
                    <a:pt x="644652" y="1270"/>
                  </a:lnTo>
                  <a:close/>
                </a:path>
              </a:pathLst>
            </a:custGeom>
            <a:solidFill>
              <a:srgbClr val="00B8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6" name="object 36"/>
            <p:cNvSpPr/>
            <p:nvPr/>
          </p:nvSpPr>
          <p:spPr>
            <a:xfrm>
              <a:off x="5102351" y="2875788"/>
              <a:ext cx="645160" cy="407034"/>
            </a:xfrm>
            <a:custGeom>
              <a:avLst/>
              <a:gdLst/>
              <a:ahLst/>
              <a:cxnLst/>
              <a:rect l="l" t="t" r="r" b="b"/>
              <a:pathLst>
                <a:path w="645160" h="407035">
                  <a:moveTo>
                    <a:pt x="0" y="1143"/>
                  </a:moveTo>
                  <a:lnTo>
                    <a:pt x="0" y="507"/>
                  </a:lnTo>
                  <a:lnTo>
                    <a:pt x="508" y="0"/>
                  </a:lnTo>
                  <a:lnTo>
                    <a:pt x="1143" y="0"/>
                  </a:lnTo>
                  <a:lnTo>
                    <a:pt x="643509" y="0"/>
                  </a:lnTo>
                  <a:lnTo>
                    <a:pt x="644144" y="0"/>
                  </a:lnTo>
                  <a:lnTo>
                    <a:pt x="644651" y="507"/>
                  </a:lnTo>
                  <a:lnTo>
                    <a:pt x="644651" y="1143"/>
                  </a:lnTo>
                  <a:lnTo>
                    <a:pt x="644651" y="405764"/>
                  </a:lnTo>
                  <a:lnTo>
                    <a:pt x="644651" y="406400"/>
                  </a:lnTo>
                  <a:lnTo>
                    <a:pt x="644144" y="406907"/>
                  </a:lnTo>
                  <a:lnTo>
                    <a:pt x="643509" y="406907"/>
                  </a:lnTo>
                  <a:lnTo>
                    <a:pt x="1143" y="406907"/>
                  </a:lnTo>
                  <a:lnTo>
                    <a:pt x="508" y="406907"/>
                  </a:lnTo>
                  <a:lnTo>
                    <a:pt x="0" y="406400"/>
                  </a:lnTo>
                  <a:lnTo>
                    <a:pt x="0" y="405764"/>
                  </a:lnTo>
                  <a:lnTo>
                    <a:pt x="0" y="1143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6797040" y="2334089"/>
            <a:ext cx="2432473" cy="1476587"/>
            <a:chOff x="5097779" y="1750567"/>
            <a:chExt cx="1824355" cy="1107440"/>
          </a:xfrm>
        </p:grpSpPr>
        <p:sp>
          <p:nvSpPr>
            <p:cNvPr id="38" name="object 38"/>
            <p:cNvSpPr/>
            <p:nvPr/>
          </p:nvSpPr>
          <p:spPr>
            <a:xfrm>
              <a:off x="5102352" y="2117089"/>
              <a:ext cx="645160" cy="406400"/>
            </a:xfrm>
            <a:custGeom>
              <a:avLst/>
              <a:gdLst/>
              <a:ahLst/>
              <a:cxnLst/>
              <a:rect l="l" t="t" r="r" b="b"/>
              <a:pathLst>
                <a:path w="645160" h="406400">
                  <a:moveTo>
                    <a:pt x="644652" y="0"/>
                  </a:moveTo>
                  <a:lnTo>
                    <a:pt x="0" y="0"/>
                  </a:lnTo>
                  <a:lnTo>
                    <a:pt x="0" y="1270"/>
                  </a:lnTo>
                  <a:lnTo>
                    <a:pt x="0" y="406400"/>
                  </a:lnTo>
                  <a:lnTo>
                    <a:pt x="644652" y="406400"/>
                  </a:lnTo>
                  <a:lnTo>
                    <a:pt x="644652" y="1270"/>
                  </a:lnTo>
                  <a:lnTo>
                    <a:pt x="644652" y="0"/>
                  </a:lnTo>
                  <a:close/>
                </a:path>
              </a:pathLst>
            </a:custGeom>
            <a:solidFill>
              <a:srgbClr val="00B8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9" name="object 39"/>
            <p:cNvSpPr/>
            <p:nvPr/>
          </p:nvSpPr>
          <p:spPr>
            <a:xfrm>
              <a:off x="5102351" y="2116835"/>
              <a:ext cx="645160" cy="407034"/>
            </a:xfrm>
            <a:custGeom>
              <a:avLst/>
              <a:gdLst/>
              <a:ahLst/>
              <a:cxnLst/>
              <a:rect l="l" t="t" r="r" b="b"/>
              <a:pathLst>
                <a:path w="645160" h="407035">
                  <a:moveTo>
                    <a:pt x="0" y="1143"/>
                  </a:moveTo>
                  <a:lnTo>
                    <a:pt x="0" y="507"/>
                  </a:lnTo>
                  <a:lnTo>
                    <a:pt x="508" y="0"/>
                  </a:lnTo>
                  <a:lnTo>
                    <a:pt x="1143" y="0"/>
                  </a:lnTo>
                  <a:lnTo>
                    <a:pt x="643509" y="0"/>
                  </a:lnTo>
                  <a:lnTo>
                    <a:pt x="644144" y="0"/>
                  </a:lnTo>
                  <a:lnTo>
                    <a:pt x="644651" y="507"/>
                  </a:lnTo>
                  <a:lnTo>
                    <a:pt x="644651" y="1143"/>
                  </a:lnTo>
                  <a:lnTo>
                    <a:pt x="644651" y="405764"/>
                  </a:lnTo>
                  <a:lnTo>
                    <a:pt x="644651" y="406400"/>
                  </a:lnTo>
                  <a:lnTo>
                    <a:pt x="644144" y="406907"/>
                  </a:lnTo>
                  <a:lnTo>
                    <a:pt x="643509" y="406907"/>
                  </a:lnTo>
                  <a:lnTo>
                    <a:pt x="1143" y="406907"/>
                  </a:lnTo>
                  <a:lnTo>
                    <a:pt x="508" y="406907"/>
                  </a:lnTo>
                  <a:lnTo>
                    <a:pt x="0" y="406400"/>
                  </a:lnTo>
                  <a:lnTo>
                    <a:pt x="0" y="405764"/>
                  </a:lnTo>
                  <a:lnTo>
                    <a:pt x="0" y="1143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0" name="object 40"/>
            <p:cNvSpPr/>
            <p:nvPr/>
          </p:nvSpPr>
          <p:spPr>
            <a:xfrm>
              <a:off x="5377180" y="1750567"/>
              <a:ext cx="1544955" cy="1107440"/>
            </a:xfrm>
            <a:custGeom>
              <a:avLst/>
              <a:gdLst/>
              <a:ahLst/>
              <a:cxnLst/>
              <a:rect l="l" t="t" r="r" b="b"/>
              <a:pathLst>
                <a:path w="1544954" h="1107439">
                  <a:moveTo>
                    <a:pt x="127000" y="966216"/>
                  </a:moveTo>
                  <a:lnTo>
                    <a:pt x="69850" y="966216"/>
                  </a:lnTo>
                  <a:lnTo>
                    <a:pt x="69850" y="773176"/>
                  </a:lnTo>
                  <a:lnTo>
                    <a:pt x="57150" y="773176"/>
                  </a:lnTo>
                  <a:lnTo>
                    <a:pt x="57150" y="966216"/>
                  </a:lnTo>
                  <a:lnTo>
                    <a:pt x="0" y="966216"/>
                  </a:lnTo>
                  <a:lnTo>
                    <a:pt x="63500" y="1093216"/>
                  </a:lnTo>
                  <a:lnTo>
                    <a:pt x="120650" y="978916"/>
                  </a:lnTo>
                  <a:lnTo>
                    <a:pt x="127000" y="966216"/>
                  </a:lnTo>
                  <a:close/>
                </a:path>
                <a:path w="1544954" h="1107439">
                  <a:moveTo>
                    <a:pt x="492633" y="10160"/>
                  </a:moveTo>
                  <a:lnTo>
                    <a:pt x="484759" y="0"/>
                  </a:lnTo>
                  <a:lnTo>
                    <a:pt x="137160" y="269709"/>
                  </a:lnTo>
                  <a:lnTo>
                    <a:pt x="102108" y="224536"/>
                  </a:lnTo>
                  <a:lnTo>
                    <a:pt x="40640" y="352552"/>
                  </a:lnTo>
                  <a:lnTo>
                    <a:pt x="179959" y="324866"/>
                  </a:lnTo>
                  <a:lnTo>
                    <a:pt x="150977" y="287528"/>
                  </a:lnTo>
                  <a:lnTo>
                    <a:pt x="144932" y="279730"/>
                  </a:lnTo>
                  <a:lnTo>
                    <a:pt x="492633" y="10160"/>
                  </a:lnTo>
                  <a:close/>
                </a:path>
                <a:path w="1544954" h="1107439">
                  <a:moveTo>
                    <a:pt x="804164" y="1106932"/>
                  </a:moveTo>
                  <a:lnTo>
                    <a:pt x="771537" y="1046480"/>
                  </a:lnTo>
                  <a:lnTo>
                    <a:pt x="736727" y="981964"/>
                  </a:lnTo>
                  <a:lnTo>
                    <a:pt x="703859" y="1028776"/>
                  </a:lnTo>
                  <a:lnTo>
                    <a:pt x="332359" y="767969"/>
                  </a:lnTo>
                  <a:lnTo>
                    <a:pt x="324993" y="778383"/>
                  </a:lnTo>
                  <a:lnTo>
                    <a:pt x="696569" y="1039164"/>
                  </a:lnTo>
                  <a:lnTo>
                    <a:pt x="663702" y="1085977"/>
                  </a:lnTo>
                  <a:lnTo>
                    <a:pt x="804164" y="1106932"/>
                  </a:lnTo>
                  <a:close/>
                </a:path>
                <a:path w="1544954" h="1107439">
                  <a:moveTo>
                    <a:pt x="1293368" y="590296"/>
                  </a:moveTo>
                  <a:lnTo>
                    <a:pt x="1280668" y="583946"/>
                  </a:lnTo>
                  <a:lnTo>
                    <a:pt x="1166368" y="526796"/>
                  </a:lnTo>
                  <a:lnTo>
                    <a:pt x="1166368" y="583946"/>
                  </a:lnTo>
                  <a:lnTo>
                    <a:pt x="383540" y="583946"/>
                  </a:lnTo>
                  <a:lnTo>
                    <a:pt x="383540" y="596646"/>
                  </a:lnTo>
                  <a:lnTo>
                    <a:pt x="1166368" y="596646"/>
                  </a:lnTo>
                  <a:lnTo>
                    <a:pt x="1166368" y="653796"/>
                  </a:lnTo>
                  <a:lnTo>
                    <a:pt x="1280668" y="596646"/>
                  </a:lnTo>
                  <a:lnTo>
                    <a:pt x="1293368" y="590296"/>
                  </a:lnTo>
                  <a:close/>
                </a:path>
                <a:path w="1544954" h="1107439">
                  <a:moveTo>
                    <a:pt x="1544828" y="297688"/>
                  </a:moveTo>
                  <a:lnTo>
                    <a:pt x="1515465" y="269240"/>
                  </a:lnTo>
                  <a:lnTo>
                    <a:pt x="1442847" y="198882"/>
                  </a:lnTo>
                  <a:lnTo>
                    <a:pt x="1425638" y="253352"/>
                  </a:lnTo>
                  <a:lnTo>
                    <a:pt x="664337" y="12700"/>
                  </a:lnTo>
                  <a:lnTo>
                    <a:pt x="660527" y="24892"/>
                  </a:lnTo>
                  <a:lnTo>
                    <a:pt x="1421828" y="265417"/>
                  </a:lnTo>
                  <a:lnTo>
                    <a:pt x="1404620" y="319913"/>
                  </a:lnTo>
                  <a:lnTo>
                    <a:pt x="1544828" y="2976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41" name="object 41"/>
          <p:cNvSpPr/>
          <p:nvPr/>
        </p:nvSpPr>
        <p:spPr>
          <a:xfrm>
            <a:off x="9472676" y="3329094"/>
            <a:ext cx="415713" cy="499533"/>
          </a:xfrm>
          <a:custGeom>
            <a:avLst/>
            <a:gdLst/>
            <a:ahLst/>
            <a:cxnLst/>
            <a:rect l="l" t="t" r="r" b="b"/>
            <a:pathLst>
              <a:path w="311784" h="374650">
                <a:moveTo>
                  <a:pt x="225464" y="280549"/>
                </a:moveTo>
                <a:lnTo>
                  <a:pt x="181356" y="316992"/>
                </a:lnTo>
                <a:lnTo>
                  <a:pt x="311276" y="374396"/>
                </a:lnTo>
                <a:lnTo>
                  <a:pt x="291821" y="290322"/>
                </a:lnTo>
                <a:lnTo>
                  <a:pt x="233552" y="290322"/>
                </a:lnTo>
                <a:lnTo>
                  <a:pt x="225464" y="280549"/>
                </a:lnTo>
                <a:close/>
              </a:path>
              <a:path w="311784" h="374650">
                <a:moveTo>
                  <a:pt x="235210" y="272497"/>
                </a:moveTo>
                <a:lnTo>
                  <a:pt x="225464" y="280549"/>
                </a:lnTo>
                <a:lnTo>
                  <a:pt x="233552" y="290322"/>
                </a:lnTo>
                <a:lnTo>
                  <a:pt x="243332" y="282321"/>
                </a:lnTo>
                <a:lnTo>
                  <a:pt x="235210" y="272497"/>
                </a:lnTo>
                <a:close/>
              </a:path>
              <a:path w="311784" h="374650">
                <a:moveTo>
                  <a:pt x="279273" y="236093"/>
                </a:moveTo>
                <a:lnTo>
                  <a:pt x="235210" y="272497"/>
                </a:lnTo>
                <a:lnTo>
                  <a:pt x="243332" y="282321"/>
                </a:lnTo>
                <a:lnTo>
                  <a:pt x="233552" y="290322"/>
                </a:lnTo>
                <a:lnTo>
                  <a:pt x="291821" y="290322"/>
                </a:lnTo>
                <a:lnTo>
                  <a:pt x="279273" y="236093"/>
                </a:lnTo>
                <a:close/>
              </a:path>
              <a:path w="311784" h="374650">
                <a:moveTo>
                  <a:pt x="9906" y="0"/>
                </a:moveTo>
                <a:lnTo>
                  <a:pt x="0" y="8128"/>
                </a:lnTo>
                <a:lnTo>
                  <a:pt x="225464" y="280549"/>
                </a:lnTo>
                <a:lnTo>
                  <a:pt x="235210" y="272497"/>
                </a:lnTo>
                <a:lnTo>
                  <a:pt x="990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2" name="object 42"/>
          <p:cNvSpPr/>
          <p:nvPr/>
        </p:nvSpPr>
        <p:spPr>
          <a:xfrm>
            <a:off x="8541681" y="3297936"/>
            <a:ext cx="742527" cy="537633"/>
          </a:xfrm>
          <a:custGeom>
            <a:avLst/>
            <a:gdLst/>
            <a:ahLst/>
            <a:cxnLst/>
            <a:rect l="l" t="t" r="r" b="b"/>
            <a:pathLst>
              <a:path w="556895" h="403225">
                <a:moveTo>
                  <a:pt x="450061" y="69009"/>
                </a:moveTo>
                <a:lnTo>
                  <a:pt x="0" y="392556"/>
                </a:lnTo>
                <a:lnTo>
                  <a:pt x="7365" y="402971"/>
                </a:lnTo>
                <a:lnTo>
                  <a:pt x="457449" y="79283"/>
                </a:lnTo>
                <a:lnTo>
                  <a:pt x="450061" y="69009"/>
                </a:lnTo>
                <a:close/>
              </a:path>
              <a:path w="556895" h="403225">
                <a:moveTo>
                  <a:pt x="524542" y="61595"/>
                </a:moveTo>
                <a:lnTo>
                  <a:pt x="460374" y="61595"/>
                </a:lnTo>
                <a:lnTo>
                  <a:pt x="467740" y="71881"/>
                </a:lnTo>
                <a:lnTo>
                  <a:pt x="457449" y="79283"/>
                </a:lnTo>
                <a:lnTo>
                  <a:pt x="490855" y="125730"/>
                </a:lnTo>
                <a:lnTo>
                  <a:pt x="524542" y="61595"/>
                </a:lnTo>
                <a:close/>
              </a:path>
              <a:path w="556895" h="403225">
                <a:moveTo>
                  <a:pt x="460374" y="61595"/>
                </a:moveTo>
                <a:lnTo>
                  <a:pt x="450061" y="69009"/>
                </a:lnTo>
                <a:lnTo>
                  <a:pt x="457449" y="79283"/>
                </a:lnTo>
                <a:lnTo>
                  <a:pt x="467740" y="71881"/>
                </a:lnTo>
                <a:lnTo>
                  <a:pt x="460374" y="61595"/>
                </a:lnTo>
                <a:close/>
              </a:path>
              <a:path w="556895" h="403225">
                <a:moveTo>
                  <a:pt x="556894" y="0"/>
                </a:moveTo>
                <a:lnTo>
                  <a:pt x="416687" y="22606"/>
                </a:lnTo>
                <a:lnTo>
                  <a:pt x="450061" y="69009"/>
                </a:lnTo>
                <a:lnTo>
                  <a:pt x="460374" y="61595"/>
                </a:lnTo>
                <a:lnTo>
                  <a:pt x="524542" y="61595"/>
                </a:lnTo>
                <a:lnTo>
                  <a:pt x="55689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3" name="object 43"/>
          <p:cNvSpPr/>
          <p:nvPr/>
        </p:nvSpPr>
        <p:spPr>
          <a:xfrm>
            <a:off x="7004980" y="2328672"/>
            <a:ext cx="585045" cy="482600"/>
          </a:xfrm>
          <a:custGeom>
            <a:avLst/>
            <a:gdLst/>
            <a:ahLst/>
            <a:cxnLst/>
            <a:rect l="l" t="t" r="r" b="b"/>
            <a:pathLst>
              <a:path w="438785" h="361950">
                <a:moveTo>
                  <a:pt x="336203" y="75668"/>
                </a:moveTo>
                <a:lnTo>
                  <a:pt x="0" y="351663"/>
                </a:lnTo>
                <a:lnTo>
                  <a:pt x="8127" y="361569"/>
                </a:lnTo>
                <a:lnTo>
                  <a:pt x="344279" y="85515"/>
                </a:lnTo>
                <a:lnTo>
                  <a:pt x="336203" y="75668"/>
                </a:lnTo>
                <a:close/>
              </a:path>
              <a:path w="438785" h="361950">
                <a:moveTo>
                  <a:pt x="408228" y="67563"/>
                </a:moveTo>
                <a:lnTo>
                  <a:pt x="346075" y="67563"/>
                </a:lnTo>
                <a:lnTo>
                  <a:pt x="354075" y="77470"/>
                </a:lnTo>
                <a:lnTo>
                  <a:pt x="344279" y="85515"/>
                </a:lnTo>
                <a:lnTo>
                  <a:pt x="380491" y="129667"/>
                </a:lnTo>
                <a:lnTo>
                  <a:pt x="408228" y="67563"/>
                </a:lnTo>
                <a:close/>
              </a:path>
              <a:path w="438785" h="361950">
                <a:moveTo>
                  <a:pt x="346075" y="67563"/>
                </a:moveTo>
                <a:lnTo>
                  <a:pt x="336203" y="75668"/>
                </a:lnTo>
                <a:lnTo>
                  <a:pt x="344279" y="85515"/>
                </a:lnTo>
                <a:lnTo>
                  <a:pt x="354075" y="77470"/>
                </a:lnTo>
                <a:lnTo>
                  <a:pt x="346075" y="67563"/>
                </a:lnTo>
                <a:close/>
              </a:path>
              <a:path w="438785" h="361950">
                <a:moveTo>
                  <a:pt x="438403" y="0"/>
                </a:moveTo>
                <a:lnTo>
                  <a:pt x="299974" y="31496"/>
                </a:lnTo>
                <a:lnTo>
                  <a:pt x="336203" y="75668"/>
                </a:lnTo>
                <a:lnTo>
                  <a:pt x="346075" y="67563"/>
                </a:lnTo>
                <a:lnTo>
                  <a:pt x="408228" y="67563"/>
                </a:lnTo>
                <a:lnTo>
                  <a:pt x="4384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4" name="object 44"/>
          <p:cNvSpPr/>
          <p:nvPr/>
        </p:nvSpPr>
        <p:spPr>
          <a:xfrm>
            <a:off x="7680961" y="2823126"/>
            <a:ext cx="1213273" cy="169333"/>
          </a:xfrm>
          <a:custGeom>
            <a:avLst/>
            <a:gdLst/>
            <a:ahLst/>
            <a:cxnLst/>
            <a:rect l="l" t="t" r="r" b="b"/>
            <a:pathLst>
              <a:path w="909954" h="127000">
                <a:moveTo>
                  <a:pt x="127000" y="0"/>
                </a:moveTo>
                <a:lnTo>
                  <a:pt x="0" y="63500"/>
                </a:lnTo>
                <a:lnTo>
                  <a:pt x="127000" y="127000"/>
                </a:lnTo>
                <a:lnTo>
                  <a:pt x="127000" y="69850"/>
                </a:lnTo>
                <a:lnTo>
                  <a:pt x="114300" y="69850"/>
                </a:lnTo>
                <a:lnTo>
                  <a:pt x="114300" y="57150"/>
                </a:lnTo>
                <a:lnTo>
                  <a:pt x="127000" y="57150"/>
                </a:lnTo>
                <a:lnTo>
                  <a:pt x="127000" y="0"/>
                </a:lnTo>
                <a:close/>
              </a:path>
              <a:path w="909954" h="127000">
                <a:moveTo>
                  <a:pt x="127000" y="57150"/>
                </a:moveTo>
                <a:lnTo>
                  <a:pt x="114300" y="57150"/>
                </a:lnTo>
                <a:lnTo>
                  <a:pt x="114300" y="69850"/>
                </a:lnTo>
                <a:lnTo>
                  <a:pt x="127000" y="69850"/>
                </a:lnTo>
                <a:lnTo>
                  <a:pt x="127000" y="57150"/>
                </a:lnTo>
                <a:close/>
              </a:path>
              <a:path w="909954" h="127000">
                <a:moveTo>
                  <a:pt x="909827" y="57150"/>
                </a:moveTo>
                <a:lnTo>
                  <a:pt x="127000" y="57150"/>
                </a:lnTo>
                <a:lnTo>
                  <a:pt x="127000" y="69850"/>
                </a:lnTo>
                <a:lnTo>
                  <a:pt x="909827" y="69850"/>
                </a:lnTo>
                <a:lnTo>
                  <a:pt x="909827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5" name="object 45"/>
          <p:cNvSpPr/>
          <p:nvPr/>
        </p:nvSpPr>
        <p:spPr>
          <a:xfrm>
            <a:off x="8260079" y="2224702"/>
            <a:ext cx="1222587" cy="532553"/>
          </a:xfrm>
          <a:custGeom>
            <a:avLst/>
            <a:gdLst/>
            <a:ahLst/>
            <a:cxnLst/>
            <a:rect l="l" t="t" r="r" b="b"/>
            <a:pathLst>
              <a:path w="916940" h="399414">
                <a:moveTo>
                  <a:pt x="119561" y="52683"/>
                </a:moveTo>
                <a:lnTo>
                  <a:pt x="114594" y="64485"/>
                </a:lnTo>
                <a:lnTo>
                  <a:pt x="911987" y="399288"/>
                </a:lnTo>
                <a:lnTo>
                  <a:pt x="916813" y="387604"/>
                </a:lnTo>
                <a:lnTo>
                  <a:pt x="119561" y="52683"/>
                </a:lnTo>
                <a:close/>
              </a:path>
              <a:path w="916940" h="399414">
                <a:moveTo>
                  <a:pt x="141731" y="0"/>
                </a:moveTo>
                <a:lnTo>
                  <a:pt x="0" y="9398"/>
                </a:lnTo>
                <a:lnTo>
                  <a:pt x="92455" y="117094"/>
                </a:lnTo>
                <a:lnTo>
                  <a:pt x="114594" y="64485"/>
                </a:lnTo>
                <a:lnTo>
                  <a:pt x="102869" y="59562"/>
                </a:lnTo>
                <a:lnTo>
                  <a:pt x="107823" y="47751"/>
                </a:lnTo>
                <a:lnTo>
                  <a:pt x="121636" y="47751"/>
                </a:lnTo>
                <a:lnTo>
                  <a:pt x="141731" y="0"/>
                </a:lnTo>
                <a:close/>
              </a:path>
              <a:path w="916940" h="399414">
                <a:moveTo>
                  <a:pt x="107823" y="47751"/>
                </a:moveTo>
                <a:lnTo>
                  <a:pt x="102869" y="59562"/>
                </a:lnTo>
                <a:lnTo>
                  <a:pt x="114594" y="64485"/>
                </a:lnTo>
                <a:lnTo>
                  <a:pt x="119561" y="52683"/>
                </a:lnTo>
                <a:lnTo>
                  <a:pt x="107823" y="47751"/>
                </a:lnTo>
                <a:close/>
              </a:path>
              <a:path w="916940" h="399414">
                <a:moveTo>
                  <a:pt x="121636" y="47751"/>
                </a:moveTo>
                <a:lnTo>
                  <a:pt x="107823" y="47751"/>
                </a:lnTo>
                <a:lnTo>
                  <a:pt x="119561" y="52683"/>
                </a:lnTo>
                <a:lnTo>
                  <a:pt x="121636" y="477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grpSp>
        <p:nvGrpSpPr>
          <p:cNvPr id="46" name="object 46"/>
          <p:cNvGrpSpPr/>
          <p:nvPr/>
        </p:nvGrpSpPr>
        <p:grpSpPr>
          <a:xfrm>
            <a:off x="6418104" y="1950719"/>
            <a:ext cx="1000760" cy="2175933"/>
            <a:chOff x="4813578" y="1463039"/>
            <a:chExt cx="750570" cy="1631950"/>
          </a:xfrm>
        </p:grpSpPr>
        <p:sp>
          <p:nvSpPr>
            <p:cNvPr id="47" name="object 47"/>
            <p:cNvSpPr/>
            <p:nvPr/>
          </p:nvSpPr>
          <p:spPr>
            <a:xfrm>
              <a:off x="5235448" y="2510027"/>
              <a:ext cx="127000" cy="347980"/>
            </a:xfrm>
            <a:custGeom>
              <a:avLst/>
              <a:gdLst/>
              <a:ahLst/>
              <a:cxnLst/>
              <a:rect l="l" t="t" r="r" b="b"/>
              <a:pathLst>
                <a:path w="127000" h="347980">
                  <a:moveTo>
                    <a:pt x="69850" y="114300"/>
                  </a:moveTo>
                  <a:lnTo>
                    <a:pt x="57150" y="114300"/>
                  </a:lnTo>
                  <a:lnTo>
                    <a:pt x="57150" y="347472"/>
                  </a:lnTo>
                  <a:lnTo>
                    <a:pt x="69850" y="347472"/>
                  </a:lnTo>
                  <a:lnTo>
                    <a:pt x="69850" y="114300"/>
                  </a:lnTo>
                  <a:close/>
                </a:path>
                <a:path w="127000" h="347980">
                  <a:moveTo>
                    <a:pt x="63500" y="0"/>
                  </a:moveTo>
                  <a:lnTo>
                    <a:pt x="0" y="127000"/>
                  </a:lnTo>
                  <a:lnTo>
                    <a:pt x="57150" y="127000"/>
                  </a:lnTo>
                  <a:lnTo>
                    <a:pt x="57150" y="114300"/>
                  </a:lnTo>
                  <a:lnTo>
                    <a:pt x="120650" y="114300"/>
                  </a:lnTo>
                  <a:lnTo>
                    <a:pt x="63500" y="0"/>
                  </a:lnTo>
                  <a:close/>
                </a:path>
                <a:path w="127000" h="347980">
                  <a:moveTo>
                    <a:pt x="120650" y="114300"/>
                  </a:moveTo>
                  <a:lnTo>
                    <a:pt x="69850" y="114300"/>
                  </a:lnTo>
                  <a:lnTo>
                    <a:pt x="69850" y="127000"/>
                  </a:lnTo>
                  <a:lnTo>
                    <a:pt x="127000" y="127000"/>
                  </a:lnTo>
                  <a:lnTo>
                    <a:pt x="120650" y="1143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8" name="object 48"/>
            <p:cNvSpPr/>
            <p:nvPr/>
          </p:nvSpPr>
          <p:spPr>
            <a:xfrm>
              <a:off x="4818150" y="1467611"/>
              <a:ext cx="741680" cy="1623060"/>
            </a:xfrm>
            <a:custGeom>
              <a:avLst/>
              <a:gdLst/>
              <a:ahLst/>
              <a:cxnLst/>
              <a:rect l="l" t="t" r="r" b="b"/>
              <a:pathLst>
                <a:path w="741679" h="1623060">
                  <a:moveTo>
                    <a:pt x="267691" y="1622806"/>
                  </a:moveTo>
                  <a:lnTo>
                    <a:pt x="226652" y="1588254"/>
                  </a:lnTo>
                  <a:lnTo>
                    <a:pt x="192675" y="1549741"/>
                  </a:lnTo>
                  <a:lnTo>
                    <a:pt x="164468" y="1507955"/>
                  </a:lnTo>
                  <a:lnTo>
                    <a:pt x="140739" y="1463582"/>
                  </a:lnTo>
                  <a:lnTo>
                    <a:pt x="120196" y="1417309"/>
                  </a:lnTo>
                  <a:lnTo>
                    <a:pt x="101547" y="1369822"/>
                  </a:lnTo>
                  <a:lnTo>
                    <a:pt x="83500" y="1321808"/>
                  </a:lnTo>
                  <a:lnTo>
                    <a:pt x="64763" y="1273954"/>
                  </a:lnTo>
                  <a:lnTo>
                    <a:pt x="44044" y="1226946"/>
                  </a:lnTo>
                  <a:lnTo>
                    <a:pt x="25787" y="1180886"/>
                  </a:lnTo>
                  <a:lnTo>
                    <a:pt x="13173" y="1133070"/>
                  </a:lnTo>
                  <a:lnTo>
                    <a:pt x="5282" y="1083884"/>
                  </a:lnTo>
                  <a:lnTo>
                    <a:pt x="1197" y="1033716"/>
                  </a:lnTo>
                  <a:lnTo>
                    <a:pt x="0" y="982953"/>
                  </a:lnTo>
                  <a:lnTo>
                    <a:pt x="771" y="931981"/>
                  </a:lnTo>
                  <a:lnTo>
                    <a:pt x="2593" y="881188"/>
                  </a:lnTo>
                  <a:lnTo>
                    <a:pt x="4547" y="830961"/>
                  </a:lnTo>
                  <a:lnTo>
                    <a:pt x="7639" y="780718"/>
                  </a:lnTo>
                  <a:lnTo>
                    <a:pt x="13165" y="730817"/>
                  </a:lnTo>
                  <a:lnTo>
                    <a:pt x="20640" y="681196"/>
                  </a:lnTo>
                  <a:lnTo>
                    <a:pt x="29582" y="631793"/>
                  </a:lnTo>
                  <a:lnTo>
                    <a:pt x="39505" y="582544"/>
                  </a:lnTo>
                  <a:lnTo>
                    <a:pt x="49928" y="533388"/>
                  </a:lnTo>
                  <a:lnTo>
                    <a:pt x="60365" y="484261"/>
                  </a:lnTo>
                  <a:lnTo>
                    <a:pt x="70333" y="435101"/>
                  </a:lnTo>
                  <a:lnTo>
                    <a:pt x="80999" y="388071"/>
                  </a:lnTo>
                  <a:lnTo>
                    <a:pt x="94984" y="340748"/>
                  </a:lnTo>
                  <a:lnTo>
                    <a:pt x="112699" y="294216"/>
                  </a:lnTo>
                  <a:lnTo>
                    <a:pt x="134557" y="249556"/>
                  </a:lnTo>
                  <a:lnTo>
                    <a:pt x="160969" y="207850"/>
                  </a:lnTo>
                  <a:lnTo>
                    <a:pt x="192347" y="170180"/>
                  </a:lnTo>
                  <a:lnTo>
                    <a:pt x="229103" y="137627"/>
                  </a:lnTo>
                  <a:lnTo>
                    <a:pt x="271649" y="111273"/>
                  </a:lnTo>
                  <a:lnTo>
                    <a:pt x="320396" y="92201"/>
                  </a:lnTo>
                  <a:lnTo>
                    <a:pt x="368792" y="78378"/>
                  </a:lnTo>
                  <a:lnTo>
                    <a:pt x="417408" y="65031"/>
                  </a:lnTo>
                  <a:lnTo>
                    <a:pt x="466262" y="52482"/>
                  </a:lnTo>
                  <a:lnTo>
                    <a:pt x="515373" y="41052"/>
                  </a:lnTo>
                  <a:lnTo>
                    <a:pt x="564757" y="31063"/>
                  </a:lnTo>
                  <a:lnTo>
                    <a:pt x="614433" y="22836"/>
                  </a:lnTo>
                  <a:lnTo>
                    <a:pt x="664418" y="16692"/>
                  </a:lnTo>
                  <a:lnTo>
                    <a:pt x="714731" y="12953"/>
                  </a:lnTo>
                  <a:lnTo>
                    <a:pt x="741147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49" name="object 49"/>
          <p:cNvGrpSpPr/>
          <p:nvPr/>
        </p:nvGrpSpPr>
        <p:grpSpPr>
          <a:xfrm>
            <a:off x="8253984" y="1895233"/>
            <a:ext cx="2225885" cy="2268219"/>
            <a:chOff x="6190488" y="1421425"/>
            <a:chExt cx="1669414" cy="1701164"/>
          </a:xfrm>
        </p:grpSpPr>
        <p:sp>
          <p:nvSpPr>
            <p:cNvPr id="50" name="object 50"/>
            <p:cNvSpPr/>
            <p:nvPr/>
          </p:nvSpPr>
          <p:spPr>
            <a:xfrm>
              <a:off x="6195060" y="1425997"/>
              <a:ext cx="1659889" cy="1692275"/>
            </a:xfrm>
            <a:custGeom>
              <a:avLst/>
              <a:gdLst/>
              <a:ahLst/>
              <a:cxnLst/>
              <a:rect l="l" t="t" r="r" b="b"/>
              <a:pathLst>
                <a:path w="1659890" h="1692275">
                  <a:moveTo>
                    <a:pt x="1587626" y="1691852"/>
                  </a:moveTo>
                  <a:lnTo>
                    <a:pt x="1615166" y="1651839"/>
                  </a:lnTo>
                  <a:lnTo>
                    <a:pt x="1632993" y="1610146"/>
                  </a:lnTo>
                  <a:lnTo>
                    <a:pt x="1643107" y="1567067"/>
                  </a:lnTo>
                  <a:lnTo>
                    <a:pt x="1647507" y="1522897"/>
                  </a:lnTo>
                  <a:lnTo>
                    <a:pt x="1648194" y="1477930"/>
                  </a:lnTo>
                  <a:lnTo>
                    <a:pt x="1647166" y="1432461"/>
                  </a:lnTo>
                  <a:lnTo>
                    <a:pt x="1646424" y="1386786"/>
                  </a:lnTo>
                  <a:lnTo>
                    <a:pt x="1647966" y="1341198"/>
                  </a:lnTo>
                  <a:lnTo>
                    <a:pt x="1653793" y="1295993"/>
                  </a:lnTo>
                  <a:lnTo>
                    <a:pt x="1659775" y="1244796"/>
                  </a:lnTo>
                  <a:lnTo>
                    <a:pt x="1658661" y="1194289"/>
                  </a:lnTo>
                  <a:lnTo>
                    <a:pt x="1651729" y="1144366"/>
                  </a:lnTo>
                  <a:lnTo>
                    <a:pt x="1640252" y="1094920"/>
                  </a:lnTo>
                  <a:lnTo>
                    <a:pt x="1625507" y="1045842"/>
                  </a:lnTo>
                  <a:lnTo>
                    <a:pt x="1608770" y="997027"/>
                  </a:lnTo>
                  <a:lnTo>
                    <a:pt x="1591315" y="948366"/>
                  </a:lnTo>
                  <a:lnTo>
                    <a:pt x="1574418" y="899753"/>
                  </a:lnTo>
                  <a:lnTo>
                    <a:pt x="1559216" y="852147"/>
                  </a:lnTo>
                  <a:lnTo>
                    <a:pt x="1544812" y="805035"/>
                  </a:lnTo>
                  <a:lnTo>
                    <a:pt x="1530133" y="758590"/>
                  </a:lnTo>
                  <a:lnTo>
                    <a:pt x="1514106" y="712985"/>
                  </a:lnTo>
                  <a:lnTo>
                    <a:pt x="1495657" y="668394"/>
                  </a:lnTo>
                  <a:lnTo>
                    <a:pt x="1473712" y="624990"/>
                  </a:lnTo>
                  <a:lnTo>
                    <a:pt x="1447199" y="582948"/>
                  </a:lnTo>
                  <a:lnTo>
                    <a:pt x="1415043" y="542440"/>
                  </a:lnTo>
                  <a:lnTo>
                    <a:pt x="1376171" y="503640"/>
                  </a:lnTo>
                  <a:lnTo>
                    <a:pt x="1339738" y="468629"/>
                  </a:lnTo>
                  <a:lnTo>
                    <a:pt x="1305150" y="431035"/>
                  </a:lnTo>
                  <a:lnTo>
                    <a:pt x="1271662" y="391885"/>
                  </a:lnTo>
                  <a:lnTo>
                    <a:pt x="1238530" y="352207"/>
                  </a:lnTo>
                  <a:lnTo>
                    <a:pt x="1205007" y="313028"/>
                  </a:lnTo>
                  <a:lnTo>
                    <a:pt x="1170349" y="275378"/>
                  </a:lnTo>
                  <a:lnTo>
                    <a:pt x="1133811" y="240283"/>
                  </a:lnTo>
                  <a:lnTo>
                    <a:pt x="1094646" y="208772"/>
                  </a:lnTo>
                  <a:lnTo>
                    <a:pt x="1052110" y="181873"/>
                  </a:lnTo>
                  <a:lnTo>
                    <a:pt x="1005459" y="160613"/>
                  </a:lnTo>
                  <a:lnTo>
                    <a:pt x="956740" y="141363"/>
                  </a:lnTo>
                  <a:lnTo>
                    <a:pt x="908389" y="120723"/>
                  </a:lnTo>
                  <a:lnTo>
                    <a:pt x="860094" y="99779"/>
                  </a:lnTo>
                  <a:lnTo>
                    <a:pt x="811545" y="79618"/>
                  </a:lnTo>
                  <a:lnTo>
                    <a:pt x="762431" y="61327"/>
                  </a:lnTo>
                  <a:lnTo>
                    <a:pt x="712440" y="45991"/>
                  </a:lnTo>
                  <a:lnTo>
                    <a:pt x="661261" y="34698"/>
                  </a:lnTo>
                  <a:lnTo>
                    <a:pt x="608584" y="28533"/>
                  </a:lnTo>
                  <a:lnTo>
                    <a:pt x="558917" y="24695"/>
                  </a:lnTo>
                  <a:lnTo>
                    <a:pt x="509333" y="19569"/>
                  </a:lnTo>
                  <a:lnTo>
                    <a:pt x="459797" y="13881"/>
                  </a:lnTo>
                  <a:lnTo>
                    <a:pt x="410273" y="8355"/>
                  </a:lnTo>
                  <a:lnTo>
                    <a:pt x="360725" y="3717"/>
                  </a:lnTo>
                  <a:lnTo>
                    <a:pt x="311118" y="690"/>
                  </a:lnTo>
                  <a:lnTo>
                    <a:pt x="261415" y="0"/>
                  </a:lnTo>
                  <a:lnTo>
                    <a:pt x="211581" y="2371"/>
                  </a:lnTo>
                  <a:lnTo>
                    <a:pt x="79120" y="15579"/>
                  </a:lnTo>
                  <a:lnTo>
                    <a:pt x="0" y="28533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1" name="object 51"/>
            <p:cNvSpPr/>
            <p:nvPr/>
          </p:nvSpPr>
          <p:spPr>
            <a:xfrm>
              <a:off x="7255763" y="2473452"/>
              <a:ext cx="347980" cy="411480"/>
            </a:xfrm>
            <a:custGeom>
              <a:avLst/>
              <a:gdLst/>
              <a:ahLst/>
              <a:cxnLst/>
              <a:rect l="l" t="t" r="r" b="b"/>
              <a:pathLst>
                <a:path w="347979" h="411480">
                  <a:moveTo>
                    <a:pt x="86672" y="93027"/>
                  </a:moveTo>
                  <a:lnTo>
                    <a:pt x="77024" y="101160"/>
                  </a:lnTo>
                  <a:lnTo>
                    <a:pt x="338074" y="410972"/>
                  </a:lnTo>
                  <a:lnTo>
                    <a:pt x="347725" y="402844"/>
                  </a:lnTo>
                  <a:lnTo>
                    <a:pt x="86672" y="93027"/>
                  </a:lnTo>
                  <a:close/>
                </a:path>
                <a:path w="347979" h="411480">
                  <a:moveTo>
                    <a:pt x="0" y="0"/>
                  </a:moveTo>
                  <a:lnTo>
                    <a:pt x="33274" y="138049"/>
                  </a:lnTo>
                  <a:lnTo>
                    <a:pt x="77024" y="101160"/>
                  </a:lnTo>
                  <a:lnTo>
                    <a:pt x="68833" y="91440"/>
                  </a:lnTo>
                  <a:lnTo>
                    <a:pt x="78485" y="83312"/>
                  </a:lnTo>
                  <a:lnTo>
                    <a:pt x="98194" y="83312"/>
                  </a:lnTo>
                  <a:lnTo>
                    <a:pt x="130428" y="56134"/>
                  </a:lnTo>
                  <a:lnTo>
                    <a:pt x="0" y="0"/>
                  </a:lnTo>
                  <a:close/>
                </a:path>
                <a:path w="347979" h="411480">
                  <a:moveTo>
                    <a:pt x="78485" y="83312"/>
                  </a:moveTo>
                  <a:lnTo>
                    <a:pt x="68833" y="91440"/>
                  </a:lnTo>
                  <a:lnTo>
                    <a:pt x="77024" y="101160"/>
                  </a:lnTo>
                  <a:lnTo>
                    <a:pt x="86672" y="93027"/>
                  </a:lnTo>
                  <a:lnTo>
                    <a:pt x="78485" y="83312"/>
                  </a:lnTo>
                  <a:close/>
                </a:path>
                <a:path w="347979" h="411480">
                  <a:moveTo>
                    <a:pt x="98194" y="83312"/>
                  </a:moveTo>
                  <a:lnTo>
                    <a:pt x="78485" y="83312"/>
                  </a:lnTo>
                  <a:lnTo>
                    <a:pt x="86672" y="93027"/>
                  </a:lnTo>
                  <a:lnTo>
                    <a:pt x="98194" y="833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pic>
        <p:nvPicPr>
          <p:cNvPr id="52" name="object 5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29347" y="1909571"/>
            <a:ext cx="183387" cy="165439"/>
          </a:xfrm>
          <a:prstGeom prst="rect">
            <a:avLst/>
          </a:prstGeom>
        </p:spPr>
      </p:pic>
      <p:grpSp>
        <p:nvGrpSpPr>
          <p:cNvPr id="53" name="object 53"/>
          <p:cNvGrpSpPr/>
          <p:nvPr/>
        </p:nvGrpSpPr>
        <p:grpSpPr>
          <a:xfrm>
            <a:off x="5994365" y="1217723"/>
            <a:ext cx="2462107" cy="3843867"/>
            <a:chOff x="4495774" y="913292"/>
            <a:chExt cx="1846580" cy="2882900"/>
          </a:xfrm>
        </p:grpSpPr>
        <p:pic>
          <p:nvPicPr>
            <p:cNvPr id="54" name="object 5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08776" y="1363979"/>
              <a:ext cx="133223" cy="126237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4500346" y="917864"/>
              <a:ext cx="1827530" cy="2874010"/>
            </a:xfrm>
            <a:custGeom>
              <a:avLst/>
              <a:gdLst/>
              <a:ahLst/>
              <a:cxnLst/>
              <a:rect l="l" t="t" r="r" b="b"/>
              <a:pathLst>
                <a:path w="1827529" h="2874010">
                  <a:moveTo>
                    <a:pt x="1827047" y="2374610"/>
                  </a:moveTo>
                  <a:lnTo>
                    <a:pt x="1812914" y="2422566"/>
                  </a:lnTo>
                  <a:lnTo>
                    <a:pt x="1791868" y="2464593"/>
                  </a:lnTo>
                  <a:lnTo>
                    <a:pt x="1765075" y="2501713"/>
                  </a:lnTo>
                  <a:lnTo>
                    <a:pt x="1733700" y="2534950"/>
                  </a:lnTo>
                  <a:lnTo>
                    <a:pt x="1698911" y="2565327"/>
                  </a:lnTo>
                  <a:lnTo>
                    <a:pt x="1661873" y="2593867"/>
                  </a:lnTo>
                  <a:lnTo>
                    <a:pt x="1623752" y="2621592"/>
                  </a:lnTo>
                  <a:lnTo>
                    <a:pt x="1585714" y="2649527"/>
                  </a:lnTo>
                  <a:lnTo>
                    <a:pt x="1548927" y="2678693"/>
                  </a:lnTo>
                  <a:lnTo>
                    <a:pt x="1514555" y="2710115"/>
                  </a:lnTo>
                  <a:lnTo>
                    <a:pt x="1483766" y="2744815"/>
                  </a:lnTo>
                  <a:lnTo>
                    <a:pt x="1449732" y="2781780"/>
                  </a:lnTo>
                  <a:lnTo>
                    <a:pt x="1411264" y="2811908"/>
                  </a:lnTo>
                  <a:lnTo>
                    <a:pt x="1369193" y="2835587"/>
                  </a:lnTo>
                  <a:lnTo>
                    <a:pt x="1324353" y="2853204"/>
                  </a:lnTo>
                  <a:lnTo>
                    <a:pt x="1277578" y="2865148"/>
                  </a:lnTo>
                  <a:lnTo>
                    <a:pt x="1229700" y="2871805"/>
                  </a:lnTo>
                  <a:lnTo>
                    <a:pt x="1181552" y="2873565"/>
                  </a:lnTo>
                  <a:lnTo>
                    <a:pt x="1133968" y="2870814"/>
                  </a:lnTo>
                  <a:lnTo>
                    <a:pt x="1087780" y="2863941"/>
                  </a:lnTo>
                  <a:lnTo>
                    <a:pt x="1036870" y="2854169"/>
                  </a:lnTo>
                  <a:lnTo>
                    <a:pt x="985843" y="2844414"/>
                  </a:lnTo>
                  <a:lnTo>
                    <a:pt x="934858" y="2834298"/>
                  </a:lnTo>
                  <a:lnTo>
                    <a:pt x="884070" y="2823442"/>
                  </a:lnTo>
                  <a:lnTo>
                    <a:pt x="833636" y="2811467"/>
                  </a:lnTo>
                  <a:lnTo>
                    <a:pt x="783714" y="2797995"/>
                  </a:lnTo>
                  <a:lnTo>
                    <a:pt x="734459" y="2782648"/>
                  </a:lnTo>
                  <a:lnTo>
                    <a:pt x="686029" y="2765047"/>
                  </a:lnTo>
                  <a:lnTo>
                    <a:pt x="638581" y="2744815"/>
                  </a:lnTo>
                  <a:lnTo>
                    <a:pt x="594725" y="2724959"/>
                  </a:lnTo>
                  <a:lnTo>
                    <a:pt x="550255" y="2704746"/>
                  </a:lnTo>
                  <a:lnTo>
                    <a:pt x="505976" y="2683431"/>
                  </a:lnTo>
                  <a:lnTo>
                    <a:pt x="462691" y="2660269"/>
                  </a:lnTo>
                  <a:lnTo>
                    <a:pt x="421204" y="2634515"/>
                  </a:lnTo>
                  <a:lnTo>
                    <a:pt x="382320" y="2605424"/>
                  </a:lnTo>
                  <a:lnTo>
                    <a:pt x="346842" y="2572249"/>
                  </a:lnTo>
                  <a:lnTo>
                    <a:pt x="315574" y="2534247"/>
                  </a:lnTo>
                  <a:lnTo>
                    <a:pt x="289320" y="2490671"/>
                  </a:lnTo>
                  <a:lnTo>
                    <a:pt x="268884" y="2440777"/>
                  </a:lnTo>
                  <a:lnTo>
                    <a:pt x="252133" y="2398861"/>
                  </a:lnTo>
                  <a:lnTo>
                    <a:pt x="230705" y="2359554"/>
                  </a:lnTo>
                  <a:lnTo>
                    <a:pt x="205755" y="2322215"/>
                  </a:lnTo>
                  <a:lnTo>
                    <a:pt x="178438" y="2286204"/>
                  </a:lnTo>
                  <a:lnTo>
                    <a:pt x="149908" y="2250879"/>
                  </a:lnTo>
                  <a:lnTo>
                    <a:pt x="121321" y="2215601"/>
                  </a:lnTo>
                  <a:lnTo>
                    <a:pt x="93830" y="2179729"/>
                  </a:lnTo>
                  <a:lnTo>
                    <a:pt x="68591" y="2142622"/>
                  </a:lnTo>
                  <a:lnTo>
                    <a:pt x="46759" y="2103640"/>
                  </a:lnTo>
                  <a:lnTo>
                    <a:pt x="29487" y="2062141"/>
                  </a:lnTo>
                  <a:lnTo>
                    <a:pt x="17932" y="2017486"/>
                  </a:lnTo>
                  <a:lnTo>
                    <a:pt x="10562" y="1966497"/>
                  </a:lnTo>
                  <a:lnTo>
                    <a:pt x="6049" y="1915374"/>
                  </a:lnTo>
                  <a:lnTo>
                    <a:pt x="3787" y="1864150"/>
                  </a:lnTo>
                  <a:lnTo>
                    <a:pt x="3168" y="1812857"/>
                  </a:lnTo>
                  <a:lnTo>
                    <a:pt x="3585" y="1761529"/>
                  </a:lnTo>
                  <a:lnTo>
                    <a:pt x="4430" y="1710197"/>
                  </a:lnTo>
                  <a:lnTo>
                    <a:pt x="5097" y="1658896"/>
                  </a:lnTo>
                  <a:lnTo>
                    <a:pt x="4978" y="1607657"/>
                  </a:lnTo>
                  <a:lnTo>
                    <a:pt x="3946" y="1558011"/>
                  </a:lnTo>
                  <a:lnTo>
                    <a:pt x="2656" y="1508337"/>
                  </a:lnTo>
                  <a:lnTo>
                    <a:pt x="1384" y="1458654"/>
                  </a:lnTo>
                  <a:lnTo>
                    <a:pt x="406" y="1408981"/>
                  </a:lnTo>
                  <a:lnTo>
                    <a:pt x="0" y="1359338"/>
                  </a:lnTo>
                  <a:lnTo>
                    <a:pt x="442" y="1309745"/>
                  </a:lnTo>
                  <a:lnTo>
                    <a:pt x="2009" y="1260219"/>
                  </a:lnTo>
                  <a:lnTo>
                    <a:pt x="4978" y="1210782"/>
                  </a:lnTo>
                  <a:lnTo>
                    <a:pt x="8940" y="1158954"/>
                  </a:lnTo>
                  <a:lnTo>
                    <a:pt x="13221" y="1107223"/>
                  </a:lnTo>
                  <a:lnTo>
                    <a:pt x="18270" y="1055626"/>
                  </a:lnTo>
                  <a:lnTo>
                    <a:pt x="24536" y="1004200"/>
                  </a:lnTo>
                  <a:lnTo>
                    <a:pt x="32469" y="952983"/>
                  </a:lnTo>
                  <a:lnTo>
                    <a:pt x="42518" y="902011"/>
                  </a:lnTo>
                  <a:lnTo>
                    <a:pt x="55133" y="851322"/>
                  </a:lnTo>
                  <a:lnTo>
                    <a:pt x="70764" y="800953"/>
                  </a:lnTo>
                  <a:lnTo>
                    <a:pt x="87049" y="753182"/>
                  </a:lnTo>
                  <a:lnTo>
                    <a:pt x="103369" y="705439"/>
                  </a:lnTo>
                  <a:lnTo>
                    <a:pt x="120322" y="657951"/>
                  </a:lnTo>
                  <a:lnTo>
                    <a:pt x="138508" y="610942"/>
                  </a:lnTo>
                  <a:lnTo>
                    <a:pt x="158524" y="564639"/>
                  </a:lnTo>
                  <a:lnTo>
                    <a:pt x="180972" y="519267"/>
                  </a:lnTo>
                  <a:lnTo>
                    <a:pt x="206448" y="475052"/>
                  </a:lnTo>
                  <a:lnTo>
                    <a:pt x="235552" y="432220"/>
                  </a:lnTo>
                  <a:lnTo>
                    <a:pt x="268884" y="390997"/>
                  </a:lnTo>
                  <a:lnTo>
                    <a:pt x="301363" y="354664"/>
                  </a:lnTo>
                  <a:lnTo>
                    <a:pt x="334374" y="318862"/>
                  </a:lnTo>
                  <a:lnTo>
                    <a:pt x="368093" y="283884"/>
                  </a:lnTo>
                  <a:lnTo>
                    <a:pt x="402693" y="250025"/>
                  </a:lnTo>
                  <a:lnTo>
                    <a:pt x="438349" y="217578"/>
                  </a:lnTo>
                  <a:lnTo>
                    <a:pt x="475236" y="186839"/>
                  </a:lnTo>
                  <a:lnTo>
                    <a:pt x="513529" y="158100"/>
                  </a:lnTo>
                  <a:lnTo>
                    <a:pt x="553400" y="131657"/>
                  </a:lnTo>
                  <a:lnTo>
                    <a:pt x="595026" y="107803"/>
                  </a:lnTo>
                  <a:lnTo>
                    <a:pt x="638581" y="86832"/>
                  </a:lnTo>
                  <a:lnTo>
                    <a:pt x="685897" y="66617"/>
                  </a:lnTo>
                  <a:lnTo>
                    <a:pt x="734267" y="47394"/>
                  </a:lnTo>
                  <a:lnTo>
                    <a:pt x="783483" y="30142"/>
                  </a:lnTo>
                  <a:lnTo>
                    <a:pt x="833335" y="15839"/>
                  </a:lnTo>
                  <a:lnTo>
                    <a:pt x="883616" y="5465"/>
                  </a:lnTo>
                  <a:lnTo>
                    <a:pt x="934118" y="0"/>
                  </a:lnTo>
                  <a:lnTo>
                    <a:pt x="984631" y="422"/>
                  </a:lnTo>
                  <a:lnTo>
                    <a:pt x="1034948" y="7711"/>
                  </a:lnTo>
                  <a:lnTo>
                    <a:pt x="1077548" y="15485"/>
                  </a:lnTo>
                  <a:lnTo>
                    <a:pt x="1121302" y="21427"/>
                  </a:lnTo>
                  <a:lnTo>
                    <a:pt x="1165526" y="26896"/>
                  </a:lnTo>
                  <a:lnTo>
                    <a:pt x="1209539" y="33253"/>
                  </a:lnTo>
                  <a:lnTo>
                    <a:pt x="1252658" y="41858"/>
                  </a:lnTo>
                  <a:lnTo>
                    <a:pt x="1294198" y="54071"/>
                  </a:lnTo>
                  <a:lnTo>
                    <a:pt x="1333479" y="71252"/>
                  </a:lnTo>
                  <a:lnTo>
                    <a:pt x="1369817" y="94762"/>
                  </a:lnTo>
                  <a:lnTo>
                    <a:pt x="1402530" y="125960"/>
                  </a:lnTo>
                  <a:lnTo>
                    <a:pt x="1430934" y="166207"/>
                  </a:lnTo>
                  <a:lnTo>
                    <a:pt x="1444142" y="298414"/>
                  </a:lnTo>
                  <a:lnTo>
                    <a:pt x="1457350" y="430748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56" name="object 5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93816" y="1175003"/>
              <a:ext cx="127000" cy="160020"/>
            </a:xfrm>
            <a:prstGeom prst="rect">
              <a:avLst/>
            </a:prstGeom>
          </p:spPr>
        </p:pic>
      </p:grpSp>
      <p:sp>
        <p:nvSpPr>
          <p:cNvPr id="57" name="object 57"/>
          <p:cNvSpPr/>
          <p:nvPr/>
        </p:nvSpPr>
        <p:spPr>
          <a:xfrm>
            <a:off x="8881872" y="4005748"/>
            <a:ext cx="652779" cy="309880"/>
          </a:xfrm>
          <a:custGeom>
            <a:avLst/>
            <a:gdLst/>
            <a:ahLst/>
            <a:cxnLst/>
            <a:rect l="l" t="t" r="r" b="b"/>
            <a:pathLst>
              <a:path w="489584" h="232410">
                <a:moveTo>
                  <a:pt x="475488" y="63500"/>
                </a:moveTo>
                <a:lnTo>
                  <a:pt x="462788" y="57150"/>
                </a:lnTo>
                <a:lnTo>
                  <a:pt x="348488" y="0"/>
                </a:lnTo>
                <a:lnTo>
                  <a:pt x="348488" y="57150"/>
                </a:lnTo>
                <a:lnTo>
                  <a:pt x="0" y="57150"/>
                </a:lnTo>
                <a:lnTo>
                  <a:pt x="0" y="69850"/>
                </a:lnTo>
                <a:lnTo>
                  <a:pt x="348488" y="69850"/>
                </a:lnTo>
                <a:lnTo>
                  <a:pt x="348488" y="127000"/>
                </a:lnTo>
                <a:lnTo>
                  <a:pt x="462788" y="69850"/>
                </a:lnTo>
                <a:lnTo>
                  <a:pt x="475488" y="63500"/>
                </a:lnTo>
                <a:close/>
              </a:path>
              <a:path w="489584" h="232410">
                <a:moveTo>
                  <a:pt x="489204" y="162306"/>
                </a:moveTo>
                <a:lnTo>
                  <a:pt x="136144" y="162306"/>
                </a:lnTo>
                <a:lnTo>
                  <a:pt x="136144" y="105156"/>
                </a:lnTo>
                <a:lnTo>
                  <a:pt x="9144" y="168656"/>
                </a:lnTo>
                <a:lnTo>
                  <a:pt x="136144" y="232156"/>
                </a:lnTo>
                <a:lnTo>
                  <a:pt x="136144" y="175006"/>
                </a:lnTo>
                <a:lnTo>
                  <a:pt x="489204" y="175006"/>
                </a:lnTo>
                <a:lnTo>
                  <a:pt x="489204" y="1623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pic>
        <p:nvPicPr>
          <p:cNvPr id="58" name="object 5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44385" y="3987460"/>
            <a:ext cx="353567" cy="309541"/>
          </a:xfrm>
          <a:prstGeom prst="rect">
            <a:avLst/>
          </a:prstGeom>
        </p:spPr>
      </p:pic>
      <p:sp>
        <p:nvSpPr>
          <p:cNvPr id="59" name="object 59"/>
          <p:cNvSpPr txBox="1">
            <a:spLocks noGrp="1"/>
          </p:cNvSpPr>
          <p:nvPr>
            <p:ph type="title"/>
          </p:nvPr>
        </p:nvSpPr>
        <p:spPr>
          <a:xfrm>
            <a:off x="4581819" y="162723"/>
            <a:ext cx="3276601" cy="83777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5333" spc="-13" dirty="0"/>
              <a:t>Layering</a:t>
            </a:r>
            <a:endParaRPr sz="5333" dirty="0"/>
          </a:p>
        </p:txBody>
      </p:sp>
      <p:sp>
        <p:nvSpPr>
          <p:cNvPr id="60" name="object 60"/>
          <p:cNvSpPr txBox="1"/>
          <p:nvPr/>
        </p:nvSpPr>
        <p:spPr>
          <a:xfrm>
            <a:off x="7347881" y="5099643"/>
            <a:ext cx="1816100" cy="57109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600" b="1" spc="-13" dirty="0">
                <a:solidFill>
                  <a:srgbClr val="660066"/>
                </a:solidFill>
                <a:latin typeface="Comic Sans MS"/>
                <a:cs typeface="Comic Sans MS"/>
              </a:rPr>
              <a:t>Inferior</a:t>
            </a:r>
            <a:endParaRPr sz="3600">
              <a:latin typeface="Comic Sans MS"/>
              <a:cs typeface="Comic Sans MS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431965" y="4610371"/>
            <a:ext cx="1893993" cy="57109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600" b="1" spc="-13" dirty="0">
                <a:solidFill>
                  <a:srgbClr val="660066"/>
                </a:solidFill>
                <a:latin typeface="Comic Sans MS"/>
                <a:cs typeface="Comic Sans MS"/>
              </a:rPr>
              <a:t>Superior</a:t>
            </a:r>
            <a:endParaRPr sz="360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21537635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5567" y="0"/>
            <a:ext cx="9656064" cy="68580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21393" y="508610"/>
            <a:ext cx="744220" cy="297517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6933">
              <a:spcBef>
                <a:spcPts val="160"/>
              </a:spcBef>
            </a:pPr>
            <a:r>
              <a:rPr b="1" spc="-13" dirty="0">
                <a:latin typeface="Calibri"/>
                <a:cs typeface="Calibri"/>
              </a:rPr>
              <a:t>:Source</a:t>
            </a:r>
            <a:endParaRPr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1169" y="4547615"/>
            <a:ext cx="1731433" cy="1155017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46567" rIns="0" bIns="0" rtlCol="0">
            <a:spAutoFit/>
          </a:bodyPr>
          <a:lstStyle/>
          <a:p>
            <a:pPr marL="123610" marR="218435">
              <a:spcBef>
                <a:spcPts val="367"/>
              </a:spcBef>
            </a:pPr>
            <a:r>
              <a:rPr sz="2400" b="1" dirty="0">
                <a:latin typeface="Calibri"/>
                <a:cs typeface="Calibri"/>
              </a:rPr>
              <a:t>Bad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spc="-13" dirty="0">
                <a:latin typeface="Calibri"/>
                <a:cs typeface="Calibri"/>
              </a:rPr>
              <a:t>design </a:t>
            </a:r>
            <a:r>
              <a:rPr sz="2400" b="1" dirty="0">
                <a:latin typeface="Calibri"/>
                <a:cs typeface="Calibri"/>
              </a:rPr>
              <a:t>may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spc="-27" dirty="0">
                <a:latin typeface="Calibri"/>
                <a:cs typeface="Calibri"/>
              </a:rPr>
              <a:t>look </a:t>
            </a:r>
            <a:r>
              <a:rPr sz="2400" b="1" dirty="0">
                <a:latin typeface="Calibri"/>
                <a:cs typeface="Calibri"/>
              </a:rPr>
              <a:t>like</a:t>
            </a:r>
            <a:r>
              <a:rPr sz="2400" b="1" spc="-107" dirty="0">
                <a:latin typeface="Calibri"/>
                <a:cs typeface="Calibri"/>
              </a:rPr>
              <a:t> </a:t>
            </a:r>
            <a:r>
              <a:rPr sz="2400" b="1" spc="-13" dirty="0">
                <a:latin typeface="Calibri"/>
                <a:cs typeface="Calibri"/>
              </a:rPr>
              <a:t>this…</a:t>
            </a:r>
            <a:endParaRPr sz="24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334405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26221" y="291995"/>
            <a:ext cx="3175000" cy="836918"/>
          </a:xfrm>
          <a:prstGeom prst="rect">
            <a:avLst/>
          </a:prstGeom>
        </p:spPr>
        <p:txBody>
          <a:bodyPr vert="horz" wrap="square" lIns="0" tIns="16087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27"/>
              </a:spcBef>
            </a:pPr>
            <a:r>
              <a:rPr sz="5333" spc="-13" dirty="0"/>
              <a:t>Modularity</a:t>
            </a:r>
            <a:endParaRPr sz="5333"/>
          </a:p>
        </p:txBody>
      </p:sp>
      <p:sp>
        <p:nvSpPr>
          <p:cNvPr id="3" name="object 3"/>
          <p:cNvSpPr txBox="1"/>
          <p:nvPr/>
        </p:nvSpPr>
        <p:spPr>
          <a:xfrm>
            <a:off x="649916" y="1311899"/>
            <a:ext cx="9977120" cy="4141241"/>
          </a:xfrm>
          <a:prstGeom prst="rect">
            <a:avLst/>
          </a:prstGeom>
        </p:spPr>
        <p:txBody>
          <a:bodyPr vert="horz" wrap="square" lIns="0" tIns="255693" rIns="0" bIns="0" rtlCol="0">
            <a:spAutoFit/>
          </a:bodyPr>
          <a:lstStyle/>
          <a:p>
            <a:pPr marL="473275" indent="-456342">
              <a:spcBef>
                <a:spcPts val="2013"/>
              </a:spcBef>
              <a:buFont typeface="Arial MT"/>
              <a:buChar char="•"/>
              <a:tabLst>
                <a:tab pos="473275" algn="l"/>
              </a:tabLst>
            </a:pPr>
            <a:r>
              <a:rPr sz="4267" dirty="0">
                <a:latin typeface="Calibri"/>
                <a:cs typeface="Calibri"/>
              </a:rPr>
              <a:t>In</a:t>
            </a:r>
            <a:r>
              <a:rPr sz="4267" spc="-60" dirty="0">
                <a:latin typeface="Calibri"/>
                <a:cs typeface="Calibri"/>
              </a:rPr>
              <a:t> </a:t>
            </a:r>
            <a:r>
              <a:rPr sz="4267" dirty="0">
                <a:latin typeface="Calibri"/>
                <a:cs typeface="Calibri"/>
              </a:rPr>
              <a:t>technical</a:t>
            </a:r>
            <a:r>
              <a:rPr sz="4267" spc="-160" dirty="0">
                <a:latin typeface="Calibri"/>
                <a:cs typeface="Calibri"/>
              </a:rPr>
              <a:t> </a:t>
            </a:r>
            <a:r>
              <a:rPr sz="4267" dirty="0">
                <a:latin typeface="Calibri"/>
                <a:cs typeface="Calibri"/>
              </a:rPr>
              <a:t>terms,</a:t>
            </a:r>
            <a:r>
              <a:rPr sz="4267" spc="-60" dirty="0">
                <a:latin typeface="Calibri"/>
                <a:cs typeface="Calibri"/>
              </a:rPr>
              <a:t> </a:t>
            </a:r>
            <a:r>
              <a:rPr sz="4267" dirty="0">
                <a:latin typeface="Calibri"/>
                <a:cs typeface="Calibri"/>
              </a:rPr>
              <a:t>modules</a:t>
            </a:r>
            <a:r>
              <a:rPr sz="4267" spc="-93" dirty="0">
                <a:latin typeface="Calibri"/>
                <a:cs typeface="Calibri"/>
              </a:rPr>
              <a:t> </a:t>
            </a:r>
            <a:r>
              <a:rPr sz="4267" dirty="0">
                <a:latin typeface="Calibri"/>
                <a:cs typeface="Calibri"/>
              </a:rPr>
              <a:t>should</a:t>
            </a:r>
            <a:r>
              <a:rPr sz="4267" spc="-93" dirty="0">
                <a:latin typeface="Calibri"/>
                <a:cs typeface="Calibri"/>
              </a:rPr>
              <a:t> </a:t>
            </a:r>
            <a:r>
              <a:rPr sz="4267" spc="-13" dirty="0">
                <a:latin typeface="Calibri"/>
                <a:cs typeface="Calibri"/>
              </a:rPr>
              <a:t>display:</a:t>
            </a:r>
            <a:endParaRPr sz="4267" dirty="0">
              <a:latin typeface="Calibri"/>
              <a:cs typeface="Calibri"/>
            </a:endParaRPr>
          </a:p>
          <a:p>
            <a:pPr marL="1009201" lvl="1" indent="-382684">
              <a:spcBef>
                <a:spcPts val="1653"/>
              </a:spcBef>
              <a:buFont typeface="Arial MT"/>
              <a:buChar char="–"/>
              <a:tabLst>
                <a:tab pos="1009201" algn="l"/>
              </a:tabLst>
            </a:pPr>
            <a:r>
              <a:rPr sz="3733" b="1" dirty="0">
                <a:solidFill>
                  <a:srgbClr val="0000FF"/>
                </a:solidFill>
                <a:latin typeface="Calibri"/>
                <a:cs typeface="Calibri"/>
              </a:rPr>
              <a:t>high</a:t>
            </a:r>
            <a:r>
              <a:rPr sz="3733" b="1" spc="-3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733" b="1" spc="-13" dirty="0">
                <a:solidFill>
                  <a:srgbClr val="0000FF"/>
                </a:solidFill>
                <a:latin typeface="Calibri"/>
                <a:cs typeface="Calibri"/>
              </a:rPr>
              <a:t>cohesion</a:t>
            </a:r>
            <a:endParaRPr sz="3733" dirty="0">
              <a:latin typeface="Calibri"/>
              <a:cs typeface="Calibri"/>
            </a:endParaRPr>
          </a:p>
          <a:p>
            <a:pPr marL="1009201" lvl="1" indent="-382684">
              <a:spcBef>
                <a:spcPts val="1573"/>
              </a:spcBef>
              <a:buFont typeface="Arial MT"/>
              <a:buChar char="–"/>
              <a:tabLst>
                <a:tab pos="1009201" algn="l"/>
              </a:tabLst>
            </a:pPr>
            <a:r>
              <a:rPr sz="3733" b="1" dirty="0">
                <a:solidFill>
                  <a:srgbClr val="0000FF"/>
                </a:solidFill>
                <a:latin typeface="Calibri"/>
                <a:cs typeface="Calibri"/>
              </a:rPr>
              <a:t>low</a:t>
            </a:r>
            <a:r>
              <a:rPr sz="3733" b="1" spc="-6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733" b="1" spc="-13" dirty="0">
                <a:solidFill>
                  <a:srgbClr val="0000FF"/>
                </a:solidFill>
                <a:latin typeface="Calibri"/>
                <a:cs typeface="Calibri"/>
              </a:rPr>
              <a:t>coupling.</a:t>
            </a:r>
            <a:endParaRPr sz="3733" dirty="0">
              <a:latin typeface="Calibri"/>
              <a:cs typeface="Calibri"/>
            </a:endParaRPr>
          </a:p>
          <a:p>
            <a:pPr marL="473275" indent="-456342">
              <a:spcBef>
                <a:spcPts val="1620"/>
              </a:spcBef>
              <a:buFont typeface="Arial MT"/>
              <a:buChar char="•"/>
              <a:tabLst>
                <a:tab pos="473275" algn="l"/>
              </a:tabLst>
            </a:pPr>
            <a:r>
              <a:rPr sz="4267" dirty="0">
                <a:latin typeface="Calibri"/>
                <a:cs typeface="Calibri"/>
              </a:rPr>
              <a:t>We</a:t>
            </a:r>
            <a:r>
              <a:rPr sz="4267" spc="-127" dirty="0">
                <a:latin typeface="Calibri"/>
                <a:cs typeface="Calibri"/>
              </a:rPr>
              <a:t> </a:t>
            </a:r>
            <a:r>
              <a:rPr sz="4267" dirty="0">
                <a:latin typeface="Calibri"/>
                <a:cs typeface="Calibri"/>
              </a:rPr>
              <a:t>next</a:t>
            </a:r>
            <a:r>
              <a:rPr sz="4267" spc="-107" dirty="0">
                <a:latin typeface="Calibri"/>
                <a:cs typeface="Calibri"/>
              </a:rPr>
              <a:t> </a:t>
            </a:r>
            <a:r>
              <a:rPr sz="4267" spc="-13" dirty="0">
                <a:latin typeface="Calibri"/>
                <a:cs typeface="Calibri"/>
              </a:rPr>
              <a:t>discuss:</a:t>
            </a:r>
            <a:endParaRPr sz="4267" dirty="0">
              <a:latin typeface="Calibri"/>
              <a:cs typeface="Calibri"/>
            </a:endParaRPr>
          </a:p>
          <a:p>
            <a:pPr marL="1009201" lvl="1" indent="-382684">
              <a:spcBef>
                <a:spcPts val="1660"/>
              </a:spcBef>
              <a:buFont typeface="Arial MT"/>
              <a:buChar char="–"/>
              <a:tabLst>
                <a:tab pos="1009201" algn="l"/>
              </a:tabLst>
            </a:pPr>
            <a:r>
              <a:rPr sz="3733" dirty="0">
                <a:latin typeface="Calibri"/>
                <a:cs typeface="Calibri"/>
              </a:rPr>
              <a:t>cohesion</a:t>
            </a:r>
            <a:r>
              <a:rPr sz="3733" spc="-100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and</a:t>
            </a:r>
            <a:r>
              <a:rPr sz="3733" spc="-33" dirty="0">
                <a:latin typeface="Calibri"/>
                <a:cs typeface="Calibri"/>
              </a:rPr>
              <a:t> </a:t>
            </a:r>
            <a:r>
              <a:rPr sz="3733" spc="-13" dirty="0">
                <a:latin typeface="Calibri"/>
                <a:cs typeface="Calibri"/>
              </a:rPr>
              <a:t>coupling.</a:t>
            </a:r>
            <a:endParaRPr sz="3733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211868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1122" y="419277"/>
            <a:ext cx="9973188" cy="836918"/>
          </a:xfrm>
          <a:prstGeom prst="rect">
            <a:avLst/>
          </a:prstGeom>
        </p:spPr>
        <p:txBody>
          <a:bodyPr vert="horz" wrap="square" lIns="0" tIns="16087" rIns="0" bIns="0" rtlCol="0" anchor="ctr">
            <a:spAutoFit/>
          </a:bodyPr>
          <a:lstStyle/>
          <a:p>
            <a:pPr marL="2124234">
              <a:lnSpc>
                <a:spcPct val="100000"/>
              </a:lnSpc>
              <a:spcBef>
                <a:spcPts val="127"/>
              </a:spcBef>
            </a:pPr>
            <a:r>
              <a:rPr sz="5333" spc="-13" dirty="0"/>
              <a:t>Modularity</a:t>
            </a:r>
            <a:endParaRPr sz="5333" dirty="0"/>
          </a:p>
        </p:txBody>
      </p:sp>
      <p:sp>
        <p:nvSpPr>
          <p:cNvPr id="3" name="object 3"/>
          <p:cNvSpPr txBox="1"/>
          <p:nvPr/>
        </p:nvSpPr>
        <p:spPr>
          <a:xfrm>
            <a:off x="733623" y="1536414"/>
            <a:ext cx="10150687" cy="379569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74121" marR="6773" indent="-457189">
              <a:lnSpc>
                <a:spcPct val="120100"/>
              </a:lnSpc>
              <a:spcBef>
                <a:spcPts val="133"/>
              </a:spcBef>
              <a:buFont typeface="Arial MT"/>
              <a:buChar char="•"/>
              <a:tabLst>
                <a:tab pos="474121" algn="l"/>
              </a:tabLst>
            </a:pPr>
            <a:r>
              <a:rPr sz="4800" dirty="0">
                <a:latin typeface="Calibri"/>
                <a:cs typeface="Calibri"/>
              </a:rPr>
              <a:t>Arrangement</a:t>
            </a:r>
            <a:r>
              <a:rPr sz="4800" spc="-152" dirty="0">
                <a:latin typeface="Calibri"/>
                <a:cs typeface="Calibri"/>
              </a:rPr>
              <a:t> </a:t>
            </a:r>
            <a:r>
              <a:rPr sz="4800" dirty="0">
                <a:latin typeface="Calibri"/>
                <a:cs typeface="Calibri"/>
              </a:rPr>
              <a:t>of</a:t>
            </a:r>
            <a:r>
              <a:rPr sz="4800" spc="-47" dirty="0">
                <a:latin typeface="Calibri"/>
                <a:cs typeface="Calibri"/>
              </a:rPr>
              <a:t> </a:t>
            </a:r>
            <a:r>
              <a:rPr sz="4800" dirty="0">
                <a:latin typeface="Calibri"/>
                <a:cs typeface="Calibri"/>
              </a:rPr>
              <a:t>modules</a:t>
            </a:r>
            <a:r>
              <a:rPr sz="4800" spc="-152" dirty="0">
                <a:latin typeface="Calibri"/>
                <a:cs typeface="Calibri"/>
              </a:rPr>
              <a:t> </a:t>
            </a:r>
            <a:r>
              <a:rPr sz="4800" dirty="0">
                <a:latin typeface="Calibri"/>
                <a:cs typeface="Calibri"/>
              </a:rPr>
              <a:t>in</a:t>
            </a:r>
            <a:r>
              <a:rPr sz="4800" spc="-47" dirty="0">
                <a:latin typeface="Calibri"/>
                <a:cs typeface="Calibri"/>
              </a:rPr>
              <a:t> </a:t>
            </a:r>
            <a:r>
              <a:rPr sz="4800" dirty="0">
                <a:latin typeface="Calibri"/>
                <a:cs typeface="Calibri"/>
              </a:rPr>
              <a:t>a</a:t>
            </a:r>
            <a:r>
              <a:rPr sz="4800" spc="-20" dirty="0">
                <a:latin typeface="Calibri"/>
                <a:cs typeface="Calibri"/>
              </a:rPr>
              <a:t> </a:t>
            </a:r>
            <a:r>
              <a:rPr sz="4800" spc="-13" dirty="0">
                <a:latin typeface="Calibri"/>
                <a:cs typeface="Calibri"/>
              </a:rPr>
              <a:t>hierarchy ensures:</a:t>
            </a:r>
            <a:endParaRPr sz="4800" dirty="0">
              <a:latin typeface="Calibri"/>
              <a:cs typeface="Calibri"/>
            </a:endParaRPr>
          </a:p>
          <a:p>
            <a:pPr marL="1010048" lvl="1" indent="-383530">
              <a:spcBef>
                <a:spcPts val="2700"/>
              </a:spcBef>
              <a:buFont typeface="Arial MT"/>
              <a:buChar char="–"/>
              <a:tabLst>
                <a:tab pos="1010048" algn="l"/>
              </a:tabLst>
            </a:pPr>
            <a:r>
              <a:rPr sz="4267" b="1" dirty="0">
                <a:solidFill>
                  <a:srgbClr val="0000FF"/>
                </a:solidFill>
                <a:latin typeface="Calibri"/>
                <a:cs typeface="Calibri"/>
              </a:rPr>
              <a:t>Low</a:t>
            </a:r>
            <a:r>
              <a:rPr sz="4267" b="1" spc="3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267" b="1" spc="-27" dirty="0">
                <a:solidFill>
                  <a:srgbClr val="0000FF"/>
                </a:solidFill>
                <a:latin typeface="Calibri"/>
                <a:cs typeface="Calibri"/>
              </a:rPr>
              <a:t>fan-</a:t>
            </a:r>
            <a:r>
              <a:rPr sz="4267" b="1" spc="-33" dirty="0">
                <a:solidFill>
                  <a:srgbClr val="0000FF"/>
                </a:solidFill>
                <a:latin typeface="Calibri"/>
                <a:cs typeface="Calibri"/>
              </a:rPr>
              <a:t>out</a:t>
            </a:r>
            <a:endParaRPr sz="4267" dirty="0">
              <a:latin typeface="Calibri"/>
              <a:cs typeface="Calibri"/>
            </a:endParaRPr>
          </a:p>
          <a:p>
            <a:pPr marL="1010048" lvl="1" indent="-383530">
              <a:spcBef>
                <a:spcPts val="2660"/>
              </a:spcBef>
              <a:buFont typeface="Arial MT"/>
              <a:buChar char="–"/>
              <a:tabLst>
                <a:tab pos="1010048" algn="l"/>
              </a:tabLst>
            </a:pPr>
            <a:r>
              <a:rPr sz="4267" b="1" spc="-13" dirty="0">
                <a:solidFill>
                  <a:srgbClr val="0000FF"/>
                </a:solidFill>
                <a:latin typeface="Calibri"/>
                <a:cs typeface="Calibri"/>
              </a:rPr>
              <a:t>Abstraction</a:t>
            </a:r>
            <a:endParaRPr sz="4267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943948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1397" y="342018"/>
            <a:ext cx="11089538" cy="571096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3600" dirty="0"/>
              <a:t>Coupling:</a:t>
            </a:r>
            <a:r>
              <a:rPr sz="3600" spc="-53" dirty="0"/>
              <a:t> </a:t>
            </a:r>
            <a:r>
              <a:rPr sz="3600" dirty="0"/>
              <a:t>Degree</a:t>
            </a:r>
            <a:r>
              <a:rPr sz="3600" spc="-140" dirty="0"/>
              <a:t> </a:t>
            </a:r>
            <a:r>
              <a:rPr sz="3600" dirty="0"/>
              <a:t>of</a:t>
            </a:r>
            <a:r>
              <a:rPr sz="3600" spc="-93" dirty="0"/>
              <a:t> </a:t>
            </a:r>
            <a:r>
              <a:rPr sz="3600" dirty="0"/>
              <a:t>dependence</a:t>
            </a:r>
            <a:r>
              <a:rPr sz="3600" spc="-60" dirty="0"/>
              <a:t> </a:t>
            </a:r>
            <a:r>
              <a:rPr sz="3600" dirty="0"/>
              <a:t>among</a:t>
            </a:r>
            <a:r>
              <a:rPr sz="3600" spc="-87" dirty="0"/>
              <a:t> </a:t>
            </a:r>
            <a:r>
              <a:rPr sz="3600" spc="-13" dirty="0"/>
              <a:t>components</a:t>
            </a:r>
            <a:endParaRPr sz="3600" dirty="0"/>
          </a:p>
        </p:txBody>
      </p:sp>
      <p:grpSp>
        <p:nvGrpSpPr>
          <p:cNvPr id="3" name="object 3"/>
          <p:cNvGrpSpPr/>
          <p:nvPr/>
        </p:nvGrpSpPr>
        <p:grpSpPr>
          <a:xfrm>
            <a:off x="621792" y="1389888"/>
            <a:ext cx="695112" cy="396240"/>
            <a:chOff x="466344" y="1042416"/>
            <a:chExt cx="521334" cy="297180"/>
          </a:xfrm>
        </p:grpSpPr>
        <p:sp>
          <p:nvSpPr>
            <p:cNvPr id="4" name="object 4"/>
            <p:cNvSpPr/>
            <p:nvPr/>
          </p:nvSpPr>
          <p:spPr>
            <a:xfrm>
              <a:off x="470916" y="1046988"/>
              <a:ext cx="512445" cy="288290"/>
            </a:xfrm>
            <a:custGeom>
              <a:avLst/>
              <a:gdLst/>
              <a:ahLst/>
              <a:cxnLst/>
              <a:rect l="l" t="t" r="r" b="b"/>
              <a:pathLst>
                <a:path w="512444" h="288290">
                  <a:moveTo>
                    <a:pt x="512064" y="0"/>
                  </a:moveTo>
                  <a:lnTo>
                    <a:pt x="0" y="0"/>
                  </a:lnTo>
                  <a:lnTo>
                    <a:pt x="0" y="288036"/>
                  </a:lnTo>
                  <a:lnTo>
                    <a:pt x="512064" y="288036"/>
                  </a:lnTo>
                  <a:lnTo>
                    <a:pt x="512064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" name="object 5"/>
            <p:cNvSpPr/>
            <p:nvPr/>
          </p:nvSpPr>
          <p:spPr>
            <a:xfrm>
              <a:off x="470916" y="1046988"/>
              <a:ext cx="512445" cy="288290"/>
            </a:xfrm>
            <a:custGeom>
              <a:avLst/>
              <a:gdLst/>
              <a:ahLst/>
              <a:cxnLst/>
              <a:rect l="l" t="t" r="r" b="b"/>
              <a:pathLst>
                <a:path w="512444" h="288290">
                  <a:moveTo>
                    <a:pt x="0" y="288036"/>
                  </a:moveTo>
                  <a:lnTo>
                    <a:pt x="512064" y="288036"/>
                  </a:lnTo>
                  <a:lnTo>
                    <a:pt x="512064" y="0"/>
                  </a:lnTo>
                  <a:lnTo>
                    <a:pt x="0" y="0"/>
                  </a:lnTo>
                  <a:lnTo>
                    <a:pt x="0" y="288036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621792" y="2078737"/>
            <a:ext cx="695112" cy="390313"/>
            <a:chOff x="466344" y="1559052"/>
            <a:chExt cx="521334" cy="292735"/>
          </a:xfrm>
        </p:grpSpPr>
        <p:sp>
          <p:nvSpPr>
            <p:cNvPr id="7" name="object 7"/>
            <p:cNvSpPr/>
            <p:nvPr/>
          </p:nvSpPr>
          <p:spPr>
            <a:xfrm>
              <a:off x="470916" y="1563624"/>
              <a:ext cx="512445" cy="283845"/>
            </a:xfrm>
            <a:custGeom>
              <a:avLst/>
              <a:gdLst/>
              <a:ahLst/>
              <a:cxnLst/>
              <a:rect l="l" t="t" r="r" b="b"/>
              <a:pathLst>
                <a:path w="512444" h="283844">
                  <a:moveTo>
                    <a:pt x="512064" y="0"/>
                  </a:moveTo>
                  <a:lnTo>
                    <a:pt x="0" y="0"/>
                  </a:lnTo>
                  <a:lnTo>
                    <a:pt x="0" y="283463"/>
                  </a:lnTo>
                  <a:lnTo>
                    <a:pt x="512064" y="283463"/>
                  </a:lnTo>
                  <a:lnTo>
                    <a:pt x="512064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" name="object 8"/>
            <p:cNvSpPr/>
            <p:nvPr/>
          </p:nvSpPr>
          <p:spPr>
            <a:xfrm>
              <a:off x="470916" y="1563624"/>
              <a:ext cx="512445" cy="283845"/>
            </a:xfrm>
            <a:custGeom>
              <a:avLst/>
              <a:gdLst/>
              <a:ahLst/>
              <a:cxnLst/>
              <a:rect l="l" t="t" r="r" b="b"/>
              <a:pathLst>
                <a:path w="512444" h="283844">
                  <a:moveTo>
                    <a:pt x="0" y="283463"/>
                  </a:moveTo>
                  <a:lnTo>
                    <a:pt x="512064" y="283463"/>
                  </a:lnTo>
                  <a:lnTo>
                    <a:pt x="512064" y="0"/>
                  </a:lnTo>
                  <a:lnTo>
                    <a:pt x="0" y="0"/>
                  </a:lnTo>
                  <a:lnTo>
                    <a:pt x="0" y="283463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1609344" y="2078737"/>
            <a:ext cx="701040" cy="390313"/>
            <a:chOff x="1207008" y="1559052"/>
            <a:chExt cx="525780" cy="292735"/>
          </a:xfrm>
        </p:grpSpPr>
        <p:sp>
          <p:nvSpPr>
            <p:cNvPr id="10" name="object 10"/>
            <p:cNvSpPr/>
            <p:nvPr/>
          </p:nvSpPr>
          <p:spPr>
            <a:xfrm>
              <a:off x="1211580" y="1563624"/>
              <a:ext cx="516890" cy="283845"/>
            </a:xfrm>
            <a:custGeom>
              <a:avLst/>
              <a:gdLst/>
              <a:ahLst/>
              <a:cxnLst/>
              <a:rect l="l" t="t" r="r" b="b"/>
              <a:pathLst>
                <a:path w="516889" h="283844">
                  <a:moveTo>
                    <a:pt x="516636" y="0"/>
                  </a:moveTo>
                  <a:lnTo>
                    <a:pt x="0" y="0"/>
                  </a:lnTo>
                  <a:lnTo>
                    <a:pt x="0" y="283463"/>
                  </a:lnTo>
                  <a:lnTo>
                    <a:pt x="516636" y="283463"/>
                  </a:lnTo>
                  <a:lnTo>
                    <a:pt x="516636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1211580" y="1563624"/>
              <a:ext cx="516890" cy="283845"/>
            </a:xfrm>
            <a:custGeom>
              <a:avLst/>
              <a:gdLst/>
              <a:ahLst/>
              <a:cxnLst/>
              <a:rect l="l" t="t" r="r" b="b"/>
              <a:pathLst>
                <a:path w="516889" h="283844">
                  <a:moveTo>
                    <a:pt x="0" y="283463"/>
                  </a:moveTo>
                  <a:lnTo>
                    <a:pt x="516636" y="283463"/>
                  </a:lnTo>
                  <a:lnTo>
                    <a:pt x="516636" y="0"/>
                  </a:lnTo>
                  <a:lnTo>
                    <a:pt x="0" y="0"/>
                  </a:lnTo>
                  <a:lnTo>
                    <a:pt x="0" y="283463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1609344" y="1389888"/>
            <a:ext cx="701040" cy="396240"/>
            <a:chOff x="1207008" y="1042416"/>
            <a:chExt cx="525780" cy="297180"/>
          </a:xfrm>
        </p:grpSpPr>
        <p:sp>
          <p:nvSpPr>
            <p:cNvPr id="13" name="object 13"/>
            <p:cNvSpPr/>
            <p:nvPr/>
          </p:nvSpPr>
          <p:spPr>
            <a:xfrm>
              <a:off x="1211580" y="1046988"/>
              <a:ext cx="516890" cy="288290"/>
            </a:xfrm>
            <a:custGeom>
              <a:avLst/>
              <a:gdLst/>
              <a:ahLst/>
              <a:cxnLst/>
              <a:rect l="l" t="t" r="r" b="b"/>
              <a:pathLst>
                <a:path w="516889" h="288290">
                  <a:moveTo>
                    <a:pt x="516636" y="0"/>
                  </a:moveTo>
                  <a:lnTo>
                    <a:pt x="0" y="0"/>
                  </a:lnTo>
                  <a:lnTo>
                    <a:pt x="0" y="288036"/>
                  </a:lnTo>
                  <a:lnTo>
                    <a:pt x="516636" y="288036"/>
                  </a:lnTo>
                  <a:lnTo>
                    <a:pt x="516636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4" name="object 14"/>
            <p:cNvSpPr/>
            <p:nvPr/>
          </p:nvSpPr>
          <p:spPr>
            <a:xfrm>
              <a:off x="1211580" y="1046988"/>
              <a:ext cx="516890" cy="288290"/>
            </a:xfrm>
            <a:custGeom>
              <a:avLst/>
              <a:gdLst/>
              <a:ahLst/>
              <a:cxnLst/>
              <a:rect l="l" t="t" r="r" b="b"/>
              <a:pathLst>
                <a:path w="516889" h="288290">
                  <a:moveTo>
                    <a:pt x="0" y="288036"/>
                  </a:moveTo>
                  <a:lnTo>
                    <a:pt x="516636" y="288036"/>
                  </a:lnTo>
                  <a:lnTo>
                    <a:pt x="516636" y="0"/>
                  </a:lnTo>
                  <a:lnTo>
                    <a:pt x="0" y="0"/>
                  </a:lnTo>
                  <a:lnTo>
                    <a:pt x="0" y="288036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4084319" y="1292351"/>
            <a:ext cx="1689100" cy="1079500"/>
            <a:chOff x="3063239" y="969263"/>
            <a:chExt cx="1266825" cy="809625"/>
          </a:xfrm>
        </p:grpSpPr>
        <p:sp>
          <p:nvSpPr>
            <p:cNvPr id="16" name="object 16"/>
            <p:cNvSpPr/>
            <p:nvPr/>
          </p:nvSpPr>
          <p:spPr>
            <a:xfrm>
              <a:off x="3067811" y="973835"/>
              <a:ext cx="512445" cy="283845"/>
            </a:xfrm>
            <a:custGeom>
              <a:avLst/>
              <a:gdLst/>
              <a:ahLst/>
              <a:cxnLst/>
              <a:rect l="l" t="t" r="r" b="b"/>
              <a:pathLst>
                <a:path w="512445" h="283844">
                  <a:moveTo>
                    <a:pt x="512063" y="0"/>
                  </a:moveTo>
                  <a:lnTo>
                    <a:pt x="0" y="0"/>
                  </a:lnTo>
                  <a:lnTo>
                    <a:pt x="0" y="283463"/>
                  </a:lnTo>
                  <a:lnTo>
                    <a:pt x="512063" y="283463"/>
                  </a:lnTo>
                  <a:lnTo>
                    <a:pt x="512063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7" name="object 17"/>
            <p:cNvSpPr/>
            <p:nvPr/>
          </p:nvSpPr>
          <p:spPr>
            <a:xfrm>
              <a:off x="3067811" y="973835"/>
              <a:ext cx="512445" cy="283845"/>
            </a:xfrm>
            <a:custGeom>
              <a:avLst/>
              <a:gdLst/>
              <a:ahLst/>
              <a:cxnLst/>
              <a:rect l="l" t="t" r="r" b="b"/>
              <a:pathLst>
                <a:path w="512445" h="283844">
                  <a:moveTo>
                    <a:pt x="0" y="283463"/>
                  </a:moveTo>
                  <a:lnTo>
                    <a:pt x="512063" y="283463"/>
                  </a:lnTo>
                  <a:lnTo>
                    <a:pt x="512063" y="0"/>
                  </a:lnTo>
                  <a:lnTo>
                    <a:pt x="0" y="0"/>
                  </a:lnTo>
                  <a:lnTo>
                    <a:pt x="0" y="283463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8" name="object 18"/>
            <p:cNvSpPr/>
            <p:nvPr/>
          </p:nvSpPr>
          <p:spPr>
            <a:xfrm>
              <a:off x="3067811" y="1485900"/>
              <a:ext cx="512445" cy="288290"/>
            </a:xfrm>
            <a:custGeom>
              <a:avLst/>
              <a:gdLst/>
              <a:ahLst/>
              <a:cxnLst/>
              <a:rect l="l" t="t" r="r" b="b"/>
              <a:pathLst>
                <a:path w="512445" h="288289">
                  <a:moveTo>
                    <a:pt x="512063" y="0"/>
                  </a:moveTo>
                  <a:lnTo>
                    <a:pt x="0" y="0"/>
                  </a:lnTo>
                  <a:lnTo>
                    <a:pt x="0" y="288036"/>
                  </a:lnTo>
                  <a:lnTo>
                    <a:pt x="512063" y="288036"/>
                  </a:lnTo>
                  <a:lnTo>
                    <a:pt x="512063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9" name="object 19"/>
            <p:cNvSpPr/>
            <p:nvPr/>
          </p:nvSpPr>
          <p:spPr>
            <a:xfrm>
              <a:off x="3067811" y="1485900"/>
              <a:ext cx="512445" cy="288290"/>
            </a:xfrm>
            <a:custGeom>
              <a:avLst/>
              <a:gdLst/>
              <a:ahLst/>
              <a:cxnLst/>
              <a:rect l="l" t="t" r="r" b="b"/>
              <a:pathLst>
                <a:path w="512445" h="288289">
                  <a:moveTo>
                    <a:pt x="0" y="288036"/>
                  </a:moveTo>
                  <a:lnTo>
                    <a:pt x="512063" y="288036"/>
                  </a:lnTo>
                  <a:lnTo>
                    <a:pt x="512063" y="0"/>
                  </a:lnTo>
                  <a:lnTo>
                    <a:pt x="0" y="0"/>
                  </a:lnTo>
                  <a:lnTo>
                    <a:pt x="0" y="288036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0" name="object 20"/>
            <p:cNvSpPr/>
            <p:nvPr/>
          </p:nvSpPr>
          <p:spPr>
            <a:xfrm>
              <a:off x="3808475" y="1485900"/>
              <a:ext cx="516890" cy="288290"/>
            </a:xfrm>
            <a:custGeom>
              <a:avLst/>
              <a:gdLst/>
              <a:ahLst/>
              <a:cxnLst/>
              <a:rect l="l" t="t" r="r" b="b"/>
              <a:pathLst>
                <a:path w="516889" h="288289">
                  <a:moveTo>
                    <a:pt x="516636" y="0"/>
                  </a:moveTo>
                  <a:lnTo>
                    <a:pt x="0" y="0"/>
                  </a:lnTo>
                  <a:lnTo>
                    <a:pt x="0" y="288036"/>
                  </a:lnTo>
                  <a:lnTo>
                    <a:pt x="516636" y="288036"/>
                  </a:lnTo>
                  <a:lnTo>
                    <a:pt x="516636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1" name="object 21"/>
            <p:cNvSpPr/>
            <p:nvPr/>
          </p:nvSpPr>
          <p:spPr>
            <a:xfrm>
              <a:off x="3808475" y="1485900"/>
              <a:ext cx="516890" cy="288290"/>
            </a:xfrm>
            <a:custGeom>
              <a:avLst/>
              <a:gdLst/>
              <a:ahLst/>
              <a:cxnLst/>
              <a:rect l="l" t="t" r="r" b="b"/>
              <a:pathLst>
                <a:path w="516889" h="288289">
                  <a:moveTo>
                    <a:pt x="0" y="288036"/>
                  </a:moveTo>
                  <a:lnTo>
                    <a:pt x="516636" y="288036"/>
                  </a:lnTo>
                  <a:lnTo>
                    <a:pt x="516636" y="0"/>
                  </a:lnTo>
                  <a:lnTo>
                    <a:pt x="0" y="0"/>
                  </a:lnTo>
                  <a:lnTo>
                    <a:pt x="0" y="288036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2" name="object 22"/>
            <p:cNvSpPr/>
            <p:nvPr/>
          </p:nvSpPr>
          <p:spPr>
            <a:xfrm>
              <a:off x="3808475" y="973835"/>
              <a:ext cx="516890" cy="283845"/>
            </a:xfrm>
            <a:custGeom>
              <a:avLst/>
              <a:gdLst/>
              <a:ahLst/>
              <a:cxnLst/>
              <a:rect l="l" t="t" r="r" b="b"/>
              <a:pathLst>
                <a:path w="516889" h="283844">
                  <a:moveTo>
                    <a:pt x="516636" y="0"/>
                  </a:moveTo>
                  <a:lnTo>
                    <a:pt x="0" y="0"/>
                  </a:lnTo>
                  <a:lnTo>
                    <a:pt x="0" y="283463"/>
                  </a:lnTo>
                  <a:lnTo>
                    <a:pt x="516636" y="283463"/>
                  </a:lnTo>
                  <a:lnTo>
                    <a:pt x="516636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3" name="object 23"/>
            <p:cNvSpPr/>
            <p:nvPr/>
          </p:nvSpPr>
          <p:spPr>
            <a:xfrm>
              <a:off x="3808475" y="973835"/>
              <a:ext cx="516890" cy="283845"/>
            </a:xfrm>
            <a:custGeom>
              <a:avLst/>
              <a:gdLst/>
              <a:ahLst/>
              <a:cxnLst/>
              <a:rect l="l" t="t" r="r" b="b"/>
              <a:pathLst>
                <a:path w="516889" h="283844">
                  <a:moveTo>
                    <a:pt x="0" y="283463"/>
                  </a:moveTo>
                  <a:lnTo>
                    <a:pt x="516636" y="283463"/>
                  </a:lnTo>
                  <a:lnTo>
                    <a:pt x="516636" y="0"/>
                  </a:lnTo>
                  <a:lnTo>
                    <a:pt x="0" y="0"/>
                  </a:lnTo>
                  <a:lnTo>
                    <a:pt x="0" y="283463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79875" y="1050035"/>
              <a:ext cx="228600" cy="762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44011" y="1257300"/>
              <a:ext cx="76200" cy="2286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98975" y="1257300"/>
              <a:ext cx="76200" cy="2286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13175" y="1257300"/>
              <a:ext cx="76200" cy="2286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72711" y="1257300"/>
              <a:ext cx="76200" cy="2286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79875" y="1621536"/>
              <a:ext cx="228600" cy="76200"/>
            </a:xfrm>
            <a:prstGeom prst="rect">
              <a:avLst/>
            </a:prstGeom>
          </p:spPr>
        </p:pic>
      </p:grpSp>
      <p:grpSp>
        <p:nvGrpSpPr>
          <p:cNvPr id="30" name="object 30"/>
          <p:cNvGrpSpPr/>
          <p:nvPr/>
        </p:nvGrpSpPr>
        <p:grpSpPr>
          <a:xfrm>
            <a:off x="1115483" y="3679548"/>
            <a:ext cx="2129162" cy="1079500"/>
            <a:chOff x="416051" y="2852927"/>
            <a:chExt cx="1266825" cy="809625"/>
          </a:xfrm>
        </p:grpSpPr>
        <p:sp>
          <p:nvSpPr>
            <p:cNvPr id="31" name="object 31"/>
            <p:cNvSpPr/>
            <p:nvPr/>
          </p:nvSpPr>
          <p:spPr>
            <a:xfrm>
              <a:off x="420623" y="2857499"/>
              <a:ext cx="512445" cy="288290"/>
            </a:xfrm>
            <a:custGeom>
              <a:avLst/>
              <a:gdLst/>
              <a:ahLst/>
              <a:cxnLst/>
              <a:rect l="l" t="t" r="r" b="b"/>
              <a:pathLst>
                <a:path w="512444" h="288289">
                  <a:moveTo>
                    <a:pt x="512064" y="0"/>
                  </a:moveTo>
                  <a:lnTo>
                    <a:pt x="0" y="0"/>
                  </a:lnTo>
                  <a:lnTo>
                    <a:pt x="0" y="288036"/>
                  </a:lnTo>
                  <a:lnTo>
                    <a:pt x="512064" y="288036"/>
                  </a:lnTo>
                  <a:lnTo>
                    <a:pt x="512064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2" name="object 32"/>
            <p:cNvSpPr/>
            <p:nvPr/>
          </p:nvSpPr>
          <p:spPr>
            <a:xfrm>
              <a:off x="420623" y="2857499"/>
              <a:ext cx="512445" cy="288290"/>
            </a:xfrm>
            <a:custGeom>
              <a:avLst/>
              <a:gdLst/>
              <a:ahLst/>
              <a:cxnLst/>
              <a:rect l="l" t="t" r="r" b="b"/>
              <a:pathLst>
                <a:path w="512444" h="288289">
                  <a:moveTo>
                    <a:pt x="0" y="288036"/>
                  </a:moveTo>
                  <a:lnTo>
                    <a:pt x="512064" y="288036"/>
                  </a:lnTo>
                  <a:lnTo>
                    <a:pt x="512064" y="0"/>
                  </a:lnTo>
                  <a:lnTo>
                    <a:pt x="0" y="0"/>
                  </a:lnTo>
                  <a:lnTo>
                    <a:pt x="0" y="288036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3" name="object 33"/>
            <p:cNvSpPr/>
            <p:nvPr/>
          </p:nvSpPr>
          <p:spPr>
            <a:xfrm>
              <a:off x="420623" y="3374136"/>
              <a:ext cx="512445" cy="283845"/>
            </a:xfrm>
            <a:custGeom>
              <a:avLst/>
              <a:gdLst/>
              <a:ahLst/>
              <a:cxnLst/>
              <a:rect l="l" t="t" r="r" b="b"/>
              <a:pathLst>
                <a:path w="512444" h="283845">
                  <a:moveTo>
                    <a:pt x="512064" y="0"/>
                  </a:moveTo>
                  <a:lnTo>
                    <a:pt x="0" y="0"/>
                  </a:lnTo>
                  <a:lnTo>
                    <a:pt x="0" y="283463"/>
                  </a:lnTo>
                  <a:lnTo>
                    <a:pt x="512064" y="283463"/>
                  </a:lnTo>
                  <a:lnTo>
                    <a:pt x="512064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4" name="object 34"/>
            <p:cNvSpPr/>
            <p:nvPr/>
          </p:nvSpPr>
          <p:spPr>
            <a:xfrm>
              <a:off x="420623" y="3374136"/>
              <a:ext cx="512445" cy="283845"/>
            </a:xfrm>
            <a:custGeom>
              <a:avLst/>
              <a:gdLst/>
              <a:ahLst/>
              <a:cxnLst/>
              <a:rect l="l" t="t" r="r" b="b"/>
              <a:pathLst>
                <a:path w="512444" h="283845">
                  <a:moveTo>
                    <a:pt x="0" y="283463"/>
                  </a:moveTo>
                  <a:lnTo>
                    <a:pt x="512064" y="283463"/>
                  </a:lnTo>
                  <a:lnTo>
                    <a:pt x="512064" y="0"/>
                  </a:lnTo>
                  <a:lnTo>
                    <a:pt x="0" y="0"/>
                  </a:lnTo>
                  <a:lnTo>
                    <a:pt x="0" y="283463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5" name="object 35"/>
            <p:cNvSpPr/>
            <p:nvPr/>
          </p:nvSpPr>
          <p:spPr>
            <a:xfrm>
              <a:off x="1161287" y="3374136"/>
              <a:ext cx="516890" cy="283845"/>
            </a:xfrm>
            <a:custGeom>
              <a:avLst/>
              <a:gdLst/>
              <a:ahLst/>
              <a:cxnLst/>
              <a:rect l="l" t="t" r="r" b="b"/>
              <a:pathLst>
                <a:path w="516889" h="283845">
                  <a:moveTo>
                    <a:pt x="516636" y="0"/>
                  </a:moveTo>
                  <a:lnTo>
                    <a:pt x="0" y="0"/>
                  </a:lnTo>
                  <a:lnTo>
                    <a:pt x="0" y="283463"/>
                  </a:lnTo>
                  <a:lnTo>
                    <a:pt x="516636" y="283463"/>
                  </a:lnTo>
                  <a:lnTo>
                    <a:pt x="516636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6" name="object 36"/>
            <p:cNvSpPr/>
            <p:nvPr/>
          </p:nvSpPr>
          <p:spPr>
            <a:xfrm>
              <a:off x="1161287" y="3374136"/>
              <a:ext cx="516890" cy="283845"/>
            </a:xfrm>
            <a:custGeom>
              <a:avLst/>
              <a:gdLst/>
              <a:ahLst/>
              <a:cxnLst/>
              <a:rect l="l" t="t" r="r" b="b"/>
              <a:pathLst>
                <a:path w="516889" h="283845">
                  <a:moveTo>
                    <a:pt x="0" y="283463"/>
                  </a:moveTo>
                  <a:lnTo>
                    <a:pt x="516636" y="283463"/>
                  </a:lnTo>
                  <a:lnTo>
                    <a:pt x="516636" y="0"/>
                  </a:lnTo>
                  <a:lnTo>
                    <a:pt x="0" y="0"/>
                  </a:lnTo>
                  <a:lnTo>
                    <a:pt x="0" y="283463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7" name="object 37"/>
            <p:cNvSpPr/>
            <p:nvPr/>
          </p:nvSpPr>
          <p:spPr>
            <a:xfrm>
              <a:off x="1161287" y="2857499"/>
              <a:ext cx="516890" cy="288290"/>
            </a:xfrm>
            <a:custGeom>
              <a:avLst/>
              <a:gdLst/>
              <a:ahLst/>
              <a:cxnLst/>
              <a:rect l="l" t="t" r="r" b="b"/>
              <a:pathLst>
                <a:path w="516889" h="288289">
                  <a:moveTo>
                    <a:pt x="516636" y="0"/>
                  </a:moveTo>
                  <a:lnTo>
                    <a:pt x="0" y="0"/>
                  </a:lnTo>
                  <a:lnTo>
                    <a:pt x="0" y="288036"/>
                  </a:lnTo>
                  <a:lnTo>
                    <a:pt x="516636" y="288036"/>
                  </a:lnTo>
                  <a:lnTo>
                    <a:pt x="516636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8" name="object 38"/>
            <p:cNvSpPr/>
            <p:nvPr/>
          </p:nvSpPr>
          <p:spPr>
            <a:xfrm>
              <a:off x="1161287" y="2857499"/>
              <a:ext cx="516890" cy="288290"/>
            </a:xfrm>
            <a:custGeom>
              <a:avLst/>
              <a:gdLst/>
              <a:ahLst/>
              <a:cxnLst/>
              <a:rect l="l" t="t" r="r" b="b"/>
              <a:pathLst>
                <a:path w="516889" h="288289">
                  <a:moveTo>
                    <a:pt x="0" y="288036"/>
                  </a:moveTo>
                  <a:lnTo>
                    <a:pt x="516636" y="288036"/>
                  </a:lnTo>
                  <a:lnTo>
                    <a:pt x="516636" y="0"/>
                  </a:lnTo>
                  <a:lnTo>
                    <a:pt x="0" y="0"/>
                  </a:lnTo>
                  <a:lnTo>
                    <a:pt x="0" y="288036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39" name="object 3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6823" y="3145536"/>
              <a:ext cx="76200" cy="22860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1123" y="3145536"/>
              <a:ext cx="76200" cy="22860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5423" y="3145536"/>
              <a:ext cx="76200" cy="22860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82623" y="3145536"/>
              <a:ext cx="76200" cy="22860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96923" y="3145536"/>
              <a:ext cx="76200" cy="228600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874509" y="2878835"/>
              <a:ext cx="287020" cy="762000"/>
            </a:xfrm>
            <a:custGeom>
              <a:avLst/>
              <a:gdLst/>
              <a:ahLst/>
              <a:cxnLst/>
              <a:rect l="l" t="t" r="r" b="b"/>
              <a:pathLst>
                <a:path w="287019" h="762000">
                  <a:moveTo>
                    <a:pt x="286778" y="658114"/>
                  </a:moveTo>
                  <a:lnTo>
                    <a:pt x="134378" y="658114"/>
                  </a:lnTo>
                  <a:lnTo>
                    <a:pt x="134378" y="626364"/>
                  </a:lnTo>
                  <a:lnTo>
                    <a:pt x="58178" y="664464"/>
                  </a:lnTo>
                  <a:lnTo>
                    <a:pt x="117614" y="694182"/>
                  </a:lnTo>
                  <a:lnTo>
                    <a:pt x="58178" y="723900"/>
                  </a:lnTo>
                  <a:lnTo>
                    <a:pt x="134378" y="762000"/>
                  </a:lnTo>
                  <a:lnTo>
                    <a:pt x="134378" y="730250"/>
                  </a:lnTo>
                  <a:lnTo>
                    <a:pt x="286778" y="730250"/>
                  </a:lnTo>
                  <a:lnTo>
                    <a:pt x="286778" y="717550"/>
                  </a:lnTo>
                  <a:lnTo>
                    <a:pt x="134378" y="717550"/>
                  </a:lnTo>
                  <a:lnTo>
                    <a:pt x="134378" y="702564"/>
                  </a:lnTo>
                  <a:lnTo>
                    <a:pt x="134378" y="685800"/>
                  </a:lnTo>
                  <a:lnTo>
                    <a:pt x="134378" y="670814"/>
                  </a:lnTo>
                  <a:lnTo>
                    <a:pt x="286778" y="670814"/>
                  </a:lnTo>
                  <a:lnTo>
                    <a:pt x="286778" y="658114"/>
                  </a:lnTo>
                  <a:close/>
                </a:path>
                <a:path w="287019" h="762000">
                  <a:moveTo>
                    <a:pt x="286778" y="609600"/>
                  </a:moveTo>
                  <a:lnTo>
                    <a:pt x="274078" y="603250"/>
                  </a:lnTo>
                  <a:lnTo>
                    <a:pt x="210578" y="571500"/>
                  </a:lnTo>
                  <a:lnTo>
                    <a:pt x="210578" y="603250"/>
                  </a:lnTo>
                  <a:lnTo>
                    <a:pt x="58178" y="603250"/>
                  </a:lnTo>
                  <a:lnTo>
                    <a:pt x="58178" y="615950"/>
                  </a:lnTo>
                  <a:lnTo>
                    <a:pt x="210578" y="615950"/>
                  </a:lnTo>
                  <a:lnTo>
                    <a:pt x="210578" y="647700"/>
                  </a:lnTo>
                  <a:lnTo>
                    <a:pt x="274078" y="615950"/>
                  </a:lnTo>
                  <a:lnTo>
                    <a:pt x="286778" y="609600"/>
                  </a:lnTo>
                  <a:close/>
                </a:path>
                <a:path w="287019" h="762000">
                  <a:moveTo>
                    <a:pt x="286778" y="266700"/>
                  </a:moveTo>
                  <a:lnTo>
                    <a:pt x="201815" y="273050"/>
                  </a:lnTo>
                  <a:lnTo>
                    <a:pt x="218059" y="300278"/>
                  </a:lnTo>
                  <a:lnTo>
                    <a:pt x="63" y="430403"/>
                  </a:lnTo>
                  <a:lnTo>
                    <a:pt x="6565" y="441325"/>
                  </a:lnTo>
                  <a:lnTo>
                    <a:pt x="224586" y="311200"/>
                  </a:lnTo>
                  <a:lnTo>
                    <a:pt x="233527" y="326186"/>
                  </a:lnTo>
                  <a:lnTo>
                    <a:pt x="201904" y="328930"/>
                  </a:lnTo>
                  <a:lnTo>
                    <a:pt x="218503" y="356006"/>
                  </a:lnTo>
                  <a:lnTo>
                    <a:pt x="0" y="489839"/>
                  </a:lnTo>
                  <a:lnTo>
                    <a:pt x="6629" y="500761"/>
                  </a:lnTo>
                  <a:lnTo>
                    <a:pt x="225132" y="366814"/>
                  </a:lnTo>
                  <a:lnTo>
                    <a:pt x="241719" y="393827"/>
                  </a:lnTo>
                  <a:lnTo>
                    <a:pt x="269430" y="349377"/>
                  </a:lnTo>
                  <a:lnTo>
                    <a:pt x="286778" y="321564"/>
                  </a:lnTo>
                  <a:lnTo>
                    <a:pt x="249605" y="324789"/>
                  </a:lnTo>
                  <a:lnTo>
                    <a:pt x="269468" y="293751"/>
                  </a:lnTo>
                  <a:lnTo>
                    <a:pt x="286778" y="266700"/>
                  </a:lnTo>
                  <a:close/>
                </a:path>
                <a:path w="287019" h="762000">
                  <a:moveTo>
                    <a:pt x="286778" y="152400"/>
                  </a:moveTo>
                  <a:lnTo>
                    <a:pt x="274078" y="146050"/>
                  </a:lnTo>
                  <a:lnTo>
                    <a:pt x="210578" y="114300"/>
                  </a:lnTo>
                  <a:lnTo>
                    <a:pt x="210578" y="146050"/>
                  </a:lnTo>
                  <a:lnTo>
                    <a:pt x="58178" y="146050"/>
                  </a:lnTo>
                  <a:lnTo>
                    <a:pt x="58178" y="158750"/>
                  </a:lnTo>
                  <a:lnTo>
                    <a:pt x="210578" y="158750"/>
                  </a:lnTo>
                  <a:lnTo>
                    <a:pt x="210578" y="169164"/>
                  </a:lnTo>
                  <a:lnTo>
                    <a:pt x="210578" y="190500"/>
                  </a:lnTo>
                  <a:lnTo>
                    <a:pt x="210578" y="200914"/>
                  </a:lnTo>
                  <a:lnTo>
                    <a:pt x="58178" y="200914"/>
                  </a:lnTo>
                  <a:lnTo>
                    <a:pt x="58178" y="213614"/>
                  </a:lnTo>
                  <a:lnTo>
                    <a:pt x="210578" y="213614"/>
                  </a:lnTo>
                  <a:lnTo>
                    <a:pt x="210578" y="245364"/>
                  </a:lnTo>
                  <a:lnTo>
                    <a:pt x="274078" y="213614"/>
                  </a:lnTo>
                  <a:lnTo>
                    <a:pt x="286778" y="207264"/>
                  </a:lnTo>
                  <a:lnTo>
                    <a:pt x="274078" y="200914"/>
                  </a:lnTo>
                  <a:lnTo>
                    <a:pt x="231914" y="179832"/>
                  </a:lnTo>
                  <a:lnTo>
                    <a:pt x="274078" y="158750"/>
                  </a:lnTo>
                  <a:lnTo>
                    <a:pt x="286778" y="152400"/>
                  </a:lnTo>
                  <a:close/>
                </a:path>
                <a:path w="287019" h="762000">
                  <a:moveTo>
                    <a:pt x="286778" y="86614"/>
                  </a:moveTo>
                  <a:lnTo>
                    <a:pt x="134378" y="86614"/>
                  </a:lnTo>
                  <a:lnTo>
                    <a:pt x="134378" y="54864"/>
                  </a:lnTo>
                  <a:lnTo>
                    <a:pt x="58178" y="92964"/>
                  </a:lnTo>
                  <a:lnTo>
                    <a:pt x="134378" y="131064"/>
                  </a:lnTo>
                  <a:lnTo>
                    <a:pt x="134378" y="99314"/>
                  </a:lnTo>
                  <a:lnTo>
                    <a:pt x="286778" y="99314"/>
                  </a:lnTo>
                  <a:lnTo>
                    <a:pt x="286778" y="86614"/>
                  </a:lnTo>
                  <a:close/>
                </a:path>
                <a:path w="287019" h="762000">
                  <a:moveTo>
                    <a:pt x="286778" y="38100"/>
                  </a:moveTo>
                  <a:lnTo>
                    <a:pt x="274078" y="31750"/>
                  </a:lnTo>
                  <a:lnTo>
                    <a:pt x="210578" y="0"/>
                  </a:lnTo>
                  <a:lnTo>
                    <a:pt x="210578" y="31750"/>
                  </a:lnTo>
                  <a:lnTo>
                    <a:pt x="58178" y="31750"/>
                  </a:lnTo>
                  <a:lnTo>
                    <a:pt x="58178" y="44450"/>
                  </a:lnTo>
                  <a:lnTo>
                    <a:pt x="210578" y="44450"/>
                  </a:lnTo>
                  <a:lnTo>
                    <a:pt x="210578" y="76200"/>
                  </a:lnTo>
                  <a:lnTo>
                    <a:pt x="274078" y="44450"/>
                  </a:lnTo>
                  <a:lnTo>
                    <a:pt x="286778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714993" y="2534921"/>
            <a:ext cx="1888913" cy="296661"/>
          </a:xfrm>
          <a:prstGeom prst="rect">
            <a:avLst/>
          </a:prstGeom>
        </p:spPr>
        <p:txBody>
          <a:bodyPr vert="horz" wrap="square" lIns="0" tIns="19472" rIns="0" bIns="0" rtlCol="0">
            <a:spAutoFit/>
          </a:bodyPr>
          <a:lstStyle/>
          <a:p>
            <a:pPr marL="16933">
              <a:spcBef>
                <a:spcPts val="152"/>
              </a:spcBef>
            </a:pPr>
            <a:r>
              <a:rPr b="1" dirty="0">
                <a:latin typeface="Comic Sans MS"/>
                <a:cs typeface="Comic Sans MS"/>
              </a:rPr>
              <a:t>No</a:t>
            </a:r>
            <a:r>
              <a:rPr b="1" spc="7" dirty="0">
                <a:latin typeface="Comic Sans MS"/>
                <a:cs typeface="Comic Sans MS"/>
              </a:rPr>
              <a:t> </a:t>
            </a:r>
            <a:r>
              <a:rPr b="1" spc="-13" dirty="0">
                <a:latin typeface="Comic Sans MS"/>
                <a:cs typeface="Comic Sans MS"/>
              </a:rPr>
              <a:t>dependencies</a:t>
            </a:r>
            <a:endParaRPr>
              <a:latin typeface="Comic Sans MS"/>
              <a:cs typeface="Comic Sans MS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357880" y="2432406"/>
            <a:ext cx="3962400" cy="297517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6933">
              <a:spcBef>
                <a:spcPts val="160"/>
              </a:spcBef>
            </a:pPr>
            <a:r>
              <a:rPr b="1" dirty="0">
                <a:latin typeface="Comic Sans MS"/>
                <a:cs typeface="Comic Sans MS"/>
              </a:rPr>
              <a:t>Loosely</a:t>
            </a:r>
            <a:r>
              <a:rPr b="1" spc="20" dirty="0">
                <a:latin typeface="Comic Sans MS"/>
                <a:cs typeface="Comic Sans MS"/>
              </a:rPr>
              <a:t> </a:t>
            </a:r>
            <a:r>
              <a:rPr b="1" dirty="0">
                <a:latin typeface="Comic Sans MS"/>
                <a:cs typeface="Comic Sans MS"/>
              </a:rPr>
              <a:t>coupled-some</a:t>
            </a:r>
            <a:r>
              <a:rPr b="1" spc="-87" dirty="0">
                <a:latin typeface="Comic Sans MS"/>
                <a:cs typeface="Comic Sans MS"/>
              </a:rPr>
              <a:t> </a:t>
            </a:r>
            <a:r>
              <a:rPr b="1" spc="-13" dirty="0">
                <a:latin typeface="Comic Sans MS"/>
                <a:cs typeface="Comic Sans MS"/>
              </a:rPr>
              <a:t>dependencies</a:t>
            </a:r>
            <a:endParaRPr>
              <a:latin typeface="Comic Sans MS"/>
              <a:cs typeface="Comic Sans MS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63031" y="5034554"/>
            <a:ext cx="3865880" cy="297517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6933">
              <a:spcBef>
                <a:spcPts val="160"/>
              </a:spcBef>
            </a:pPr>
            <a:r>
              <a:rPr b="1" dirty="0">
                <a:latin typeface="Comic Sans MS"/>
                <a:cs typeface="Comic Sans MS"/>
              </a:rPr>
              <a:t>Highly coupled-many</a:t>
            </a:r>
            <a:r>
              <a:rPr b="1" spc="-40" dirty="0">
                <a:latin typeface="Comic Sans MS"/>
                <a:cs typeface="Comic Sans MS"/>
              </a:rPr>
              <a:t> </a:t>
            </a:r>
            <a:r>
              <a:rPr b="1" spc="-13" dirty="0">
                <a:latin typeface="Comic Sans MS"/>
                <a:cs typeface="Comic Sans MS"/>
              </a:rPr>
              <a:t>dependencies</a:t>
            </a:r>
            <a:endParaRPr dirty="0">
              <a:latin typeface="Comic Sans MS"/>
              <a:cs typeface="Comic Sans MS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863502" y="1255539"/>
            <a:ext cx="4017433" cy="2602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2400" b="1" dirty="0">
                <a:solidFill>
                  <a:srgbClr val="000066"/>
                </a:solidFill>
                <a:latin typeface="Comic Sans MS"/>
                <a:cs typeface="Comic Sans MS"/>
              </a:rPr>
              <a:t>High</a:t>
            </a:r>
            <a:r>
              <a:rPr sz="2400" b="1" spc="-40" dirty="0">
                <a:solidFill>
                  <a:srgbClr val="000066"/>
                </a:solidFill>
                <a:latin typeface="Comic Sans MS"/>
                <a:cs typeface="Comic Sans MS"/>
              </a:rPr>
              <a:t> </a:t>
            </a:r>
            <a:r>
              <a:rPr sz="2400" b="1" dirty="0">
                <a:solidFill>
                  <a:srgbClr val="000066"/>
                </a:solidFill>
                <a:latin typeface="Comic Sans MS"/>
                <a:cs typeface="Comic Sans MS"/>
              </a:rPr>
              <a:t>coupling</a:t>
            </a:r>
            <a:r>
              <a:rPr sz="2400" b="1" spc="-80" dirty="0">
                <a:solidFill>
                  <a:srgbClr val="000066"/>
                </a:solidFill>
                <a:latin typeface="Comic Sans MS"/>
                <a:cs typeface="Comic Sans MS"/>
              </a:rPr>
              <a:t> </a:t>
            </a:r>
            <a:r>
              <a:rPr sz="2400" b="1" spc="-13" dirty="0">
                <a:solidFill>
                  <a:srgbClr val="000066"/>
                </a:solidFill>
                <a:latin typeface="Comic Sans MS"/>
                <a:cs typeface="Comic Sans MS"/>
              </a:rPr>
              <a:t>makes </a:t>
            </a:r>
            <a:r>
              <a:rPr sz="2400" b="1" dirty="0">
                <a:solidFill>
                  <a:srgbClr val="000066"/>
                </a:solidFill>
                <a:latin typeface="Comic Sans MS"/>
                <a:cs typeface="Comic Sans MS"/>
              </a:rPr>
              <a:t>modifying</a:t>
            </a:r>
            <a:r>
              <a:rPr sz="2400" b="1" spc="-7" dirty="0">
                <a:solidFill>
                  <a:srgbClr val="000066"/>
                </a:solidFill>
                <a:latin typeface="Comic Sans MS"/>
                <a:cs typeface="Comic Sans MS"/>
              </a:rPr>
              <a:t> </a:t>
            </a:r>
            <a:r>
              <a:rPr sz="2400" b="1" dirty="0">
                <a:solidFill>
                  <a:srgbClr val="000066"/>
                </a:solidFill>
                <a:latin typeface="Comic Sans MS"/>
                <a:cs typeface="Comic Sans MS"/>
              </a:rPr>
              <a:t>parts</a:t>
            </a:r>
            <a:r>
              <a:rPr sz="2400" b="1" spc="-73" dirty="0">
                <a:solidFill>
                  <a:srgbClr val="000066"/>
                </a:solidFill>
                <a:latin typeface="Comic Sans MS"/>
                <a:cs typeface="Comic Sans MS"/>
              </a:rPr>
              <a:t> </a:t>
            </a:r>
            <a:r>
              <a:rPr sz="2400" b="1" dirty="0">
                <a:solidFill>
                  <a:srgbClr val="000066"/>
                </a:solidFill>
                <a:latin typeface="Comic Sans MS"/>
                <a:cs typeface="Comic Sans MS"/>
              </a:rPr>
              <a:t>of</a:t>
            </a:r>
            <a:r>
              <a:rPr sz="2400" b="1" spc="-33" dirty="0">
                <a:solidFill>
                  <a:srgbClr val="000066"/>
                </a:solidFill>
                <a:latin typeface="Comic Sans MS"/>
                <a:cs typeface="Comic Sans MS"/>
              </a:rPr>
              <a:t> the </a:t>
            </a:r>
            <a:r>
              <a:rPr sz="2400" b="1" dirty="0">
                <a:solidFill>
                  <a:srgbClr val="000066"/>
                </a:solidFill>
                <a:latin typeface="Comic Sans MS"/>
                <a:cs typeface="Comic Sans MS"/>
              </a:rPr>
              <a:t>system</a:t>
            </a:r>
            <a:r>
              <a:rPr sz="2400" b="1" spc="-33" dirty="0">
                <a:solidFill>
                  <a:srgbClr val="000066"/>
                </a:solidFill>
                <a:latin typeface="Comic Sans MS"/>
                <a:cs typeface="Comic Sans MS"/>
              </a:rPr>
              <a:t> </a:t>
            </a:r>
            <a:r>
              <a:rPr sz="2400" b="1" dirty="0">
                <a:solidFill>
                  <a:srgbClr val="000066"/>
                </a:solidFill>
                <a:latin typeface="Comic Sans MS"/>
                <a:cs typeface="Comic Sans MS"/>
              </a:rPr>
              <a:t>difficult,</a:t>
            </a:r>
            <a:r>
              <a:rPr sz="2400" b="1" spc="-120" dirty="0">
                <a:solidFill>
                  <a:srgbClr val="000066"/>
                </a:solidFill>
                <a:latin typeface="Comic Sans MS"/>
                <a:cs typeface="Comic Sans MS"/>
              </a:rPr>
              <a:t> </a:t>
            </a:r>
            <a:r>
              <a:rPr sz="2400" b="1" spc="-27" dirty="0">
                <a:solidFill>
                  <a:srgbClr val="000066"/>
                </a:solidFill>
                <a:latin typeface="Comic Sans MS"/>
                <a:cs typeface="Comic Sans MS"/>
              </a:rPr>
              <a:t>e.g., </a:t>
            </a:r>
            <a:r>
              <a:rPr sz="2400" b="1" dirty="0">
                <a:solidFill>
                  <a:srgbClr val="000066"/>
                </a:solidFill>
                <a:latin typeface="Comic Sans MS"/>
                <a:cs typeface="Comic Sans MS"/>
              </a:rPr>
              <a:t>modifying</a:t>
            </a:r>
            <a:r>
              <a:rPr sz="2400" b="1" spc="-20" dirty="0">
                <a:solidFill>
                  <a:srgbClr val="000066"/>
                </a:solidFill>
                <a:latin typeface="Comic Sans MS"/>
                <a:cs typeface="Comic Sans MS"/>
              </a:rPr>
              <a:t> </a:t>
            </a:r>
            <a:r>
              <a:rPr sz="2400" b="1" dirty="0">
                <a:solidFill>
                  <a:srgbClr val="000066"/>
                </a:solidFill>
                <a:latin typeface="Comic Sans MS"/>
                <a:cs typeface="Comic Sans MS"/>
              </a:rPr>
              <a:t>a</a:t>
            </a:r>
            <a:r>
              <a:rPr sz="2400" b="1" spc="-67" dirty="0">
                <a:solidFill>
                  <a:srgbClr val="000066"/>
                </a:solidFill>
                <a:latin typeface="Comic Sans MS"/>
                <a:cs typeface="Comic Sans MS"/>
              </a:rPr>
              <a:t> </a:t>
            </a:r>
            <a:r>
              <a:rPr sz="2400" b="1" spc="-13" dirty="0">
                <a:solidFill>
                  <a:srgbClr val="000066"/>
                </a:solidFill>
                <a:latin typeface="Comic Sans MS"/>
                <a:cs typeface="Comic Sans MS"/>
              </a:rPr>
              <a:t>component </a:t>
            </a:r>
            <a:r>
              <a:rPr sz="2400" b="1" dirty="0">
                <a:solidFill>
                  <a:srgbClr val="000066"/>
                </a:solidFill>
                <a:latin typeface="Comic Sans MS"/>
                <a:cs typeface="Comic Sans MS"/>
              </a:rPr>
              <a:t>affects</a:t>
            </a:r>
            <a:r>
              <a:rPr sz="2400" b="1" spc="-13" dirty="0">
                <a:solidFill>
                  <a:srgbClr val="000066"/>
                </a:solidFill>
                <a:latin typeface="Comic Sans MS"/>
                <a:cs typeface="Comic Sans MS"/>
              </a:rPr>
              <a:t> </a:t>
            </a:r>
            <a:r>
              <a:rPr sz="2400" b="1" dirty="0">
                <a:solidFill>
                  <a:srgbClr val="000066"/>
                </a:solidFill>
                <a:latin typeface="Comic Sans MS"/>
                <a:cs typeface="Comic Sans MS"/>
              </a:rPr>
              <a:t>all</a:t>
            </a:r>
            <a:r>
              <a:rPr sz="2400" b="1" spc="-87" dirty="0">
                <a:solidFill>
                  <a:srgbClr val="000066"/>
                </a:solidFill>
                <a:latin typeface="Comic Sans MS"/>
                <a:cs typeface="Comic Sans MS"/>
              </a:rPr>
              <a:t> </a:t>
            </a:r>
            <a:r>
              <a:rPr sz="2400" b="1" dirty="0">
                <a:solidFill>
                  <a:srgbClr val="000066"/>
                </a:solidFill>
                <a:latin typeface="Comic Sans MS"/>
                <a:cs typeface="Comic Sans MS"/>
              </a:rPr>
              <a:t>the</a:t>
            </a:r>
            <a:r>
              <a:rPr sz="2400" b="1" spc="-40" dirty="0">
                <a:solidFill>
                  <a:srgbClr val="000066"/>
                </a:solidFill>
                <a:latin typeface="Comic Sans MS"/>
                <a:cs typeface="Comic Sans MS"/>
              </a:rPr>
              <a:t> </a:t>
            </a:r>
            <a:r>
              <a:rPr sz="2400" b="1" spc="-13" dirty="0">
                <a:solidFill>
                  <a:srgbClr val="000066"/>
                </a:solidFill>
                <a:latin typeface="Comic Sans MS"/>
                <a:cs typeface="Comic Sans MS"/>
              </a:rPr>
              <a:t>components </a:t>
            </a:r>
            <a:r>
              <a:rPr sz="2400" b="1" dirty="0">
                <a:solidFill>
                  <a:srgbClr val="000066"/>
                </a:solidFill>
                <a:latin typeface="Comic Sans MS"/>
                <a:cs typeface="Comic Sans MS"/>
              </a:rPr>
              <a:t>to</a:t>
            </a:r>
            <a:r>
              <a:rPr sz="2400" b="1" spc="-33" dirty="0">
                <a:solidFill>
                  <a:srgbClr val="000066"/>
                </a:solidFill>
                <a:latin typeface="Comic Sans MS"/>
                <a:cs typeface="Comic Sans MS"/>
              </a:rPr>
              <a:t> </a:t>
            </a:r>
            <a:r>
              <a:rPr sz="2400" b="1" dirty="0">
                <a:solidFill>
                  <a:srgbClr val="000066"/>
                </a:solidFill>
                <a:latin typeface="Comic Sans MS"/>
                <a:cs typeface="Comic Sans MS"/>
              </a:rPr>
              <a:t>which</a:t>
            </a:r>
            <a:r>
              <a:rPr sz="2400" b="1" spc="-53" dirty="0">
                <a:solidFill>
                  <a:srgbClr val="000066"/>
                </a:solidFill>
                <a:latin typeface="Comic Sans MS"/>
                <a:cs typeface="Comic Sans MS"/>
              </a:rPr>
              <a:t> </a:t>
            </a:r>
            <a:r>
              <a:rPr sz="2400" b="1" dirty="0">
                <a:solidFill>
                  <a:srgbClr val="000066"/>
                </a:solidFill>
                <a:latin typeface="Comic Sans MS"/>
                <a:cs typeface="Comic Sans MS"/>
              </a:rPr>
              <a:t>the</a:t>
            </a:r>
            <a:r>
              <a:rPr sz="2400" b="1" spc="-53" dirty="0">
                <a:solidFill>
                  <a:srgbClr val="000066"/>
                </a:solidFill>
                <a:latin typeface="Comic Sans MS"/>
                <a:cs typeface="Comic Sans MS"/>
              </a:rPr>
              <a:t> </a:t>
            </a:r>
            <a:r>
              <a:rPr sz="2400" b="1" dirty="0">
                <a:solidFill>
                  <a:srgbClr val="000066"/>
                </a:solidFill>
                <a:latin typeface="Comic Sans MS"/>
                <a:cs typeface="Comic Sans MS"/>
              </a:rPr>
              <a:t>component</a:t>
            </a:r>
            <a:r>
              <a:rPr sz="2400" b="1" spc="-40" dirty="0">
                <a:solidFill>
                  <a:srgbClr val="000066"/>
                </a:solidFill>
                <a:latin typeface="Comic Sans MS"/>
                <a:cs typeface="Comic Sans MS"/>
              </a:rPr>
              <a:t> </a:t>
            </a:r>
            <a:r>
              <a:rPr sz="2400" b="1" spc="-33" dirty="0">
                <a:solidFill>
                  <a:srgbClr val="000066"/>
                </a:solidFill>
                <a:latin typeface="Comic Sans MS"/>
                <a:cs typeface="Comic Sans MS"/>
              </a:rPr>
              <a:t>is </a:t>
            </a:r>
            <a:r>
              <a:rPr sz="2400" b="1" spc="-13" dirty="0">
                <a:solidFill>
                  <a:srgbClr val="000066"/>
                </a:solidFill>
                <a:latin typeface="Comic Sans MS"/>
                <a:cs typeface="Comic Sans MS"/>
              </a:rPr>
              <a:t>connected.</a:t>
            </a:r>
            <a:endParaRPr sz="2400">
              <a:latin typeface="Comic Sans MS"/>
              <a:cs typeface="Comic Sans MS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776298" y="4303370"/>
            <a:ext cx="4384039" cy="1007926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650224" marR="6773" indent="2890448" algn="r">
              <a:lnSpc>
                <a:spcPct val="129099"/>
              </a:lnSpc>
              <a:spcBef>
                <a:spcPts val="127"/>
              </a:spcBef>
            </a:pPr>
            <a:r>
              <a:rPr spc="-13" dirty="0">
                <a:latin typeface="Comic Sans MS"/>
                <a:cs typeface="Comic Sans MS"/>
              </a:rPr>
              <a:t>Source: </a:t>
            </a:r>
            <a:r>
              <a:rPr dirty="0">
                <a:latin typeface="Comic Sans MS"/>
                <a:cs typeface="Comic Sans MS"/>
              </a:rPr>
              <a:t>Pfleeger,</a:t>
            </a:r>
            <a:r>
              <a:rPr spc="-47" dirty="0">
                <a:latin typeface="Comic Sans MS"/>
                <a:cs typeface="Comic Sans MS"/>
              </a:rPr>
              <a:t> </a:t>
            </a:r>
            <a:r>
              <a:rPr dirty="0">
                <a:latin typeface="Comic Sans MS"/>
                <a:cs typeface="Comic Sans MS"/>
              </a:rPr>
              <a:t>S.,</a:t>
            </a:r>
            <a:r>
              <a:rPr spc="-40" dirty="0">
                <a:latin typeface="Comic Sans MS"/>
                <a:cs typeface="Comic Sans MS"/>
              </a:rPr>
              <a:t> </a:t>
            </a:r>
            <a:r>
              <a:rPr i="1" dirty="0">
                <a:latin typeface="Comic Sans MS"/>
                <a:cs typeface="Comic Sans MS"/>
              </a:rPr>
              <a:t>Software</a:t>
            </a:r>
            <a:r>
              <a:rPr i="1" spc="-53" dirty="0">
                <a:latin typeface="Comic Sans MS"/>
                <a:cs typeface="Comic Sans MS"/>
              </a:rPr>
              <a:t> </a:t>
            </a:r>
            <a:r>
              <a:rPr i="1" spc="-13" dirty="0">
                <a:latin typeface="Comic Sans MS"/>
                <a:cs typeface="Comic Sans MS"/>
              </a:rPr>
              <a:t>Engineering</a:t>
            </a:r>
            <a:endParaRPr>
              <a:latin typeface="Comic Sans MS"/>
              <a:cs typeface="Comic Sans MS"/>
            </a:endParaRPr>
          </a:p>
          <a:p>
            <a:pPr marR="11853" algn="r"/>
            <a:r>
              <a:rPr i="1" dirty="0">
                <a:latin typeface="Comic Sans MS"/>
                <a:cs typeface="Comic Sans MS"/>
              </a:rPr>
              <a:t>Theory</a:t>
            </a:r>
            <a:r>
              <a:rPr i="1" spc="-87" dirty="0">
                <a:latin typeface="Comic Sans MS"/>
                <a:cs typeface="Comic Sans MS"/>
              </a:rPr>
              <a:t> </a:t>
            </a:r>
            <a:r>
              <a:rPr i="1" dirty="0">
                <a:latin typeface="Comic Sans MS"/>
                <a:cs typeface="Comic Sans MS"/>
              </a:rPr>
              <a:t>and Practice.</a:t>
            </a:r>
            <a:r>
              <a:rPr i="1" spc="-113" dirty="0">
                <a:latin typeface="Comic Sans MS"/>
                <a:cs typeface="Comic Sans MS"/>
              </a:rPr>
              <a:t> </a:t>
            </a:r>
            <a:r>
              <a:rPr i="1" dirty="0">
                <a:latin typeface="Comic Sans MS"/>
                <a:cs typeface="Comic Sans MS"/>
              </a:rPr>
              <a:t>Prentice</a:t>
            </a:r>
            <a:r>
              <a:rPr i="1" spc="-187" dirty="0">
                <a:latin typeface="Comic Sans MS"/>
                <a:cs typeface="Comic Sans MS"/>
              </a:rPr>
              <a:t> </a:t>
            </a:r>
            <a:r>
              <a:rPr i="1" dirty="0">
                <a:latin typeface="Comic Sans MS"/>
                <a:cs typeface="Comic Sans MS"/>
              </a:rPr>
              <a:t>Hall,</a:t>
            </a:r>
            <a:r>
              <a:rPr i="1" spc="40" dirty="0">
                <a:latin typeface="Comic Sans MS"/>
                <a:cs typeface="Comic Sans MS"/>
              </a:rPr>
              <a:t> </a:t>
            </a:r>
            <a:r>
              <a:rPr i="1" spc="-27" dirty="0">
                <a:latin typeface="Comic Sans MS"/>
                <a:cs typeface="Comic Sans MS"/>
              </a:rPr>
              <a:t>2001.</a:t>
            </a:r>
            <a:endParaRPr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36769206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26138" y="380094"/>
            <a:ext cx="5844119" cy="674608"/>
          </a:xfrm>
          <a:prstGeom prst="rect">
            <a:avLst/>
          </a:prstGeom>
        </p:spPr>
        <p:txBody>
          <a:bodyPr vert="horz" wrap="square" lIns="0" tIns="17780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40"/>
              </a:spcBef>
            </a:pPr>
            <a:r>
              <a:rPr sz="4267" dirty="0"/>
              <a:t>Cohesion</a:t>
            </a:r>
            <a:r>
              <a:rPr sz="4267" spc="-100" dirty="0"/>
              <a:t> </a:t>
            </a:r>
            <a:r>
              <a:rPr sz="4267" dirty="0"/>
              <a:t>and</a:t>
            </a:r>
            <a:r>
              <a:rPr sz="4267" spc="-40" dirty="0"/>
              <a:t> </a:t>
            </a:r>
            <a:r>
              <a:rPr sz="4267" spc="-13" dirty="0"/>
              <a:t>Coupling</a:t>
            </a:r>
            <a:endParaRPr sz="4267" dirty="0"/>
          </a:p>
        </p:txBody>
      </p:sp>
      <p:sp>
        <p:nvSpPr>
          <p:cNvPr id="3" name="object 3"/>
          <p:cNvSpPr txBox="1"/>
          <p:nvPr/>
        </p:nvSpPr>
        <p:spPr>
          <a:xfrm>
            <a:off x="614680" y="1054702"/>
            <a:ext cx="11577320" cy="4963452"/>
          </a:xfrm>
          <a:prstGeom prst="rect">
            <a:avLst/>
          </a:prstGeom>
        </p:spPr>
        <p:txBody>
          <a:bodyPr vert="horz" wrap="square" lIns="0" tIns="301413" rIns="0" bIns="0" rtlCol="0">
            <a:spAutoFit/>
          </a:bodyPr>
          <a:lstStyle/>
          <a:p>
            <a:pPr marL="473275" indent="-456342">
              <a:spcBef>
                <a:spcPts val="2373"/>
              </a:spcBef>
              <a:buFont typeface="Arial MT"/>
              <a:buChar char="•"/>
              <a:tabLst>
                <a:tab pos="473275" algn="l"/>
              </a:tabLst>
            </a:pPr>
            <a:r>
              <a:rPr sz="3733" dirty="0">
                <a:latin typeface="Calibri"/>
                <a:cs typeface="Calibri"/>
              </a:rPr>
              <a:t>Cohesion</a:t>
            </a:r>
            <a:r>
              <a:rPr sz="3733" spc="-100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is</a:t>
            </a:r>
            <a:r>
              <a:rPr sz="3733" spc="-27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a</a:t>
            </a:r>
            <a:r>
              <a:rPr sz="3733" spc="-27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measure</a:t>
            </a:r>
            <a:r>
              <a:rPr sz="3733" spc="-80" dirty="0">
                <a:latin typeface="Calibri"/>
                <a:cs typeface="Calibri"/>
              </a:rPr>
              <a:t> </a:t>
            </a:r>
            <a:r>
              <a:rPr sz="3733" spc="-33" dirty="0">
                <a:latin typeface="Calibri"/>
                <a:cs typeface="Calibri"/>
              </a:rPr>
              <a:t>of:</a:t>
            </a:r>
            <a:endParaRPr sz="3733" dirty="0">
              <a:latin typeface="Calibri"/>
              <a:cs typeface="Calibri"/>
            </a:endParaRPr>
          </a:p>
          <a:p>
            <a:pPr marL="1009201" lvl="1" indent="-382684">
              <a:spcBef>
                <a:spcPts val="2247"/>
              </a:spcBef>
              <a:buFont typeface="Arial MT"/>
              <a:buChar char="–"/>
              <a:tabLst>
                <a:tab pos="1009201" algn="l"/>
              </a:tabLst>
            </a:pPr>
            <a:r>
              <a:rPr sz="3733" dirty="0">
                <a:latin typeface="Calibri"/>
                <a:cs typeface="Calibri"/>
              </a:rPr>
              <a:t>functional</a:t>
            </a:r>
            <a:r>
              <a:rPr sz="3733" spc="-47" dirty="0">
                <a:latin typeface="Calibri"/>
                <a:cs typeface="Calibri"/>
              </a:rPr>
              <a:t> </a:t>
            </a:r>
            <a:r>
              <a:rPr sz="3733" spc="-13" dirty="0">
                <a:latin typeface="Calibri"/>
                <a:cs typeface="Calibri"/>
              </a:rPr>
              <a:t>strength</a:t>
            </a:r>
            <a:r>
              <a:rPr sz="3733" spc="-100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of</a:t>
            </a:r>
            <a:r>
              <a:rPr sz="3733" spc="-53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a</a:t>
            </a:r>
            <a:r>
              <a:rPr sz="3733" spc="-20" dirty="0">
                <a:latin typeface="Calibri"/>
                <a:cs typeface="Calibri"/>
              </a:rPr>
              <a:t> </a:t>
            </a:r>
            <a:r>
              <a:rPr sz="3733" spc="-13" dirty="0">
                <a:latin typeface="Calibri"/>
                <a:cs typeface="Calibri"/>
              </a:rPr>
              <a:t>module.</a:t>
            </a:r>
            <a:endParaRPr sz="3733" dirty="0">
              <a:latin typeface="Calibri"/>
              <a:cs typeface="Calibri"/>
            </a:endParaRPr>
          </a:p>
          <a:p>
            <a:pPr marL="1009201" lvl="1" indent="-382684">
              <a:spcBef>
                <a:spcPts val="2200"/>
              </a:spcBef>
              <a:buFont typeface="Arial MT"/>
              <a:buChar char="–"/>
              <a:tabLst>
                <a:tab pos="1009201" algn="l"/>
              </a:tabLst>
            </a:pPr>
            <a:r>
              <a:rPr sz="3733" b="1" dirty="0">
                <a:solidFill>
                  <a:srgbClr val="0000FF"/>
                </a:solidFill>
                <a:latin typeface="Calibri"/>
                <a:cs typeface="Calibri"/>
              </a:rPr>
              <a:t>A</a:t>
            </a:r>
            <a:r>
              <a:rPr sz="3733" b="1" spc="-47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733" b="1" dirty="0">
                <a:solidFill>
                  <a:srgbClr val="0000FF"/>
                </a:solidFill>
                <a:latin typeface="Calibri"/>
                <a:cs typeface="Calibri"/>
              </a:rPr>
              <a:t>cohesive</a:t>
            </a:r>
            <a:r>
              <a:rPr sz="3733" b="1" spc="-8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733" b="1" dirty="0">
                <a:solidFill>
                  <a:srgbClr val="0000FF"/>
                </a:solidFill>
                <a:latin typeface="Calibri"/>
                <a:cs typeface="Calibri"/>
              </a:rPr>
              <a:t>module</a:t>
            </a:r>
            <a:r>
              <a:rPr sz="3733" b="1" spc="-87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733" b="1" dirty="0">
                <a:solidFill>
                  <a:srgbClr val="0000FF"/>
                </a:solidFill>
                <a:latin typeface="Calibri"/>
                <a:cs typeface="Calibri"/>
              </a:rPr>
              <a:t>performs</a:t>
            </a:r>
            <a:r>
              <a:rPr sz="3733" b="1" spc="-127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733" b="1" dirty="0">
                <a:solidFill>
                  <a:srgbClr val="0000FF"/>
                </a:solidFill>
                <a:latin typeface="Calibri"/>
                <a:cs typeface="Calibri"/>
              </a:rPr>
              <a:t>a</a:t>
            </a:r>
            <a:r>
              <a:rPr sz="3733" b="1" spc="-7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733" b="1" dirty="0">
                <a:solidFill>
                  <a:srgbClr val="0000FF"/>
                </a:solidFill>
                <a:latin typeface="Calibri"/>
                <a:cs typeface="Calibri"/>
              </a:rPr>
              <a:t>single</a:t>
            </a:r>
            <a:r>
              <a:rPr sz="3733" b="1" spc="-9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733" b="1" dirty="0">
                <a:solidFill>
                  <a:srgbClr val="0000FF"/>
                </a:solidFill>
                <a:latin typeface="Calibri"/>
                <a:cs typeface="Calibri"/>
              </a:rPr>
              <a:t>task</a:t>
            </a:r>
            <a:r>
              <a:rPr sz="3733" b="1" spc="-6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733" b="1" dirty="0">
                <a:solidFill>
                  <a:srgbClr val="0000FF"/>
                </a:solidFill>
                <a:latin typeface="Calibri"/>
                <a:cs typeface="Calibri"/>
              </a:rPr>
              <a:t>or</a:t>
            </a:r>
            <a:r>
              <a:rPr sz="3733" b="1" spc="-6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733" b="1" spc="-13" dirty="0">
                <a:solidFill>
                  <a:srgbClr val="0000FF"/>
                </a:solidFill>
                <a:latin typeface="Calibri"/>
                <a:cs typeface="Calibri"/>
              </a:rPr>
              <a:t>function.</a:t>
            </a:r>
            <a:endParaRPr sz="3733" dirty="0">
              <a:latin typeface="Calibri"/>
              <a:cs typeface="Calibri"/>
            </a:endParaRPr>
          </a:p>
          <a:p>
            <a:pPr marL="473275" indent="-456342">
              <a:spcBef>
                <a:spcPts val="2247"/>
              </a:spcBef>
              <a:buFont typeface="Arial MT"/>
              <a:buChar char="•"/>
              <a:tabLst>
                <a:tab pos="473275" algn="l"/>
              </a:tabLst>
            </a:pPr>
            <a:r>
              <a:rPr sz="3733" dirty="0">
                <a:latin typeface="Calibri"/>
                <a:cs typeface="Calibri"/>
              </a:rPr>
              <a:t>Coupling</a:t>
            </a:r>
            <a:r>
              <a:rPr sz="3733" spc="-100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between</a:t>
            </a:r>
            <a:r>
              <a:rPr sz="3733" spc="-113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two</a:t>
            </a:r>
            <a:r>
              <a:rPr sz="3733" spc="-60" dirty="0">
                <a:latin typeface="Calibri"/>
                <a:cs typeface="Calibri"/>
              </a:rPr>
              <a:t> </a:t>
            </a:r>
            <a:r>
              <a:rPr sz="3733" spc="-13" dirty="0">
                <a:latin typeface="Calibri"/>
                <a:cs typeface="Calibri"/>
              </a:rPr>
              <a:t>modules:</a:t>
            </a:r>
            <a:endParaRPr sz="3733" dirty="0">
              <a:latin typeface="Calibri"/>
              <a:cs typeface="Calibri"/>
            </a:endParaRPr>
          </a:p>
          <a:p>
            <a:pPr marL="1008355" marR="1103179" lvl="1" indent="-382684">
              <a:lnSpc>
                <a:spcPct val="113599"/>
              </a:lnSpc>
              <a:spcBef>
                <a:spcPts val="1640"/>
              </a:spcBef>
              <a:buFont typeface="Arial MT"/>
              <a:buChar char="–"/>
              <a:tabLst>
                <a:tab pos="1010895" algn="l"/>
                <a:tab pos="6583515" algn="l"/>
              </a:tabLst>
            </a:pPr>
            <a:r>
              <a:rPr sz="3733" b="1" dirty="0">
                <a:solidFill>
                  <a:srgbClr val="0000FF"/>
                </a:solidFill>
                <a:latin typeface="Calibri"/>
                <a:cs typeface="Calibri"/>
              </a:rPr>
              <a:t>A</a:t>
            </a:r>
            <a:r>
              <a:rPr sz="3733" b="1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733" b="1" dirty="0">
                <a:solidFill>
                  <a:srgbClr val="0000FF"/>
                </a:solidFill>
                <a:latin typeface="Calibri"/>
                <a:cs typeface="Calibri"/>
              </a:rPr>
              <a:t>measure</a:t>
            </a:r>
            <a:r>
              <a:rPr sz="3733" b="1" spc="-8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733" b="1" dirty="0">
                <a:solidFill>
                  <a:srgbClr val="0000FF"/>
                </a:solidFill>
                <a:latin typeface="Calibri"/>
                <a:cs typeface="Calibri"/>
              </a:rPr>
              <a:t>of</a:t>
            </a:r>
            <a:r>
              <a:rPr sz="3733" b="1" spc="-6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733" b="1" dirty="0">
                <a:solidFill>
                  <a:srgbClr val="0000FF"/>
                </a:solidFill>
                <a:latin typeface="Calibri"/>
                <a:cs typeface="Calibri"/>
              </a:rPr>
              <a:t>the</a:t>
            </a:r>
            <a:r>
              <a:rPr sz="3733" b="1" spc="-3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733" b="1" dirty="0">
                <a:solidFill>
                  <a:srgbClr val="0000FF"/>
                </a:solidFill>
                <a:latin typeface="Calibri"/>
                <a:cs typeface="Calibri"/>
              </a:rPr>
              <a:t>degree</a:t>
            </a:r>
            <a:r>
              <a:rPr sz="3733" b="1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733" b="1" spc="-33" dirty="0">
                <a:solidFill>
                  <a:srgbClr val="0000FF"/>
                </a:solidFill>
                <a:latin typeface="Calibri"/>
                <a:cs typeface="Calibri"/>
              </a:rPr>
              <a:t>of</a:t>
            </a:r>
            <a:r>
              <a:rPr sz="3733" b="1" dirty="0">
                <a:solidFill>
                  <a:srgbClr val="0000FF"/>
                </a:solidFill>
                <a:latin typeface="Calibri"/>
                <a:cs typeface="Calibri"/>
              </a:rPr>
              <a:t>	</a:t>
            </a:r>
            <a:r>
              <a:rPr sz="3733" b="1" spc="-13" dirty="0">
                <a:solidFill>
                  <a:srgbClr val="0000FF"/>
                </a:solidFill>
                <a:latin typeface="Calibri"/>
                <a:cs typeface="Calibri"/>
              </a:rPr>
              <a:t>interdependence</a:t>
            </a:r>
            <a:r>
              <a:rPr sz="3733" b="1" spc="-147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733" b="1" spc="-33" dirty="0">
                <a:solidFill>
                  <a:srgbClr val="0000FF"/>
                </a:solidFill>
                <a:latin typeface="Calibri"/>
                <a:cs typeface="Calibri"/>
              </a:rPr>
              <a:t>or 	</a:t>
            </a:r>
            <a:r>
              <a:rPr sz="3733" b="1" spc="-13" dirty="0">
                <a:solidFill>
                  <a:srgbClr val="0000FF"/>
                </a:solidFill>
                <a:latin typeface="Calibri"/>
                <a:cs typeface="Calibri"/>
              </a:rPr>
              <a:t>interaction</a:t>
            </a:r>
            <a:r>
              <a:rPr sz="3733" b="1" spc="-13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733" b="1" dirty="0">
                <a:solidFill>
                  <a:srgbClr val="0000FF"/>
                </a:solidFill>
                <a:latin typeface="Calibri"/>
                <a:cs typeface="Calibri"/>
              </a:rPr>
              <a:t>between</a:t>
            </a:r>
            <a:r>
              <a:rPr sz="3733" b="1" spc="-27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733" b="1" dirty="0">
                <a:solidFill>
                  <a:srgbClr val="0000FF"/>
                </a:solidFill>
                <a:latin typeface="Calibri"/>
                <a:cs typeface="Calibri"/>
              </a:rPr>
              <a:t>the</a:t>
            </a:r>
            <a:r>
              <a:rPr sz="3733" b="1" spc="-1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733" b="1" dirty="0">
                <a:solidFill>
                  <a:srgbClr val="0000FF"/>
                </a:solidFill>
                <a:latin typeface="Calibri"/>
                <a:cs typeface="Calibri"/>
              </a:rPr>
              <a:t>two</a:t>
            </a:r>
            <a:r>
              <a:rPr sz="3733" b="1" spc="-7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733" b="1" spc="-13" dirty="0">
                <a:solidFill>
                  <a:srgbClr val="0000FF"/>
                </a:solidFill>
                <a:latin typeface="Calibri"/>
                <a:cs typeface="Calibri"/>
              </a:rPr>
              <a:t>modules.</a:t>
            </a:r>
            <a:endParaRPr sz="3733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546103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40794" y="369859"/>
            <a:ext cx="6209683" cy="696772"/>
          </a:xfrm>
          <a:prstGeom prst="rect">
            <a:avLst/>
          </a:prstGeom>
        </p:spPr>
        <p:txBody>
          <a:bodyPr vert="horz" wrap="square" lIns="0" tIns="1947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53"/>
              </a:spcBef>
            </a:pPr>
            <a:r>
              <a:rPr dirty="0"/>
              <a:t>Cohesion</a:t>
            </a:r>
            <a:r>
              <a:rPr spc="-73" dirty="0"/>
              <a:t> </a:t>
            </a:r>
            <a:r>
              <a:rPr dirty="0"/>
              <a:t>and</a:t>
            </a:r>
            <a:r>
              <a:rPr spc="-73" dirty="0"/>
              <a:t> </a:t>
            </a:r>
            <a:r>
              <a:rPr spc="-13" dirty="0"/>
              <a:t>Coupling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83135" y="1225411"/>
            <a:ext cx="11185313" cy="3779838"/>
          </a:xfrm>
          <a:prstGeom prst="rect">
            <a:avLst/>
          </a:prstGeom>
        </p:spPr>
        <p:txBody>
          <a:bodyPr vert="horz" wrap="square" lIns="0" tIns="369147" rIns="0" bIns="0" rtlCol="0">
            <a:spAutoFit/>
          </a:bodyPr>
          <a:lstStyle/>
          <a:p>
            <a:pPr marL="473275" indent="-456342">
              <a:spcBef>
                <a:spcPts val="2907"/>
              </a:spcBef>
              <a:buFont typeface="Arial MT"/>
              <a:buChar char="•"/>
              <a:tabLst>
                <a:tab pos="473275" algn="l"/>
              </a:tabLst>
            </a:pPr>
            <a:r>
              <a:rPr sz="4000" dirty="0">
                <a:latin typeface="Calibri"/>
                <a:cs typeface="Calibri"/>
              </a:rPr>
              <a:t>A</a:t>
            </a:r>
            <a:r>
              <a:rPr sz="4000" spc="-93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module</a:t>
            </a:r>
            <a:r>
              <a:rPr sz="4000" spc="-107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having</a:t>
            </a:r>
            <a:r>
              <a:rPr sz="4000" spc="-67" dirty="0"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C00000"/>
                </a:solidFill>
                <a:latin typeface="Calibri"/>
                <a:cs typeface="Calibri"/>
              </a:rPr>
              <a:t>high</a:t>
            </a:r>
            <a:r>
              <a:rPr sz="4000" b="1" spc="-67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C00000"/>
                </a:solidFill>
                <a:latin typeface="Calibri"/>
                <a:cs typeface="Calibri"/>
              </a:rPr>
              <a:t>cohesion</a:t>
            </a:r>
            <a:r>
              <a:rPr sz="4000" b="1" spc="-73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sz="4000" b="1" spc="-107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C00000"/>
                </a:solidFill>
                <a:latin typeface="Calibri"/>
                <a:cs typeface="Calibri"/>
              </a:rPr>
              <a:t>low</a:t>
            </a:r>
            <a:r>
              <a:rPr sz="4000" b="1" spc="-73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4000" b="1" spc="-13" dirty="0">
                <a:solidFill>
                  <a:srgbClr val="C00000"/>
                </a:solidFill>
                <a:latin typeface="Calibri"/>
                <a:cs typeface="Calibri"/>
              </a:rPr>
              <a:t>coupling</a:t>
            </a:r>
            <a:r>
              <a:rPr sz="4000" spc="-13" dirty="0">
                <a:latin typeface="Calibri"/>
                <a:cs typeface="Calibri"/>
              </a:rPr>
              <a:t>:</a:t>
            </a:r>
            <a:endParaRPr sz="4000" dirty="0">
              <a:latin typeface="Calibri"/>
              <a:cs typeface="Calibri"/>
            </a:endParaRPr>
          </a:p>
          <a:p>
            <a:pPr marL="1010048" lvl="1" indent="-383530">
              <a:spcBef>
                <a:spcPts val="2520"/>
              </a:spcBef>
              <a:buFont typeface="Arial MT"/>
              <a:buChar char="–"/>
              <a:tabLst>
                <a:tab pos="1010048" algn="l"/>
              </a:tabLst>
            </a:pPr>
            <a:r>
              <a:rPr sz="3600" b="1" dirty="0">
                <a:solidFill>
                  <a:srgbClr val="0000FF"/>
                </a:solidFill>
                <a:latin typeface="Calibri"/>
                <a:cs typeface="Calibri"/>
              </a:rPr>
              <a:t>Called</a:t>
            </a:r>
            <a:r>
              <a:rPr sz="3600" b="1" spc="-7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000FF"/>
                </a:solidFill>
                <a:latin typeface="Calibri"/>
                <a:cs typeface="Calibri"/>
              </a:rPr>
              <a:t>functionally</a:t>
            </a:r>
            <a:r>
              <a:rPr sz="3600" b="1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000FF"/>
                </a:solidFill>
                <a:latin typeface="Calibri"/>
                <a:cs typeface="Calibri"/>
              </a:rPr>
              <a:t>independent</a:t>
            </a:r>
            <a:r>
              <a:rPr sz="3600" b="1" spc="27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000FF"/>
                </a:solidFill>
                <a:latin typeface="Calibri"/>
                <a:cs typeface="Calibri"/>
              </a:rPr>
              <a:t>of</a:t>
            </a:r>
            <a:r>
              <a:rPr sz="3600" spc="-107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000FF"/>
                </a:solidFill>
                <a:latin typeface="Calibri"/>
                <a:cs typeface="Calibri"/>
              </a:rPr>
              <a:t>other</a:t>
            </a:r>
            <a:r>
              <a:rPr sz="3600" spc="-10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600" spc="-13" dirty="0">
                <a:solidFill>
                  <a:srgbClr val="0000FF"/>
                </a:solidFill>
                <a:latin typeface="Calibri"/>
                <a:cs typeface="Calibri"/>
              </a:rPr>
              <a:t>modules:</a:t>
            </a:r>
            <a:endParaRPr sz="3600" dirty="0">
              <a:latin typeface="Calibri"/>
              <a:cs typeface="Calibri"/>
            </a:endParaRPr>
          </a:p>
          <a:p>
            <a:pPr marL="1540048" marR="6773" lvl="2" indent="-303946">
              <a:lnSpc>
                <a:spcPct val="115100"/>
              </a:lnSpc>
              <a:spcBef>
                <a:spcPts val="1740"/>
              </a:spcBef>
              <a:buFont typeface="Arial MT"/>
              <a:buChar char="•"/>
              <a:tabLst>
                <a:tab pos="1541741" algn="l"/>
              </a:tabLst>
            </a:pPr>
            <a:r>
              <a:rPr sz="3200" dirty="0">
                <a:latin typeface="Calibri"/>
                <a:cs typeface="Calibri"/>
              </a:rPr>
              <a:t>A</a:t>
            </a:r>
            <a:r>
              <a:rPr sz="3200" spc="-147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functionally</a:t>
            </a:r>
            <a:r>
              <a:rPr sz="3200" spc="-53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independent</a:t>
            </a:r>
            <a:r>
              <a:rPr sz="3200" spc="-7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module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needs</a:t>
            </a:r>
            <a:r>
              <a:rPr sz="3200" spc="-113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very</a:t>
            </a:r>
            <a:r>
              <a:rPr sz="3200" spc="-47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little</a:t>
            </a:r>
            <a:r>
              <a:rPr sz="3200" spc="-53" dirty="0">
                <a:latin typeface="Calibri"/>
                <a:cs typeface="Calibri"/>
              </a:rPr>
              <a:t> </a:t>
            </a:r>
            <a:r>
              <a:rPr sz="3200" spc="-27" dirty="0">
                <a:latin typeface="Calibri"/>
                <a:cs typeface="Calibri"/>
              </a:rPr>
              <a:t>help 	</a:t>
            </a:r>
            <a:r>
              <a:rPr sz="3200" dirty="0">
                <a:latin typeface="Calibri"/>
                <a:cs typeface="Calibri"/>
              </a:rPr>
              <a:t>from</a:t>
            </a:r>
            <a:r>
              <a:rPr sz="3200" spc="-53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other</a:t>
            </a:r>
            <a:r>
              <a:rPr sz="3200" spc="-47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modules</a:t>
            </a:r>
            <a:r>
              <a:rPr sz="3200" spc="-73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27" dirty="0">
                <a:latin typeface="Calibri"/>
                <a:cs typeface="Calibri"/>
              </a:rPr>
              <a:t>therefore</a:t>
            </a:r>
            <a:r>
              <a:rPr sz="3200" spc="-7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has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minimal</a:t>
            </a:r>
            <a:r>
              <a:rPr sz="3200" spc="-140" dirty="0">
                <a:latin typeface="Calibri"/>
                <a:cs typeface="Calibri"/>
              </a:rPr>
              <a:t> </a:t>
            </a:r>
            <a:r>
              <a:rPr sz="3200" spc="-13" dirty="0">
                <a:latin typeface="Calibri"/>
                <a:cs typeface="Calibri"/>
              </a:rPr>
              <a:t>interaction 	</a:t>
            </a:r>
            <a:r>
              <a:rPr sz="3200" dirty="0">
                <a:latin typeface="Calibri"/>
                <a:cs typeface="Calibri"/>
              </a:rPr>
              <a:t>with</a:t>
            </a:r>
            <a:r>
              <a:rPr sz="3200" spc="-73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other</a:t>
            </a:r>
            <a:r>
              <a:rPr sz="3200" spc="-33" dirty="0">
                <a:latin typeface="Calibri"/>
                <a:cs typeface="Calibri"/>
              </a:rPr>
              <a:t> </a:t>
            </a:r>
            <a:r>
              <a:rPr sz="3200" spc="-13" dirty="0">
                <a:latin typeface="Calibri"/>
                <a:cs typeface="Calibri"/>
              </a:rPr>
              <a:t>modules.</a:t>
            </a:r>
            <a:endParaRPr sz="32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528293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63988" y="379247"/>
            <a:ext cx="10118751" cy="674608"/>
          </a:xfrm>
          <a:prstGeom prst="rect">
            <a:avLst/>
          </a:prstGeom>
        </p:spPr>
        <p:txBody>
          <a:bodyPr vert="horz" wrap="square" lIns="0" tIns="17780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40"/>
              </a:spcBef>
            </a:pPr>
            <a:r>
              <a:rPr sz="4267" spc="-13" dirty="0"/>
              <a:t>Advantages</a:t>
            </a:r>
            <a:r>
              <a:rPr sz="4267" spc="-113" dirty="0"/>
              <a:t> </a:t>
            </a:r>
            <a:r>
              <a:rPr sz="4267" dirty="0"/>
              <a:t>of</a:t>
            </a:r>
            <a:r>
              <a:rPr sz="4267" spc="-47" dirty="0"/>
              <a:t> </a:t>
            </a:r>
            <a:r>
              <a:rPr sz="4267" dirty="0"/>
              <a:t>Functional</a:t>
            </a:r>
            <a:r>
              <a:rPr sz="4267" spc="-127" dirty="0"/>
              <a:t> </a:t>
            </a:r>
            <a:r>
              <a:rPr sz="4267" spc="-13" dirty="0"/>
              <a:t>Independence</a:t>
            </a:r>
            <a:endParaRPr sz="4267" dirty="0"/>
          </a:p>
        </p:txBody>
      </p:sp>
      <p:sp>
        <p:nvSpPr>
          <p:cNvPr id="3" name="object 3"/>
          <p:cNvSpPr txBox="1"/>
          <p:nvPr/>
        </p:nvSpPr>
        <p:spPr>
          <a:xfrm>
            <a:off x="823987" y="1067032"/>
            <a:ext cx="7149253" cy="1921039"/>
          </a:xfrm>
          <a:prstGeom prst="rect">
            <a:avLst/>
          </a:prstGeom>
        </p:spPr>
        <p:txBody>
          <a:bodyPr vert="horz" wrap="square" lIns="0" tIns="353060" rIns="0" bIns="0" rtlCol="0">
            <a:spAutoFit/>
          </a:bodyPr>
          <a:lstStyle/>
          <a:p>
            <a:pPr marL="473275" indent="-456342">
              <a:spcBef>
                <a:spcPts val="2780"/>
              </a:spcBef>
              <a:buFont typeface="Arial MT"/>
              <a:buChar char="•"/>
              <a:tabLst>
                <a:tab pos="473275" algn="l"/>
              </a:tabLst>
            </a:pPr>
            <a:r>
              <a:rPr sz="4000" dirty="0">
                <a:latin typeface="Calibri"/>
                <a:cs typeface="Calibri"/>
              </a:rPr>
              <a:t>Better</a:t>
            </a:r>
            <a:r>
              <a:rPr sz="4000" spc="-173" dirty="0">
                <a:latin typeface="Calibri"/>
                <a:cs typeface="Calibri"/>
              </a:rPr>
              <a:t> </a:t>
            </a:r>
            <a:r>
              <a:rPr sz="4000" spc="-13" dirty="0">
                <a:latin typeface="Calibri"/>
                <a:cs typeface="Calibri"/>
              </a:rPr>
              <a:t>understandability</a:t>
            </a:r>
            <a:endParaRPr sz="4000" dirty="0">
              <a:latin typeface="Calibri"/>
              <a:cs typeface="Calibri"/>
            </a:endParaRPr>
          </a:p>
          <a:p>
            <a:pPr marL="473275" indent="-456342">
              <a:spcBef>
                <a:spcPts val="2647"/>
              </a:spcBef>
              <a:buFont typeface="Arial MT"/>
              <a:buChar char="•"/>
              <a:tabLst>
                <a:tab pos="473275" algn="l"/>
              </a:tabLst>
            </a:pPr>
            <a:r>
              <a:rPr sz="4000" dirty="0">
                <a:solidFill>
                  <a:srgbClr val="0000FF"/>
                </a:solidFill>
                <a:latin typeface="Calibri"/>
                <a:cs typeface="Calibri"/>
              </a:rPr>
              <a:t>Complexity</a:t>
            </a:r>
            <a:r>
              <a:rPr sz="4000" spc="-5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0000FF"/>
                </a:solidFill>
                <a:latin typeface="Calibri"/>
                <a:cs typeface="Calibri"/>
              </a:rPr>
              <a:t>of</a:t>
            </a:r>
            <a:r>
              <a:rPr sz="4000" spc="-127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0000FF"/>
                </a:solidFill>
                <a:latin typeface="Calibri"/>
                <a:cs typeface="Calibri"/>
              </a:rPr>
              <a:t>design</a:t>
            </a:r>
            <a:r>
              <a:rPr sz="4000" spc="-11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0000FF"/>
                </a:solidFill>
                <a:latin typeface="Calibri"/>
                <a:cs typeface="Calibri"/>
              </a:rPr>
              <a:t>is</a:t>
            </a:r>
            <a:r>
              <a:rPr sz="4000" spc="-9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spc="-13" dirty="0">
                <a:solidFill>
                  <a:srgbClr val="0000FF"/>
                </a:solidFill>
                <a:latin typeface="Calibri"/>
                <a:cs typeface="Calibri"/>
              </a:rPr>
              <a:t>reduced,</a:t>
            </a:r>
            <a:endParaRPr sz="40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8151" y="3136830"/>
            <a:ext cx="9016324" cy="213391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473275" indent="-456342">
              <a:spcBef>
                <a:spcPts val="120"/>
              </a:spcBef>
              <a:buFont typeface="Arial MT"/>
              <a:buChar char="•"/>
              <a:tabLst>
                <a:tab pos="473275" algn="l"/>
              </a:tabLst>
            </a:pPr>
            <a:r>
              <a:rPr sz="4000" spc="-27" dirty="0">
                <a:latin typeface="Calibri"/>
                <a:cs typeface="Calibri"/>
              </a:rPr>
              <a:t>Different</a:t>
            </a:r>
            <a:r>
              <a:rPr sz="4000" spc="-73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modules</a:t>
            </a:r>
            <a:r>
              <a:rPr sz="4000" spc="-53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easily</a:t>
            </a:r>
            <a:r>
              <a:rPr sz="4000" spc="-113" dirty="0">
                <a:latin typeface="Calibri"/>
                <a:cs typeface="Calibri"/>
              </a:rPr>
              <a:t> </a:t>
            </a:r>
            <a:r>
              <a:rPr sz="4000" spc="-13" dirty="0">
                <a:latin typeface="Calibri"/>
                <a:cs typeface="Calibri"/>
              </a:rPr>
              <a:t>understood</a:t>
            </a:r>
            <a:r>
              <a:rPr sz="4000" spc="-113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in</a:t>
            </a:r>
            <a:r>
              <a:rPr sz="4000" spc="-107" dirty="0">
                <a:latin typeface="Calibri"/>
                <a:cs typeface="Calibri"/>
              </a:rPr>
              <a:t> </a:t>
            </a:r>
            <a:r>
              <a:rPr sz="4000" spc="-13" dirty="0">
                <a:latin typeface="Calibri"/>
                <a:cs typeface="Calibri"/>
              </a:rPr>
              <a:t>isolation:</a:t>
            </a:r>
            <a:endParaRPr sz="4000" dirty="0">
              <a:latin typeface="Calibri"/>
              <a:cs typeface="Calibri"/>
            </a:endParaRPr>
          </a:p>
          <a:p>
            <a:pPr marL="626518">
              <a:spcBef>
                <a:spcPts val="2567"/>
              </a:spcBef>
            </a:pPr>
            <a:r>
              <a:rPr sz="3600" dirty="0">
                <a:latin typeface="Arial MT"/>
                <a:cs typeface="Arial MT"/>
              </a:rPr>
              <a:t>–</a:t>
            </a:r>
            <a:r>
              <a:rPr sz="3600" spc="-40" dirty="0">
                <a:latin typeface="Arial MT"/>
                <a:cs typeface="Arial MT"/>
              </a:rPr>
              <a:t> </a:t>
            </a:r>
            <a:r>
              <a:rPr sz="3600" dirty="0">
                <a:latin typeface="Calibri"/>
                <a:cs typeface="Calibri"/>
              </a:rPr>
              <a:t>Modules</a:t>
            </a:r>
            <a:r>
              <a:rPr sz="3600" spc="-27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are</a:t>
            </a:r>
            <a:r>
              <a:rPr sz="3600" spc="-60" dirty="0">
                <a:latin typeface="Calibri"/>
                <a:cs typeface="Calibri"/>
              </a:rPr>
              <a:t> </a:t>
            </a:r>
            <a:r>
              <a:rPr sz="3600" spc="-13" dirty="0">
                <a:latin typeface="Calibri"/>
                <a:cs typeface="Calibri"/>
              </a:rPr>
              <a:t>independent</a:t>
            </a:r>
            <a:endParaRPr sz="3600" dirty="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899904" y="1694688"/>
            <a:ext cx="695112" cy="396240"/>
            <a:chOff x="7424928" y="1271016"/>
            <a:chExt cx="521334" cy="297180"/>
          </a:xfrm>
        </p:grpSpPr>
        <p:sp>
          <p:nvSpPr>
            <p:cNvPr id="6" name="object 6"/>
            <p:cNvSpPr/>
            <p:nvPr/>
          </p:nvSpPr>
          <p:spPr>
            <a:xfrm>
              <a:off x="7429500" y="1275588"/>
              <a:ext cx="512445" cy="288290"/>
            </a:xfrm>
            <a:custGeom>
              <a:avLst/>
              <a:gdLst/>
              <a:ahLst/>
              <a:cxnLst/>
              <a:rect l="l" t="t" r="r" b="b"/>
              <a:pathLst>
                <a:path w="512445" h="288290">
                  <a:moveTo>
                    <a:pt x="512064" y="0"/>
                  </a:moveTo>
                  <a:lnTo>
                    <a:pt x="0" y="0"/>
                  </a:lnTo>
                  <a:lnTo>
                    <a:pt x="0" y="288036"/>
                  </a:lnTo>
                  <a:lnTo>
                    <a:pt x="512064" y="288036"/>
                  </a:lnTo>
                  <a:lnTo>
                    <a:pt x="512064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" name="object 7"/>
            <p:cNvSpPr/>
            <p:nvPr/>
          </p:nvSpPr>
          <p:spPr>
            <a:xfrm>
              <a:off x="7429500" y="1275588"/>
              <a:ext cx="512445" cy="288290"/>
            </a:xfrm>
            <a:custGeom>
              <a:avLst/>
              <a:gdLst/>
              <a:ahLst/>
              <a:cxnLst/>
              <a:rect l="l" t="t" r="r" b="b"/>
              <a:pathLst>
                <a:path w="512445" h="288290">
                  <a:moveTo>
                    <a:pt x="0" y="288036"/>
                  </a:moveTo>
                  <a:lnTo>
                    <a:pt x="512064" y="288036"/>
                  </a:lnTo>
                  <a:lnTo>
                    <a:pt x="512064" y="0"/>
                  </a:lnTo>
                  <a:lnTo>
                    <a:pt x="0" y="0"/>
                  </a:lnTo>
                  <a:lnTo>
                    <a:pt x="0" y="288036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9899904" y="2383536"/>
            <a:ext cx="695112" cy="390313"/>
            <a:chOff x="7424928" y="1787651"/>
            <a:chExt cx="521334" cy="292735"/>
          </a:xfrm>
        </p:grpSpPr>
        <p:sp>
          <p:nvSpPr>
            <p:cNvPr id="9" name="object 9"/>
            <p:cNvSpPr/>
            <p:nvPr/>
          </p:nvSpPr>
          <p:spPr>
            <a:xfrm>
              <a:off x="7429500" y="1792223"/>
              <a:ext cx="512445" cy="283845"/>
            </a:xfrm>
            <a:custGeom>
              <a:avLst/>
              <a:gdLst/>
              <a:ahLst/>
              <a:cxnLst/>
              <a:rect l="l" t="t" r="r" b="b"/>
              <a:pathLst>
                <a:path w="512445" h="283844">
                  <a:moveTo>
                    <a:pt x="512064" y="0"/>
                  </a:moveTo>
                  <a:lnTo>
                    <a:pt x="0" y="0"/>
                  </a:lnTo>
                  <a:lnTo>
                    <a:pt x="0" y="283463"/>
                  </a:lnTo>
                  <a:lnTo>
                    <a:pt x="512064" y="283463"/>
                  </a:lnTo>
                  <a:lnTo>
                    <a:pt x="512064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" name="object 10"/>
            <p:cNvSpPr/>
            <p:nvPr/>
          </p:nvSpPr>
          <p:spPr>
            <a:xfrm>
              <a:off x="7429500" y="1792223"/>
              <a:ext cx="512445" cy="283845"/>
            </a:xfrm>
            <a:custGeom>
              <a:avLst/>
              <a:gdLst/>
              <a:ahLst/>
              <a:cxnLst/>
              <a:rect l="l" t="t" r="r" b="b"/>
              <a:pathLst>
                <a:path w="512445" h="283844">
                  <a:moveTo>
                    <a:pt x="0" y="283463"/>
                  </a:moveTo>
                  <a:lnTo>
                    <a:pt x="512064" y="283463"/>
                  </a:lnTo>
                  <a:lnTo>
                    <a:pt x="512064" y="0"/>
                  </a:lnTo>
                  <a:lnTo>
                    <a:pt x="0" y="0"/>
                  </a:lnTo>
                  <a:lnTo>
                    <a:pt x="0" y="283463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10887456" y="2383536"/>
            <a:ext cx="701040" cy="390313"/>
            <a:chOff x="8165592" y="1787651"/>
            <a:chExt cx="525780" cy="292735"/>
          </a:xfrm>
        </p:grpSpPr>
        <p:sp>
          <p:nvSpPr>
            <p:cNvPr id="12" name="object 12"/>
            <p:cNvSpPr/>
            <p:nvPr/>
          </p:nvSpPr>
          <p:spPr>
            <a:xfrm>
              <a:off x="8170164" y="1792223"/>
              <a:ext cx="516890" cy="283845"/>
            </a:xfrm>
            <a:custGeom>
              <a:avLst/>
              <a:gdLst/>
              <a:ahLst/>
              <a:cxnLst/>
              <a:rect l="l" t="t" r="r" b="b"/>
              <a:pathLst>
                <a:path w="516890" h="283844">
                  <a:moveTo>
                    <a:pt x="516635" y="0"/>
                  </a:moveTo>
                  <a:lnTo>
                    <a:pt x="0" y="0"/>
                  </a:lnTo>
                  <a:lnTo>
                    <a:pt x="0" y="283463"/>
                  </a:lnTo>
                  <a:lnTo>
                    <a:pt x="516635" y="283463"/>
                  </a:lnTo>
                  <a:lnTo>
                    <a:pt x="516635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" name="object 13"/>
            <p:cNvSpPr/>
            <p:nvPr/>
          </p:nvSpPr>
          <p:spPr>
            <a:xfrm>
              <a:off x="8170164" y="1792223"/>
              <a:ext cx="516890" cy="283845"/>
            </a:xfrm>
            <a:custGeom>
              <a:avLst/>
              <a:gdLst/>
              <a:ahLst/>
              <a:cxnLst/>
              <a:rect l="l" t="t" r="r" b="b"/>
              <a:pathLst>
                <a:path w="516890" h="283844">
                  <a:moveTo>
                    <a:pt x="0" y="283463"/>
                  </a:moveTo>
                  <a:lnTo>
                    <a:pt x="516635" y="283463"/>
                  </a:lnTo>
                  <a:lnTo>
                    <a:pt x="516635" y="0"/>
                  </a:lnTo>
                  <a:lnTo>
                    <a:pt x="0" y="0"/>
                  </a:lnTo>
                  <a:lnTo>
                    <a:pt x="0" y="283463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10887456" y="1694688"/>
            <a:ext cx="701040" cy="396240"/>
            <a:chOff x="8165592" y="1271016"/>
            <a:chExt cx="525780" cy="297180"/>
          </a:xfrm>
        </p:grpSpPr>
        <p:sp>
          <p:nvSpPr>
            <p:cNvPr id="15" name="object 15"/>
            <p:cNvSpPr/>
            <p:nvPr/>
          </p:nvSpPr>
          <p:spPr>
            <a:xfrm>
              <a:off x="8170164" y="1275588"/>
              <a:ext cx="516890" cy="288290"/>
            </a:xfrm>
            <a:custGeom>
              <a:avLst/>
              <a:gdLst/>
              <a:ahLst/>
              <a:cxnLst/>
              <a:rect l="l" t="t" r="r" b="b"/>
              <a:pathLst>
                <a:path w="516890" h="288290">
                  <a:moveTo>
                    <a:pt x="516635" y="0"/>
                  </a:moveTo>
                  <a:lnTo>
                    <a:pt x="0" y="0"/>
                  </a:lnTo>
                  <a:lnTo>
                    <a:pt x="0" y="288036"/>
                  </a:lnTo>
                  <a:lnTo>
                    <a:pt x="516635" y="288036"/>
                  </a:lnTo>
                  <a:lnTo>
                    <a:pt x="516635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6" name="object 16"/>
            <p:cNvSpPr/>
            <p:nvPr/>
          </p:nvSpPr>
          <p:spPr>
            <a:xfrm>
              <a:off x="8170164" y="1275588"/>
              <a:ext cx="516890" cy="288290"/>
            </a:xfrm>
            <a:custGeom>
              <a:avLst/>
              <a:gdLst/>
              <a:ahLst/>
              <a:cxnLst/>
              <a:rect l="l" t="t" r="r" b="b"/>
              <a:pathLst>
                <a:path w="516890" h="288290">
                  <a:moveTo>
                    <a:pt x="0" y="288036"/>
                  </a:moveTo>
                  <a:lnTo>
                    <a:pt x="516635" y="288036"/>
                  </a:lnTo>
                  <a:lnTo>
                    <a:pt x="516635" y="0"/>
                  </a:lnTo>
                  <a:lnTo>
                    <a:pt x="0" y="0"/>
                  </a:lnTo>
                  <a:lnTo>
                    <a:pt x="0" y="288036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9796273" y="3931919"/>
            <a:ext cx="1689100" cy="1079500"/>
            <a:chOff x="7347204" y="2948939"/>
            <a:chExt cx="1266825" cy="809625"/>
          </a:xfrm>
        </p:grpSpPr>
        <p:sp>
          <p:nvSpPr>
            <p:cNvPr id="18" name="object 18"/>
            <p:cNvSpPr/>
            <p:nvPr/>
          </p:nvSpPr>
          <p:spPr>
            <a:xfrm>
              <a:off x="7351776" y="2953511"/>
              <a:ext cx="516890" cy="283845"/>
            </a:xfrm>
            <a:custGeom>
              <a:avLst/>
              <a:gdLst/>
              <a:ahLst/>
              <a:cxnLst/>
              <a:rect l="l" t="t" r="r" b="b"/>
              <a:pathLst>
                <a:path w="516890" h="283844">
                  <a:moveTo>
                    <a:pt x="516635" y="0"/>
                  </a:moveTo>
                  <a:lnTo>
                    <a:pt x="0" y="0"/>
                  </a:lnTo>
                  <a:lnTo>
                    <a:pt x="0" y="283463"/>
                  </a:lnTo>
                  <a:lnTo>
                    <a:pt x="516635" y="283463"/>
                  </a:lnTo>
                  <a:lnTo>
                    <a:pt x="516635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9" name="object 19"/>
            <p:cNvSpPr/>
            <p:nvPr/>
          </p:nvSpPr>
          <p:spPr>
            <a:xfrm>
              <a:off x="7351776" y="2953511"/>
              <a:ext cx="516890" cy="283845"/>
            </a:xfrm>
            <a:custGeom>
              <a:avLst/>
              <a:gdLst/>
              <a:ahLst/>
              <a:cxnLst/>
              <a:rect l="l" t="t" r="r" b="b"/>
              <a:pathLst>
                <a:path w="516890" h="283844">
                  <a:moveTo>
                    <a:pt x="0" y="283463"/>
                  </a:moveTo>
                  <a:lnTo>
                    <a:pt x="516635" y="283463"/>
                  </a:lnTo>
                  <a:lnTo>
                    <a:pt x="516635" y="0"/>
                  </a:lnTo>
                  <a:lnTo>
                    <a:pt x="0" y="0"/>
                  </a:lnTo>
                  <a:lnTo>
                    <a:pt x="0" y="283463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0" name="object 20"/>
            <p:cNvSpPr/>
            <p:nvPr/>
          </p:nvSpPr>
          <p:spPr>
            <a:xfrm>
              <a:off x="7351776" y="3465575"/>
              <a:ext cx="516890" cy="288290"/>
            </a:xfrm>
            <a:custGeom>
              <a:avLst/>
              <a:gdLst/>
              <a:ahLst/>
              <a:cxnLst/>
              <a:rect l="l" t="t" r="r" b="b"/>
              <a:pathLst>
                <a:path w="516890" h="288289">
                  <a:moveTo>
                    <a:pt x="516635" y="0"/>
                  </a:moveTo>
                  <a:lnTo>
                    <a:pt x="0" y="0"/>
                  </a:lnTo>
                  <a:lnTo>
                    <a:pt x="0" y="288036"/>
                  </a:lnTo>
                  <a:lnTo>
                    <a:pt x="516635" y="288036"/>
                  </a:lnTo>
                  <a:lnTo>
                    <a:pt x="516635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1" name="object 21"/>
            <p:cNvSpPr/>
            <p:nvPr/>
          </p:nvSpPr>
          <p:spPr>
            <a:xfrm>
              <a:off x="7351776" y="3465575"/>
              <a:ext cx="516890" cy="288290"/>
            </a:xfrm>
            <a:custGeom>
              <a:avLst/>
              <a:gdLst/>
              <a:ahLst/>
              <a:cxnLst/>
              <a:rect l="l" t="t" r="r" b="b"/>
              <a:pathLst>
                <a:path w="516890" h="288289">
                  <a:moveTo>
                    <a:pt x="0" y="288036"/>
                  </a:moveTo>
                  <a:lnTo>
                    <a:pt x="516635" y="288036"/>
                  </a:lnTo>
                  <a:lnTo>
                    <a:pt x="516635" y="0"/>
                  </a:lnTo>
                  <a:lnTo>
                    <a:pt x="0" y="0"/>
                  </a:lnTo>
                  <a:lnTo>
                    <a:pt x="0" y="288036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2" name="object 22"/>
            <p:cNvSpPr/>
            <p:nvPr/>
          </p:nvSpPr>
          <p:spPr>
            <a:xfrm>
              <a:off x="8097012" y="3465575"/>
              <a:ext cx="512445" cy="288290"/>
            </a:xfrm>
            <a:custGeom>
              <a:avLst/>
              <a:gdLst/>
              <a:ahLst/>
              <a:cxnLst/>
              <a:rect l="l" t="t" r="r" b="b"/>
              <a:pathLst>
                <a:path w="512445" h="288289">
                  <a:moveTo>
                    <a:pt x="512064" y="0"/>
                  </a:moveTo>
                  <a:lnTo>
                    <a:pt x="0" y="0"/>
                  </a:lnTo>
                  <a:lnTo>
                    <a:pt x="0" y="288036"/>
                  </a:lnTo>
                  <a:lnTo>
                    <a:pt x="512064" y="288036"/>
                  </a:lnTo>
                  <a:lnTo>
                    <a:pt x="512064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3" name="object 23"/>
            <p:cNvSpPr/>
            <p:nvPr/>
          </p:nvSpPr>
          <p:spPr>
            <a:xfrm>
              <a:off x="8097012" y="3465575"/>
              <a:ext cx="512445" cy="288290"/>
            </a:xfrm>
            <a:custGeom>
              <a:avLst/>
              <a:gdLst/>
              <a:ahLst/>
              <a:cxnLst/>
              <a:rect l="l" t="t" r="r" b="b"/>
              <a:pathLst>
                <a:path w="512445" h="288289">
                  <a:moveTo>
                    <a:pt x="0" y="288036"/>
                  </a:moveTo>
                  <a:lnTo>
                    <a:pt x="512064" y="288036"/>
                  </a:lnTo>
                  <a:lnTo>
                    <a:pt x="512064" y="0"/>
                  </a:lnTo>
                  <a:lnTo>
                    <a:pt x="0" y="0"/>
                  </a:lnTo>
                  <a:lnTo>
                    <a:pt x="0" y="288036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4" name="object 24"/>
            <p:cNvSpPr/>
            <p:nvPr/>
          </p:nvSpPr>
          <p:spPr>
            <a:xfrm>
              <a:off x="8097012" y="2953511"/>
              <a:ext cx="512445" cy="283845"/>
            </a:xfrm>
            <a:custGeom>
              <a:avLst/>
              <a:gdLst/>
              <a:ahLst/>
              <a:cxnLst/>
              <a:rect l="l" t="t" r="r" b="b"/>
              <a:pathLst>
                <a:path w="512445" h="283844">
                  <a:moveTo>
                    <a:pt x="512064" y="0"/>
                  </a:moveTo>
                  <a:lnTo>
                    <a:pt x="0" y="0"/>
                  </a:lnTo>
                  <a:lnTo>
                    <a:pt x="0" y="283463"/>
                  </a:lnTo>
                  <a:lnTo>
                    <a:pt x="512064" y="283463"/>
                  </a:lnTo>
                  <a:lnTo>
                    <a:pt x="512064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5" name="object 25"/>
            <p:cNvSpPr/>
            <p:nvPr/>
          </p:nvSpPr>
          <p:spPr>
            <a:xfrm>
              <a:off x="8097012" y="2953511"/>
              <a:ext cx="512445" cy="283845"/>
            </a:xfrm>
            <a:custGeom>
              <a:avLst/>
              <a:gdLst/>
              <a:ahLst/>
              <a:cxnLst/>
              <a:rect l="l" t="t" r="r" b="b"/>
              <a:pathLst>
                <a:path w="512445" h="283844">
                  <a:moveTo>
                    <a:pt x="0" y="283463"/>
                  </a:moveTo>
                  <a:lnTo>
                    <a:pt x="512064" y="283463"/>
                  </a:lnTo>
                  <a:lnTo>
                    <a:pt x="512064" y="0"/>
                  </a:lnTo>
                  <a:lnTo>
                    <a:pt x="0" y="0"/>
                  </a:lnTo>
                  <a:lnTo>
                    <a:pt x="0" y="283463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27976" y="3236975"/>
              <a:ext cx="76200" cy="2286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42276" y="3236975"/>
              <a:ext cx="76200" cy="2286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56576" y="3236975"/>
              <a:ext cx="76200" cy="22860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8113776" y="3236975"/>
              <a:ext cx="76200" cy="228600"/>
            </a:xfrm>
            <a:custGeom>
              <a:avLst/>
              <a:gdLst/>
              <a:ahLst/>
              <a:cxnLst/>
              <a:rect l="l" t="t" r="r" b="b"/>
              <a:pathLst>
                <a:path w="76200" h="2286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228600"/>
                  </a:lnTo>
                  <a:lnTo>
                    <a:pt x="44450" y="228600"/>
                  </a:lnTo>
                  <a:lnTo>
                    <a:pt x="44450" y="63500"/>
                  </a:lnTo>
                  <a:close/>
                </a:path>
                <a:path w="76200" h="2286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2286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28076" y="3236975"/>
              <a:ext cx="76200" cy="22860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7805674" y="2970275"/>
              <a:ext cx="291465" cy="762000"/>
            </a:xfrm>
            <a:custGeom>
              <a:avLst/>
              <a:gdLst/>
              <a:ahLst/>
              <a:cxnLst/>
              <a:rect l="l" t="t" r="r" b="b"/>
              <a:pathLst>
                <a:path w="291465" h="762000">
                  <a:moveTo>
                    <a:pt x="291338" y="662686"/>
                  </a:moveTo>
                  <a:lnTo>
                    <a:pt x="138938" y="662686"/>
                  </a:lnTo>
                  <a:lnTo>
                    <a:pt x="138938" y="630936"/>
                  </a:lnTo>
                  <a:lnTo>
                    <a:pt x="62738" y="669036"/>
                  </a:lnTo>
                  <a:lnTo>
                    <a:pt x="117602" y="696468"/>
                  </a:lnTo>
                  <a:lnTo>
                    <a:pt x="62738" y="723900"/>
                  </a:lnTo>
                  <a:lnTo>
                    <a:pt x="138938" y="762000"/>
                  </a:lnTo>
                  <a:lnTo>
                    <a:pt x="138938" y="730250"/>
                  </a:lnTo>
                  <a:lnTo>
                    <a:pt x="291338" y="730250"/>
                  </a:lnTo>
                  <a:lnTo>
                    <a:pt x="291338" y="717550"/>
                  </a:lnTo>
                  <a:lnTo>
                    <a:pt x="138938" y="717550"/>
                  </a:lnTo>
                  <a:lnTo>
                    <a:pt x="138938" y="707136"/>
                  </a:lnTo>
                  <a:lnTo>
                    <a:pt x="138938" y="685800"/>
                  </a:lnTo>
                  <a:lnTo>
                    <a:pt x="138938" y="675386"/>
                  </a:lnTo>
                  <a:lnTo>
                    <a:pt x="291338" y="675386"/>
                  </a:lnTo>
                  <a:lnTo>
                    <a:pt x="291338" y="662686"/>
                  </a:lnTo>
                  <a:close/>
                </a:path>
                <a:path w="291465" h="762000">
                  <a:moveTo>
                    <a:pt x="291338" y="609600"/>
                  </a:moveTo>
                  <a:lnTo>
                    <a:pt x="278638" y="603250"/>
                  </a:lnTo>
                  <a:lnTo>
                    <a:pt x="215138" y="571500"/>
                  </a:lnTo>
                  <a:lnTo>
                    <a:pt x="215138" y="603250"/>
                  </a:lnTo>
                  <a:lnTo>
                    <a:pt x="62738" y="603250"/>
                  </a:lnTo>
                  <a:lnTo>
                    <a:pt x="62738" y="615950"/>
                  </a:lnTo>
                  <a:lnTo>
                    <a:pt x="215138" y="615950"/>
                  </a:lnTo>
                  <a:lnTo>
                    <a:pt x="215138" y="647700"/>
                  </a:lnTo>
                  <a:lnTo>
                    <a:pt x="278638" y="615950"/>
                  </a:lnTo>
                  <a:lnTo>
                    <a:pt x="291338" y="609600"/>
                  </a:lnTo>
                  <a:close/>
                </a:path>
                <a:path w="291465" h="762000">
                  <a:moveTo>
                    <a:pt x="291338" y="266700"/>
                  </a:moveTo>
                  <a:lnTo>
                    <a:pt x="206375" y="273431"/>
                  </a:lnTo>
                  <a:lnTo>
                    <a:pt x="222745" y="300596"/>
                  </a:lnTo>
                  <a:lnTo>
                    <a:pt x="0" y="434975"/>
                  </a:lnTo>
                  <a:lnTo>
                    <a:pt x="6604" y="445897"/>
                  </a:lnTo>
                  <a:lnTo>
                    <a:pt x="229336" y="311531"/>
                  </a:lnTo>
                  <a:lnTo>
                    <a:pt x="240220" y="329577"/>
                  </a:lnTo>
                  <a:lnTo>
                    <a:pt x="206375" y="331851"/>
                  </a:lnTo>
                  <a:lnTo>
                    <a:pt x="222453" y="359257"/>
                  </a:lnTo>
                  <a:lnTo>
                    <a:pt x="127" y="489839"/>
                  </a:lnTo>
                  <a:lnTo>
                    <a:pt x="6477" y="500761"/>
                  </a:lnTo>
                  <a:lnTo>
                    <a:pt x="228841" y="370154"/>
                  </a:lnTo>
                  <a:lnTo>
                    <a:pt x="244983" y="397637"/>
                  </a:lnTo>
                  <a:lnTo>
                    <a:pt x="274040" y="352806"/>
                  </a:lnTo>
                  <a:lnTo>
                    <a:pt x="291338" y="326136"/>
                  </a:lnTo>
                  <a:lnTo>
                    <a:pt x="252018" y="328790"/>
                  </a:lnTo>
                  <a:lnTo>
                    <a:pt x="274040" y="294005"/>
                  </a:lnTo>
                  <a:lnTo>
                    <a:pt x="291338" y="266700"/>
                  </a:lnTo>
                  <a:close/>
                </a:path>
                <a:path w="291465" h="762000">
                  <a:moveTo>
                    <a:pt x="291338" y="152400"/>
                  </a:moveTo>
                  <a:lnTo>
                    <a:pt x="278638" y="146050"/>
                  </a:lnTo>
                  <a:lnTo>
                    <a:pt x="215138" y="114300"/>
                  </a:lnTo>
                  <a:lnTo>
                    <a:pt x="215138" y="146050"/>
                  </a:lnTo>
                  <a:lnTo>
                    <a:pt x="62738" y="146050"/>
                  </a:lnTo>
                  <a:lnTo>
                    <a:pt x="62738" y="158750"/>
                  </a:lnTo>
                  <a:lnTo>
                    <a:pt x="215138" y="158750"/>
                  </a:lnTo>
                  <a:lnTo>
                    <a:pt x="215138" y="173736"/>
                  </a:lnTo>
                  <a:lnTo>
                    <a:pt x="215138" y="190500"/>
                  </a:lnTo>
                  <a:lnTo>
                    <a:pt x="215138" y="205486"/>
                  </a:lnTo>
                  <a:lnTo>
                    <a:pt x="62738" y="205486"/>
                  </a:lnTo>
                  <a:lnTo>
                    <a:pt x="62738" y="218186"/>
                  </a:lnTo>
                  <a:lnTo>
                    <a:pt x="215138" y="218186"/>
                  </a:lnTo>
                  <a:lnTo>
                    <a:pt x="215138" y="249936"/>
                  </a:lnTo>
                  <a:lnTo>
                    <a:pt x="278638" y="218186"/>
                  </a:lnTo>
                  <a:lnTo>
                    <a:pt x="291338" y="211836"/>
                  </a:lnTo>
                  <a:lnTo>
                    <a:pt x="278638" y="205486"/>
                  </a:lnTo>
                  <a:lnTo>
                    <a:pt x="231902" y="182118"/>
                  </a:lnTo>
                  <a:lnTo>
                    <a:pt x="278638" y="158750"/>
                  </a:lnTo>
                  <a:lnTo>
                    <a:pt x="291338" y="152400"/>
                  </a:lnTo>
                  <a:close/>
                </a:path>
                <a:path w="291465" h="762000">
                  <a:moveTo>
                    <a:pt x="291338" y="91186"/>
                  </a:moveTo>
                  <a:lnTo>
                    <a:pt x="138938" y="91186"/>
                  </a:lnTo>
                  <a:lnTo>
                    <a:pt x="138938" y="59436"/>
                  </a:lnTo>
                  <a:lnTo>
                    <a:pt x="62738" y="97536"/>
                  </a:lnTo>
                  <a:lnTo>
                    <a:pt x="138938" y="135636"/>
                  </a:lnTo>
                  <a:lnTo>
                    <a:pt x="138938" y="103886"/>
                  </a:lnTo>
                  <a:lnTo>
                    <a:pt x="291338" y="103886"/>
                  </a:lnTo>
                  <a:lnTo>
                    <a:pt x="291338" y="91186"/>
                  </a:lnTo>
                  <a:close/>
                </a:path>
                <a:path w="291465" h="762000">
                  <a:moveTo>
                    <a:pt x="291338" y="38100"/>
                  </a:moveTo>
                  <a:lnTo>
                    <a:pt x="278638" y="31750"/>
                  </a:lnTo>
                  <a:lnTo>
                    <a:pt x="215138" y="0"/>
                  </a:lnTo>
                  <a:lnTo>
                    <a:pt x="215138" y="31750"/>
                  </a:lnTo>
                  <a:lnTo>
                    <a:pt x="62738" y="31750"/>
                  </a:lnTo>
                  <a:lnTo>
                    <a:pt x="62738" y="44450"/>
                  </a:lnTo>
                  <a:lnTo>
                    <a:pt x="215138" y="44450"/>
                  </a:lnTo>
                  <a:lnTo>
                    <a:pt x="215138" y="76200"/>
                  </a:lnTo>
                  <a:lnTo>
                    <a:pt x="278638" y="44450"/>
                  </a:lnTo>
                  <a:lnTo>
                    <a:pt x="291338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9997609" y="2839313"/>
            <a:ext cx="1890607" cy="297517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6933">
              <a:spcBef>
                <a:spcPts val="160"/>
              </a:spcBef>
            </a:pPr>
            <a:r>
              <a:rPr b="1" dirty="0">
                <a:latin typeface="Comic Sans MS"/>
                <a:cs typeface="Comic Sans MS"/>
              </a:rPr>
              <a:t>No</a:t>
            </a:r>
            <a:r>
              <a:rPr b="1" spc="7" dirty="0">
                <a:latin typeface="Comic Sans MS"/>
                <a:cs typeface="Comic Sans MS"/>
              </a:rPr>
              <a:t> </a:t>
            </a:r>
            <a:r>
              <a:rPr b="1" spc="-13" dirty="0">
                <a:latin typeface="Comic Sans MS"/>
                <a:cs typeface="Comic Sans MS"/>
              </a:rPr>
              <a:t>dependencies</a:t>
            </a:r>
            <a:endParaRPr>
              <a:latin typeface="Comic Sans MS"/>
              <a:cs typeface="Comic Sans M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211820" y="5100862"/>
            <a:ext cx="3859107" cy="296661"/>
          </a:xfrm>
          <a:prstGeom prst="rect">
            <a:avLst/>
          </a:prstGeom>
        </p:spPr>
        <p:txBody>
          <a:bodyPr vert="horz" wrap="square" lIns="0" tIns="19472" rIns="0" bIns="0" rtlCol="0">
            <a:spAutoFit/>
          </a:bodyPr>
          <a:lstStyle/>
          <a:p>
            <a:pPr marL="16933">
              <a:spcBef>
                <a:spcPts val="152"/>
              </a:spcBef>
            </a:pPr>
            <a:r>
              <a:rPr b="1" dirty="0">
                <a:latin typeface="Comic Sans MS"/>
                <a:cs typeface="Comic Sans MS"/>
              </a:rPr>
              <a:t>Highly</a:t>
            </a:r>
            <a:r>
              <a:rPr b="1" spc="-27" dirty="0">
                <a:latin typeface="Comic Sans MS"/>
                <a:cs typeface="Comic Sans MS"/>
              </a:rPr>
              <a:t> </a:t>
            </a:r>
            <a:r>
              <a:rPr b="1" dirty="0">
                <a:latin typeface="Comic Sans MS"/>
                <a:cs typeface="Comic Sans MS"/>
              </a:rPr>
              <a:t>coupled-many</a:t>
            </a:r>
            <a:r>
              <a:rPr b="1" spc="-67" dirty="0">
                <a:latin typeface="Comic Sans MS"/>
                <a:cs typeface="Comic Sans MS"/>
              </a:rPr>
              <a:t> </a:t>
            </a:r>
            <a:r>
              <a:rPr b="1" spc="-13" dirty="0">
                <a:latin typeface="Comic Sans MS"/>
                <a:cs typeface="Comic Sans MS"/>
              </a:rPr>
              <a:t>dependencies</a:t>
            </a:r>
            <a:endParaRPr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29619646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4554" y="102551"/>
            <a:ext cx="10760287" cy="5236690"/>
          </a:xfrm>
          <a:prstGeom prst="rect">
            <a:avLst/>
          </a:prstGeom>
        </p:spPr>
        <p:txBody>
          <a:bodyPr vert="horz" wrap="square" lIns="0" tIns="205740" rIns="0" bIns="0" rtlCol="0">
            <a:spAutoFit/>
          </a:bodyPr>
          <a:lstStyle/>
          <a:p>
            <a:pPr marL="562173" algn="ctr">
              <a:spcBef>
                <a:spcPts val="1620"/>
              </a:spcBef>
            </a:pPr>
            <a:r>
              <a:rPr sz="3200" b="1" dirty="0">
                <a:latin typeface="Calibri"/>
                <a:cs typeface="Calibri"/>
              </a:rPr>
              <a:t>Why</a:t>
            </a:r>
            <a:r>
              <a:rPr sz="3200" b="1" spc="-113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Functional</a:t>
            </a:r>
            <a:r>
              <a:rPr sz="3200" b="1" spc="-27" dirty="0">
                <a:latin typeface="Calibri"/>
                <a:cs typeface="Calibri"/>
              </a:rPr>
              <a:t> </a:t>
            </a:r>
            <a:r>
              <a:rPr sz="3200" b="1" spc="-13" dirty="0">
                <a:latin typeface="Calibri"/>
                <a:cs typeface="Calibri"/>
              </a:rPr>
              <a:t>Independence</a:t>
            </a:r>
            <a:r>
              <a:rPr sz="3200" b="1" spc="-193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is</a:t>
            </a:r>
            <a:r>
              <a:rPr sz="3200" b="1" spc="47" dirty="0">
                <a:latin typeface="Calibri"/>
                <a:cs typeface="Calibri"/>
              </a:rPr>
              <a:t> </a:t>
            </a:r>
            <a:r>
              <a:rPr sz="3200" b="1" spc="-13" dirty="0">
                <a:latin typeface="Calibri"/>
                <a:cs typeface="Calibri"/>
              </a:rPr>
              <a:t>Advantageous?</a:t>
            </a:r>
            <a:endParaRPr sz="3200" dirty="0">
              <a:latin typeface="Calibri"/>
              <a:cs typeface="Calibri"/>
            </a:endParaRPr>
          </a:p>
          <a:p>
            <a:pPr marL="473275" indent="-456342">
              <a:spcBef>
                <a:spcPts val="1727"/>
              </a:spcBef>
              <a:buFont typeface="Arial MT"/>
              <a:buChar char="•"/>
              <a:tabLst>
                <a:tab pos="473275" algn="l"/>
              </a:tabLst>
            </a:pPr>
            <a:r>
              <a:rPr sz="3733" dirty="0">
                <a:latin typeface="Calibri"/>
                <a:cs typeface="Calibri"/>
              </a:rPr>
              <a:t>Functional</a:t>
            </a:r>
            <a:r>
              <a:rPr sz="3733" spc="-60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independence</a:t>
            </a:r>
            <a:r>
              <a:rPr sz="3733" spc="-133" dirty="0">
                <a:latin typeface="Calibri"/>
                <a:cs typeface="Calibri"/>
              </a:rPr>
              <a:t> </a:t>
            </a:r>
            <a:r>
              <a:rPr sz="3733" b="1" dirty="0">
                <a:solidFill>
                  <a:srgbClr val="0000CC"/>
                </a:solidFill>
                <a:latin typeface="Calibri"/>
                <a:cs typeface="Calibri"/>
              </a:rPr>
              <a:t>reduces</a:t>
            </a:r>
            <a:r>
              <a:rPr sz="3733" b="1" spc="-73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733" b="1" dirty="0">
                <a:solidFill>
                  <a:srgbClr val="0000CC"/>
                </a:solidFill>
                <a:latin typeface="Calibri"/>
                <a:cs typeface="Calibri"/>
              </a:rPr>
              <a:t>error</a:t>
            </a:r>
            <a:r>
              <a:rPr sz="3733" b="1" spc="-47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733" b="1" spc="-13" dirty="0">
                <a:solidFill>
                  <a:srgbClr val="0000CC"/>
                </a:solidFill>
                <a:latin typeface="Calibri"/>
                <a:cs typeface="Calibri"/>
              </a:rPr>
              <a:t>propagation</a:t>
            </a:r>
            <a:r>
              <a:rPr sz="3733" spc="-13" dirty="0">
                <a:latin typeface="Calibri"/>
                <a:cs typeface="Calibri"/>
              </a:rPr>
              <a:t>.</a:t>
            </a:r>
            <a:endParaRPr sz="3733" dirty="0">
              <a:latin typeface="Calibri"/>
              <a:cs typeface="Calibri"/>
            </a:endParaRPr>
          </a:p>
          <a:p>
            <a:pPr marL="1009201" lvl="1" indent="-382684">
              <a:spcBef>
                <a:spcPts val="2713"/>
              </a:spcBef>
              <a:buFont typeface="Arial MT"/>
              <a:buChar char="–"/>
              <a:tabLst>
                <a:tab pos="1009201" algn="l"/>
              </a:tabLst>
            </a:pPr>
            <a:r>
              <a:rPr sz="3267" dirty="0">
                <a:latin typeface="Calibri"/>
                <a:cs typeface="Calibri"/>
              </a:rPr>
              <a:t>degree</a:t>
            </a:r>
            <a:r>
              <a:rPr sz="3267" spc="100" dirty="0">
                <a:latin typeface="Calibri"/>
                <a:cs typeface="Calibri"/>
              </a:rPr>
              <a:t> </a:t>
            </a:r>
            <a:r>
              <a:rPr sz="3267" dirty="0">
                <a:latin typeface="Calibri"/>
                <a:cs typeface="Calibri"/>
              </a:rPr>
              <a:t>of</a:t>
            </a:r>
            <a:r>
              <a:rPr sz="3267" spc="27" dirty="0">
                <a:latin typeface="Calibri"/>
                <a:cs typeface="Calibri"/>
              </a:rPr>
              <a:t> </a:t>
            </a:r>
            <a:r>
              <a:rPr sz="3267" dirty="0">
                <a:latin typeface="Calibri"/>
                <a:cs typeface="Calibri"/>
              </a:rPr>
              <a:t>interaction</a:t>
            </a:r>
            <a:r>
              <a:rPr sz="3267" spc="100" dirty="0">
                <a:latin typeface="Calibri"/>
                <a:cs typeface="Calibri"/>
              </a:rPr>
              <a:t> </a:t>
            </a:r>
            <a:r>
              <a:rPr sz="3267" dirty="0">
                <a:latin typeface="Calibri"/>
                <a:cs typeface="Calibri"/>
              </a:rPr>
              <a:t>between</a:t>
            </a:r>
            <a:r>
              <a:rPr sz="3267" spc="152" dirty="0">
                <a:latin typeface="Calibri"/>
                <a:cs typeface="Calibri"/>
              </a:rPr>
              <a:t> </a:t>
            </a:r>
            <a:r>
              <a:rPr sz="3267" dirty="0">
                <a:latin typeface="Calibri"/>
                <a:cs typeface="Calibri"/>
              </a:rPr>
              <a:t>modules</a:t>
            </a:r>
            <a:r>
              <a:rPr sz="3267" spc="73" dirty="0">
                <a:latin typeface="Calibri"/>
                <a:cs typeface="Calibri"/>
              </a:rPr>
              <a:t> </a:t>
            </a:r>
            <a:r>
              <a:rPr sz="3267" dirty="0">
                <a:latin typeface="Calibri"/>
                <a:cs typeface="Calibri"/>
              </a:rPr>
              <a:t>is</a:t>
            </a:r>
            <a:r>
              <a:rPr sz="3267" spc="-20" dirty="0">
                <a:latin typeface="Calibri"/>
                <a:cs typeface="Calibri"/>
              </a:rPr>
              <a:t> </a:t>
            </a:r>
            <a:r>
              <a:rPr sz="3267" spc="-27" dirty="0">
                <a:latin typeface="Calibri"/>
                <a:cs typeface="Calibri"/>
              </a:rPr>
              <a:t>low.</a:t>
            </a:r>
            <a:endParaRPr sz="3267" dirty="0">
              <a:latin typeface="Calibri"/>
              <a:cs typeface="Calibri"/>
            </a:endParaRPr>
          </a:p>
          <a:p>
            <a:pPr marL="1008355" marR="337812" lvl="1" indent="-382684">
              <a:lnSpc>
                <a:spcPct val="107800"/>
              </a:lnSpc>
              <a:spcBef>
                <a:spcPts val="2360"/>
              </a:spcBef>
              <a:buFont typeface="Arial MT"/>
              <a:buChar char="–"/>
              <a:tabLst>
                <a:tab pos="1010895" algn="l"/>
              </a:tabLst>
            </a:pPr>
            <a:r>
              <a:rPr sz="3267" dirty="0">
                <a:latin typeface="Calibri"/>
                <a:cs typeface="Calibri"/>
              </a:rPr>
              <a:t>an</a:t>
            </a:r>
            <a:r>
              <a:rPr sz="3267" spc="-7" dirty="0">
                <a:latin typeface="Calibri"/>
                <a:cs typeface="Calibri"/>
              </a:rPr>
              <a:t> </a:t>
            </a:r>
            <a:r>
              <a:rPr sz="3267" dirty="0">
                <a:latin typeface="Calibri"/>
                <a:cs typeface="Calibri"/>
              </a:rPr>
              <a:t>error</a:t>
            </a:r>
            <a:r>
              <a:rPr sz="3267" spc="100" dirty="0">
                <a:latin typeface="Calibri"/>
                <a:cs typeface="Calibri"/>
              </a:rPr>
              <a:t> </a:t>
            </a:r>
            <a:r>
              <a:rPr sz="3267" dirty="0">
                <a:latin typeface="Calibri"/>
                <a:cs typeface="Calibri"/>
              </a:rPr>
              <a:t>existing</a:t>
            </a:r>
            <a:r>
              <a:rPr sz="3267" spc="80" dirty="0">
                <a:latin typeface="Calibri"/>
                <a:cs typeface="Calibri"/>
              </a:rPr>
              <a:t> </a:t>
            </a:r>
            <a:r>
              <a:rPr sz="3267" dirty="0">
                <a:latin typeface="Calibri"/>
                <a:cs typeface="Calibri"/>
              </a:rPr>
              <a:t>in</a:t>
            </a:r>
            <a:r>
              <a:rPr sz="3267" spc="7" dirty="0">
                <a:latin typeface="Calibri"/>
                <a:cs typeface="Calibri"/>
              </a:rPr>
              <a:t> </a:t>
            </a:r>
            <a:r>
              <a:rPr sz="3267" dirty="0">
                <a:latin typeface="Calibri"/>
                <a:cs typeface="Calibri"/>
              </a:rPr>
              <a:t>one</a:t>
            </a:r>
            <a:r>
              <a:rPr sz="3267" spc="40" dirty="0">
                <a:latin typeface="Calibri"/>
                <a:cs typeface="Calibri"/>
              </a:rPr>
              <a:t> </a:t>
            </a:r>
            <a:r>
              <a:rPr sz="3267" dirty="0">
                <a:latin typeface="Calibri"/>
                <a:cs typeface="Calibri"/>
              </a:rPr>
              <a:t>module</a:t>
            </a:r>
            <a:r>
              <a:rPr sz="3267" spc="140" dirty="0">
                <a:latin typeface="Calibri"/>
                <a:cs typeface="Calibri"/>
              </a:rPr>
              <a:t> </a:t>
            </a:r>
            <a:r>
              <a:rPr sz="3267" dirty="0">
                <a:latin typeface="Calibri"/>
                <a:cs typeface="Calibri"/>
              </a:rPr>
              <a:t>does</a:t>
            </a:r>
            <a:r>
              <a:rPr sz="3267" spc="60" dirty="0">
                <a:latin typeface="Calibri"/>
                <a:cs typeface="Calibri"/>
              </a:rPr>
              <a:t> </a:t>
            </a:r>
            <a:r>
              <a:rPr sz="3267" dirty="0">
                <a:latin typeface="Calibri"/>
                <a:cs typeface="Calibri"/>
              </a:rPr>
              <a:t>not</a:t>
            </a:r>
            <a:r>
              <a:rPr sz="3267" spc="53" dirty="0">
                <a:latin typeface="Calibri"/>
                <a:cs typeface="Calibri"/>
              </a:rPr>
              <a:t> </a:t>
            </a:r>
            <a:r>
              <a:rPr sz="3267" dirty="0">
                <a:latin typeface="Calibri"/>
                <a:cs typeface="Calibri"/>
              </a:rPr>
              <a:t>directly</a:t>
            </a:r>
            <a:r>
              <a:rPr sz="3267" spc="93" dirty="0">
                <a:latin typeface="Calibri"/>
                <a:cs typeface="Calibri"/>
              </a:rPr>
              <a:t> </a:t>
            </a:r>
            <a:r>
              <a:rPr sz="3267" spc="-13" dirty="0">
                <a:latin typeface="Calibri"/>
                <a:cs typeface="Calibri"/>
              </a:rPr>
              <a:t>affect 	</a:t>
            </a:r>
            <a:r>
              <a:rPr sz="3267" dirty="0">
                <a:latin typeface="Calibri"/>
                <a:cs typeface="Calibri"/>
              </a:rPr>
              <a:t>other</a:t>
            </a:r>
            <a:r>
              <a:rPr sz="3267" spc="80" dirty="0">
                <a:latin typeface="Calibri"/>
                <a:cs typeface="Calibri"/>
              </a:rPr>
              <a:t> </a:t>
            </a:r>
            <a:r>
              <a:rPr sz="3267" spc="-13" dirty="0">
                <a:latin typeface="Calibri"/>
                <a:cs typeface="Calibri"/>
              </a:rPr>
              <a:t>modules.</a:t>
            </a:r>
            <a:endParaRPr sz="3267" dirty="0">
              <a:latin typeface="Calibri"/>
              <a:cs typeface="Calibri"/>
            </a:endParaRPr>
          </a:p>
          <a:p>
            <a:pPr marL="474121" marR="5281373" indent="-457189">
              <a:lnSpc>
                <a:spcPct val="105100"/>
              </a:lnSpc>
              <a:spcBef>
                <a:spcPts val="2347"/>
              </a:spcBef>
              <a:buFont typeface="Arial MT"/>
              <a:buChar char="•"/>
              <a:tabLst>
                <a:tab pos="474121" algn="l"/>
              </a:tabLst>
            </a:pPr>
            <a:r>
              <a:rPr sz="3733" b="1" dirty="0">
                <a:solidFill>
                  <a:srgbClr val="0000FF"/>
                </a:solidFill>
                <a:latin typeface="Calibri"/>
                <a:cs typeface="Calibri"/>
              </a:rPr>
              <a:t>Also:</a:t>
            </a:r>
            <a:r>
              <a:rPr sz="3733" b="1" spc="-67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733" b="1" dirty="0">
                <a:solidFill>
                  <a:srgbClr val="0000FF"/>
                </a:solidFill>
                <a:latin typeface="Calibri"/>
                <a:cs typeface="Calibri"/>
              </a:rPr>
              <a:t>Reuse</a:t>
            </a:r>
            <a:r>
              <a:rPr sz="3733" b="1" spc="-7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733" b="1" dirty="0">
                <a:solidFill>
                  <a:srgbClr val="0000FF"/>
                </a:solidFill>
                <a:latin typeface="Calibri"/>
                <a:cs typeface="Calibri"/>
              </a:rPr>
              <a:t>of</a:t>
            </a:r>
            <a:r>
              <a:rPr sz="3733" b="1" spc="-27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733" b="1" dirty="0">
                <a:solidFill>
                  <a:srgbClr val="0000FF"/>
                </a:solidFill>
                <a:latin typeface="Calibri"/>
                <a:cs typeface="Calibri"/>
              </a:rPr>
              <a:t>modules</a:t>
            </a:r>
            <a:r>
              <a:rPr sz="3733" b="1" spc="-8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733" b="1" spc="-33" dirty="0">
                <a:solidFill>
                  <a:srgbClr val="0000FF"/>
                </a:solidFill>
                <a:latin typeface="Calibri"/>
                <a:cs typeface="Calibri"/>
              </a:rPr>
              <a:t>is </a:t>
            </a:r>
            <a:r>
              <a:rPr sz="3733" b="1" spc="-13" dirty="0">
                <a:solidFill>
                  <a:srgbClr val="0000FF"/>
                </a:solidFill>
                <a:latin typeface="Calibri"/>
                <a:cs typeface="Calibri"/>
              </a:rPr>
              <a:t>possible.</a:t>
            </a:r>
            <a:endParaRPr sz="3733" dirty="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107936" y="4035553"/>
            <a:ext cx="695112" cy="390313"/>
            <a:chOff x="5330952" y="3026664"/>
            <a:chExt cx="521334" cy="292735"/>
          </a:xfrm>
        </p:grpSpPr>
        <p:sp>
          <p:nvSpPr>
            <p:cNvPr id="4" name="object 4"/>
            <p:cNvSpPr/>
            <p:nvPr/>
          </p:nvSpPr>
          <p:spPr>
            <a:xfrm>
              <a:off x="5335524" y="3031236"/>
              <a:ext cx="512445" cy="283845"/>
            </a:xfrm>
            <a:custGeom>
              <a:avLst/>
              <a:gdLst/>
              <a:ahLst/>
              <a:cxnLst/>
              <a:rect l="l" t="t" r="r" b="b"/>
              <a:pathLst>
                <a:path w="512445" h="283845">
                  <a:moveTo>
                    <a:pt x="512063" y="0"/>
                  </a:moveTo>
                  <a:lnTo>
                    <a:pt x="0" y="0"/>
                  </a:lnTo>
                  <a:lnTo>
                    <a:pt x="0" y="283463"/>
                  </a:lnTo>
                  <a:lnTo>
                    <a:pt x="512063" y="283463"/>
                  </a:lnTo>
                  <a:lnTo>
                    <a:pt x="512063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" name="object 5"/>
            <p:cNvSpPr/>
            <p:nvPr/>
          </p:nvSpPr>
          <p:spPr>
            <a:xfrm>
              <a:off x="5335524" y="3031236"/>
              <a:ext cx="512445" cy="283845"/>
            </a:xfrm>
            <a:custGeom>
              <a:avLst/>
              <a:gdLst/>
              <a:ahLst/>
              <a:cxnLst/>
              <a:rect l="l" t="t" r="r" b="b"/>
              <a:pathLst>
                <a:path w="512445" h="283845">
                  <a:moveTo>
                    <a:pt x="0" y="283463"/>
                  </a:moveTo>
                  <a:lnTo>
                    <a:pt x="512063" y="283463"/>
                  </a:lnTo>
                  <a:lnTo>
                    <a:pt x="512063" y="0"/>
                  </a:lnTo>
                  <a:lnTo>
                    <a:pt x="0" y="0"/>
                  </a:lnTo>
                  <a:lnTo>
                    <a:pt x="0" y="283463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7107936" y="4718304"/>
            <a:ext cx="695112" cy="396240"/>
            <a:chOff x="5330952" y="3538728"/>
            <a:chExt cx="521334" cy="297180"/>
          </a:xfrm>
        </p:grpSpPr>
        <p:sp>
          <p:nvSpPr>
            <p:cNvPr id="7" name="object 7"/>
            <p:cNvSpPr/>
            <p:nvPr/>
          </p:nvSpPr>
          <p:spPr>
            <a:xfrm>
              <a:off x="5335524" y="3543300"/>
              <a:ext cx="512445" cy="288290"/>
            </a:xfrm>
            <a:custGeom>
              <a:avLst/>
              <a:gdLst/>
              <a:ahLst/>
              <a:cxnLst/>
              <a:rect l="l" t="t" r="r" b="b"/>
              <a:pathLst>
                <a:path w="512445" h="288289">
                  <a:moveTo>
                    <a:pt x="512063" y="0"/>
                  </a:moveTo>
                  <a:lnTo>
                    <a:pt x="0" y="0"/>
                  </a:lnTo>
                  <a:lnTo>
                    <a:pt x="0" y="288036"/>
                  </a:lnTo>
                  <a:lnTo>
                    <a:pt x="512063" y="288036"/>
                  </a:lnTo>
                  <a:lnTo>
                    <a:pt x="512063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" name="object 8"/>
            <p:cNvSpPr/>
            <p:nvPr/>
          </p:nvSpPr>
          <p:spPr>
            <a:xfrm>
              <a:off x="5335524" y="3543300"/>
              <a:ext cx="512445" cy="288290"/>
            </a:xfrm>
            <a:custGeom>
              <a:avLst/>
              <a:gdLst/>
              <a:ahLst/>
              <a:cxnLst/>
              <a:rect l="l" t="t" r="r" b="b"/>
              <a:pathLst>
                <a:path w="512445" h="288289">
                  <a:moveTo>
                    <a:pt x="0" y="288036"/>
                  </a:moveTo>
                  <a:lnTo>
                    <a:pt x="512063" y="288036"/>
                  </a:lnTo>
                  <a:lnTo>
                    <a:pt x="512063" y="0"/>
                  </a:lnTo>
                  <a:lnTo>
                    <a:pt x="0" y="0"/>
                  </a:lnTo>
                  <a:lnTo>
                    <a:pt x="0" y="288036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8095487" y="4718304"/>
            <a:ext cx="701040" cy="396240"/>
            <a:chOff x="6071615" y="3538728"/>
            <a:chExt cx="525780" cy="297180"/>
          </a:xfrm>
        </p:grpSpPr>
        <p:sp>
          <p:nvSpPr>
            <p:cNvPr id="10" name="object 10"/>
            <p:cNvSpPr/>
            <p:nvPr/>
          </p:nvSpPr>
          <p:spPr>
            <a:xfrm>
              <a:off x="6076187" y="3543300"/>
              <a:ext cx="516890" cy="288290"/>
            </a:xfrm>
            <a:custGeom>
              <a:avLst/>
              <a:gdLst/>
              <a:ahLst/>
              <a:cxnLst/>
              <a:rect l="l" t="t" r="r" b="b"/>
              <a:pathLst>
                <a:path w="516890" h="288289">
                  <a:moveTo>
                    <a:pt x="516636" y="0"/>
                  </a:moveTo>
                  <a:lnTo>
                    <a:pt x="0" y="0"/>
                  </a:lnTo>
                  <a:lnTo>
                    <a:pt x="0" y="288036"/>
                  </a:lnTo>
                  <a:lnTo>
                    <a:pt x="516636" y="288036"/>
                  </a:lnTo>
                  <a:lnTo>
                    <a:pt x="516636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6076187" y="3543300"/>
              <a:ext cx="516890" cy="288290"/>
            </a:xfrm>
            <a:custGeom>
              <a:avLst/>
              <a:gdLst/>
              <a:ahLst/>
              <a:cxnLst/>
              <a:rect l="l" t="t" r="r" b="b"/>
              <a:pathLst>
                <a:path w="516890" h="288289">
                  <a:moveTo>
                    <a:pt x="0" y="288036"/>
                  </a:moveTo>
                  <a:lnTo>
                    <a:pt x="516636" y="288036"/>
                  </a:lnTo>
                  <a:lnTo>
                    <a:pt x="516636" y="0"/>
                  </a:lnTo>
                  <a:lnTo>
                    <a:pt x="0" y="0"/>
                  </a:lnTo>
                  <a:lnTo>
                    <a:pt x="0" y="288036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8095487" y="4035553"/>
            <a:ext cx="701040" cy="390313"/>
            <a:chOff x="6071615" y="3026664"/>
            <a:chExt cx="525780" cy="292735"/>
          </a:xfrm>
        </p:grpSpPr>
        <p:sp>
          <p:nvSpPr>
            <p:cNvPr id="13" name="object 13"/>
            <p:cNvSpPr/>
            <p:nvPr/>
          </p:nvSpPr>
          <p:spPr>
            <a:xfrm>
              <a:off x="6076187" y="3031236"/>
              <a:ext cx="516890" cy="283845"/>
            </a:xfrm>
            <a:custGeom>
              <a:avLst/>
              <a:gdLst/>
              <a:ahLst/>
              <a:cxnLst/>
              <a:rect l="l" t="t" r="r" b="b"/>
              <a:pathLst>
                <a:path w="516890" h="283845">
                  <a:moveTo>
                    <a:pt x="516636" y="0"/>
                  </a:moveTo>
                  <a:lnTo>
                    <a:pt x="0" y="0"/>
                  </a:lnTo>
                  <a:lnTo>
                    <a:pt x="0" y="283463"/>
                  </a:lnTo>
                  <a:lnTo>
                    <a:pt x="516636" y="283463"/>
                  </a:lnTo>
                  <a:lnTo>
                    <a:pt x="516636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4" name="object 14"/>
            <p:cNvSpPr/>
            <p:nvPr/>
          </p:nvSpPr>
          <p:spPr>
            <a:xfrm>
              <a:off x="6076187" y="3031236"/>
              <a:ext cx="516890" cy="283845"/>
            </a:xfrm>
            <a:custGeom>
              <a:avLst/>
              <a:gdLst/>
              <a:ahLst/>
              <a:cxnLst/>
              <a:rect l="l" t="t" r="r" b="b"/>
              <a:pathLst>
                <a:path w="516890" h="283845">
                  <a:moveTo>
                    <a:pt x="0" y="283463"/>
                  </a:moveTo>
                  <a:lnTo>
                    <a:pt x="516636" y="283463"/>
                  </a:lnTo>
                  <a:lnTo>
                    <a:pt x="516636" y="0"/>
                  </a:lnTo>
                  <a:lnTo>
                    <a:pt x="0" y="0"/>
                  </a:lnTo>
                  <a:lnTo>
                    <a:pt x="0" y="283463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204796" y="5178890"/>
            <a:ext cx="1888913" cy="296661"/>
          </a:xfrm>
          <a:prstGeom prst="rect">
            <a:avLst/>
          </a:prstGeom>
        </p:spPr>
        <p:txBody>
          <a:bodyPr vert="horz" wrap="square" lIns="0" tIns="19472" rIns="0" bIns="0" rtlCol="0">
            <a:spAutoFit/>
          </a:bodyPr>
          <a:lstStyle/>
          <a:p>
            <a:pPr marL="16933">
              <a:spcBef>
                <a:spcPts val="152"/>
              </a:spcBef>
            </a:pPr>
            <a:r>
              <a:rPr b="1" dirty="0">
                <a:latin typeface="Comic Sans MS"/>
                <a:cs typeface="Comic Sans MS"/>
              </a:rPr>
              <a:t>No</a:t>
            </a:r>
            <a:r>
              <a:rPr b="1" spc="7" dirty="0">
                <a:latin typeface="Comic Sans MS"/>
                <a:cs typeface="Comic Sans MS"/>
              </a:rPr>
              <a:t> </a:t>
            </a:r>
            <a:r>
              <a:rPr b="1" spc="-13" dirty="0">
                <a:latin typeface="Comic Sans MS"/>
                <a:cs typeface="Comic Sans MS"/>
              </a:rPr>
              <a:t>dependencies</a:t>
            </a:r>
            <a:endParaRPr>
              <a:latin typeface="Comic Sans MS"/>
              <a:cs typeface="Comic Sans M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9747505" y="3980689"/>
            <a:ext cx="1689100" cy="1079500"/>
            <a:chOff x="7310628" y="2985516"/>
            <a:chExt cx="1266825" cy="809625"/>
          </a:xfrm>
        </p:grpSpPr>
        <p:sp>
          <p:nvSpPr>
            <p:cNvPr id="17" name="object 17"/>
            <p:cNvSpPr/>
            <p:nvPr/>
          </p:nvSpPr>
          <p:spPr>
            <a:xfrm>
              <a:off x="7315200" y="2990088"/>
              <a:ext cx="516890" cy="288290"/>
            </a:xfrm>
            <a:custGeom>
              <a:avLst/>
              <a:gdLst/>
              <a:ahLst/>
              <a:cxnLst/>
              <a:rect l="l" t="t" r="r" b="b"/>
              <a:pathLst>
                <a:path w="516890" h="288289">
                  <a:moveTo>
                    <a:pt x="516635" y="0"/>
                  </a:moveTo>
                  <a:lnTo>
                    <a:pt x="0" y="0"/>
                  </a:lnTo>
                  <a:lnTo>
                    <a:pt x="0" y="288036"/>
                  </a:lnTo>
                  <a:lnTo>
                    <a:pt x="516635" y="288036"/>
                  </a:lnTo>
                  <a:lnTo>
                    <a:pt x="516635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8" name="object 18"/>
            <p:cNvSpPr/>
            <p:nvPr/>
          </p:nvSpPr>
          <p:spPr>
            <a:xfrm>
              <a:off x="7315200" y="2990088"/>
              <a:ext cx="516890" cy="288290"/>
            </a:xfrm>
            <a:custGeom>
              <a:avLst/>
              <a:gdLst/>
              <a:ahLst/>
              <a:cxnLst/>
              <a:rect l="l" t="t" r="r" b="b"/>
              <a:pathLst>
                <a:path w="516890" h="288289">
                  <a:moveTo>
                    <a:pt x="0" y="288036"/>
                  </a:moveTo>
                  <a:lnTo>
                    <a:pt x="516635" y="288036"/>
                  </a:lnTo>
                  <a:lnTo>
                    <a:pt x="516635" y="0"/>
                  </a:lnTo>
                  <a:lnTo>
                    <a:pt x="0" y="0"/>
                  </a:lnTo>
                  <a:lnTo>
                    <a:pt x="0" y="288036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9" name="object 19"/>
            <p:cNvSpPr/>
            <p:nvPr/>
          </p:nvSpPr>
          <p:spPr>
            <a:xfrm>
              <a:off x="7315200" y="3506724"/>
              <a:ext cx="516890" cy="283845"/>
            </a:xfrm>
            <a:custGeom>
              <a:avLst/>
              <a:gdLst/>
              <a:ahLst/>
              <a:cxnLst/>
              <a:rect l="l" t="t" r="r" b="b"/>
              <a:pathLst>
                <a:path w="516890" h="283845">
                  <a:moveTo>
                    <a:pt x="516635" y="0"/>
                  </a:moveTo>
                  <a:lnTo>
                    <a:pt x="0" y="0"/>
                  </a:lnTo>
                  <a:lnTo>
                    <a:pt x="0" y="283463"/>
                  </a:lnTo>
                  <a:lnTo>
                    <a:pt x="516635" y="283463"/>
                  </a:lnTo>
                  <a:lnTo>
                    <a:pt x="516635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0" name="object 20"/>
            <p:cNvSpPr/>
            <p:nvPr/>
          </p:nvSpPr>
          <p:spPr>
            <a:xfrm>
              <a:off x="7315200" y="3506724"/>
              <a:ext cx="516890" cy="283845"/>
            </a:xfrm>
            <a:custGeom>
              <a:avLst/>
              <a:gdLst/>
              <a:ahLst/>
              <a:cxnLst/>
              <a:rect l="l" t="t" r="r" b="b"/>
              <a:pathLst>
                <a:path w="516890" h="283845">
                  <a:moveTo>
                    <a:pt x="0" y="283463"/>
                  </a:moveTo>
                  <a:lnTo>
                    <a:pt x="516635" y="283463"/>
                  </a:lnTo>
                  <a:lnTo>
                    <a:pt x="516635" y="0"/>
                  </a:lnTo>
                  <a:lnTo>
                    <a:pt x="0" y="0"/>
                  </a:lnTo>
                  <a:lnTo>
                    <a:pt x="0" y="283463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1" name="object 21"/>
            <p:cNvSpPr/>
            <p:nvPr/>
          </p:nvSpPr>
          <p:spPr>
            <a:xfrm>
              <a:off x="8060436" y="3506724"/>
              <a:ext cx="512445" cy="283845"/>
            </a:xfrm>
            <a:custGeom>
              <a:avLst/>
              <a:gdLst/>
              <a:ahLst/>
              <a:cxnLst/>
              <a:rect l="l" t="t" r="r" b="b"/>
              <a:pathLst>
                <a:path w="512445" h="283845">
                  <a:moveTo>
                    <a:pt x="512064" y="0"/>
                  </a:moveTo>
                  <a:lnTo>
                    <a:pt x="0" y="0"/>
                  </a:lnTo>
                  <a:lnTo>
                    <a:pt x="0" y="283463"/>
                  </a:lnTo>
                  <a:lnTo>
                    <a:pt x="512064" y="283463"/>
                  </a:lnTo>
                  <a:lnTo>
                    <a:pt x="512064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2" name="object 22"/>
            <p:cNvSpPr/>
            <p:nvPr/>
          </p:nvSpPr>
          <p:spPr>
            <a:xfrm>
              <a:off x="8060436" y="3506724"/>
              <a:ext cx="512445" cy="283845"/>
            </a:xfrm>
            <a:custGeom>
              <a:avLst/>
              <a:gdLst/>
              <a:ahLst/>
              <a:cxnLst/>
              <a:rect l="l" t="t" r="r" b="b"/>
              <a:pathLst>
                <a:path w="512445" h="283845">
                  <a:moveTo>
                    <a:pt x="0" y="283463"/>
                  </a:moveTo>
                  <a:lnTo>
                    <a:pt x="512064" y="283463"/>
                  </a:lnTo>
                  <a:lnTo>
                    <a:pt x="512064" y="0"/>
                  </a:lnTo>
                  <a:lnTo>
                    <a:pt x="0" y="0"/>
                  </a:lnTo>
                  <a:lnTo>
                    <a:pt x="0" y="283463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3" name="object 23"/>
            <p:cNvSpPr/>
            <p:nvPr/>
          </p:nvSpPr>
          <p:spPr>
            <a:xfrm>
              <a:off x="8060436" y="2990088"/>
              <a:ext cx="512445" cy="288290"/>
            </a:xfrm>
            <a:custGeom>
              <a:avLst/>
              <a:gdLst/>
              <a:ahLst/>
              <a:cxnLst/>
              <a:rect l="l" t="t" r="r" b="b"/>
              <a:pathLst>
                <a:path w="512445" h="288289">
                  <a:moveTo>
                    <a:pt x="512064" y="0"/>
                  </a:moveTo>
                  <a:lnTo>
                    <a:pt x="0" y="0"/>
                  </a:lnTo>
                  <a:lnTo>
                    <a:pt x="0" y="288036"/>
                  </a:lnTo>
                  <a:lnTo>
                    <a:pt x="512064" y="288036"/>
                  </a:lnTo>
                  <a:lnTo>
                    <a:pt x="512064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4" name="object 24"/>
            <p:cNvSpPr/>
            <p:nvPr/>
          </p:nvSpPr>
          <p:spPr>
            <a:xfrm>
              <a:off x="8060436" y="2990088"/>
              <a:ext cx="512445" cy="288290"/>
            </a:xfrm>
            <a:custGeom>
              <a:avLst/>
              <a:gdLst/>
              <a:ahLst/>
              <a:cxnLst/>
              <a:rect l="l" t="t" r="r" b="b"/>
              <a:pathLst>
                <a:path w="512445" h="288289">
                  <a:moveTo>
                    <a:pt x="0" y="288036"/>
                  </a:moveTo>
                  <a:lnTo>
                    <a:pt x="512064" y="288036"/>
                  </a:lnTo>
                  <a:lnTo>
                    <a:pt x="512064" y="0"/>
                  </a:lnTo>
                  <a:lnTo>
                    <a:pt x="0" y="0"/>
                  </a:lnTo>
                  <a:lnTo>
                    <a:pt x="0" y="288036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91400" y="3278124"/>
              <a:ext cx="76200" cy="2286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05700" y="3278124"/>
              <a:ext cx="76200" cy="2286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20000" y="3278124"/>
              <a:ext cx="76200" cy="2286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77200" y="3278124"/>
              <a:ext cx="76200" cy="2286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1500" y="3278124"/>
              <a:ext cx="76200" cy="22860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7769098" y="3011423"/>
              <a:ext cx="291465" cy="762000"/>
            </a:xfrm>
            <a:custGeom>
              <a:avLst/>
              <a:gdLst/>
              <a:ahLst/>
              <a:cxnLst/>
              <a:rect l="l" t="t" r="r" b="b"/>
              <a:pathLst>
                <a:path w="291465" h="762000">
                  <a:moveTo>
                    <a:pt x="291338" y="658114"/>
                  </a:moveTo>
                  <a:lnTo>
                    <a:pt x="138938" y="658114"/>
                  </a:lnTo>
                  <a:lnTo>
                    <a:pt x="138938" y="626364"/>
                  </a:lnTo>
                  <a:lnTo>
                    <a:pt x="62738" y="664464"/>
                  </a:lnTo>
                  <a:lnTo>
                    <a:pt x="122174" y="694182"/>
                  </a:lnTo>
                  <a:lnTo>
                    <a:pt x="62738" y="723900"/>
                  </a:lnTo>
                  <a:lnTo>
                    <a:pt x="138938" y="762000"/>
                  </a:lnTo>
                  <a:lnTo>
                    <a:pt x="138938" y="730250"/>
                  </a:lnTo>
                  <a:lnTo>
                    <a:pt x="291338" y="730250"/>
                  </a:lnTo>
                  <a:lnTo>
                    <a:pt x="291338" y="717550"/>
                  </a:lnTo>
                  <a:lnTo>
                    <a:pt x="138938" y="717550"/>
                  </a:lnTo>
                  <a:lnTo>
                    <a:pt x="138938" y="702564"/>
                  </a:lnTo>
                  <a:lnTo>
                    <a:pt x="138938" y="685800"/>
                  </a:lnTo>
                  <a:lnTo>
                    <a:pt x="138938" y="670814"/>
                  </a:lnTo>
                  <a:lnTo>
                    <a:pt x="291338" y="670814"/>
                  </a:lnTo>
                  <a:lnTo>
                    <a:pt x="291338" y="658114"/>
                  </a:lnTo>
                  <a:close/>
                </a:path>
                <a:path w="291465" h="762000">
                  <a:moveTo>
                    <a:pt x="291338" y="609600"/>
                  </a:moveTo>
                  <a:lnTo>
                    <a:pt x="278638" y="603250"/>
                  </a:lnTo>
                  <a:lnTo>
                    <a:pt x="215138" y="571500"/>
                  </a:lnTo>
                  <a:lnTo>
                    <a:pt x="215138" y="603250"/>
                  </a:lnTo>
                  <a:lnTo>
                    <a:pt x="62738" y="603250"/>
                  </a:lnTo>
                  <a:lnTo>
                    <a:pt x="62738" y="615950"/>
                  </a:lnTo>
                  <a:lnTo>
                    <a:pt x="215138" y="615950"/>
                  </a:lnTo>
                  <a:lnTo>
                    <a:pt x="215138" y="647700"/>
                  </a:lnTo>
                  <a:lnTo>
                    <a:pt x="278638" y="615950"/>
                  </a:lnTo>
                  <a:lnTo>
                    <a:pt x="291338" y="609600"/>
                  </a:lnTo>
                  <a:close/>
                </a:path>
                <a:path w="291465" h="762000">
                  <a:moveTo>
                    <a:pt x="291338" y="266700"/>
                  </a:moveTo>
                  <a:lnTo>
                    <a:pt x="206375" y="272415"/>
                  </a:lnTo>
                  <a:lnTo>
                    <a:pt x="222453" y="299821"/>
                  </a:lnTo>
                  <a:lnTo>
                    <a:pt x="127" y="430403"/>
                  </a:lnTo>
                  <a:lnTo>
                    <a:pt x="6477" y="441325"/>
                  </a:lnTo>
                  <a:lnTo>
                    <a:pt x="228841" y="310718"/>
                  </a:lnTo>
                  <a:lnTo>
                    <a:pt x="237705" y="325818"/>
                  </a:lnTo>
                  <a:lnTo>
                    <a:pt x="206375" y="328295"/>
                  </a:lnTo>
                  <a:lnTo>
                    <a:pt x="222745" y="355460"/>
                  </a:lnTo>
                  <a:lnTo>
                    <a:pt x="0" y="489839"/>
                  </a:lnTo>
                  <a:lnTo>
                    <a:pt x="6604" y="500773"/>
                  </a:lnTo>
                  <a:lnTo>
                    <a:pt x="229336" y="366395"/>
                  </a:lnTo>
                  <a:lnTo>
                    <a:pt x="245745" y="393573"/>
                  </a:lnTo>
                  <a:lnTo>
                    <a:pt x="274040" y="348869"/>
                  </a:lnTo>
                  <a:lnTo>
                    <a:pt x="291338" y="321564"/>
                  </a:lnTo>
                  <a:lnTo>
                    <a:pt x="253834" y="324535"/>
                  </a:lnTo>
                  <a:lnTo>
                    <a:pt x="274040" y="293370"/>
                  </a:lnTo>
                  <a:lnTo>
                    <a:pt x="291338" y="266700"/>
                  </a:lnTo>
                  <a:close/>
                </a:path>
                <a:path w="291465" h="762000">
                  <a:moveTo>
                    <a:pt x="291338" y="152400"/>
                  </a:moveTo>
                  <a:lnTo>
                    <a:pt x="278638" y="146050"/>
                  </a:lnTo>
                  <a:lnTo>
                    <a:pt x="215138" y="114300"/>
                  </a:lnTo>
                  <a:lnTo>
                    <a:pt x="215138" y="146050"/>
                  </a:lnTo>
                  <a:lnTo>
                    <a:pt x="62738" y="146050"/>
                  </a:lnTo>
                  <a:lnTo>
                    <a:pt x="62738" y="158750"/>
                  </a:lnTo>
                  <a:lnTo>
                    <a:pt x="215138" y="158750"/>
                  </a:lnTo>
                  <a:lnTo>
                    <a:pt x="215138" y="169164"/>
                  </a:lnTo>
                  <a:lnTo>
                    <a:pt x="215138" y="190500"/>
                  </a:lnTo>
                  <a:lnTo>
                    <a:pt x="215138" y="200914"/>
                  </a:lnTo>
                  <a:lnTo>
                    <a:pt x="62738" y="200914"/>
                  </a:lnTo>
                  <a:lnTo>
                    <a:pt x="62738" y="213614"/>
                  </a:lnTo>
                  <a:lnTo>
                    <a:pt x="215138" y="213614"/>
                  </a:lnTo>
                  <a:lnTo>
                    <a:pt x="215138" y="245364"/>
                  </a:lnTo>
                  <a:lnTo>
                    <a:pt x="278638" y="213614"/>
                  </a:lnTo>
                  <a:lnTo>
                    <a:pt x="291338" y="207264"/>
                  </a:lnTo>
                  <a:lnTo>
                    <a:pt x="278638" y="200914"/>
                  </a:lnTo>
                  <a:lnTo>
                    <a:pt x="236474" y="179832"/>
                  </a:lnTo>
                  <a:lnTo>
                    <a:pt x="278638" y="158750"/>
                  </a:lnTo>
                  <a:lnTo>
                    <a:pt x="291338" y="152400"/>
                  </a:lnTo>
                  <a:close/>
                </a:path>
                <a:path w="291465" h="762000">
                  <a:moveTo>
                    <a:pt x="291338" y="86614"/>
                  </a:moveTo>
                  <a:lnTo>
                    <a:pt x="138938" y="86614"/>
                  </a:lnTo>
                  <a:lnTo>
                    <a:pt x="138938" y="54864"/>
                  </a:lnTo>
                  <a:lnTo>
                    <a:pt x="62738" y="92964"/>
                  </a:lnTo>
                  <a:lnTo>
                    <a:pt x="138938" y="131064"/>
                  </a:lnTo>
                  <a:lnTo>
                    <a:pt x="138938" y="99314"/>
                  </a:lnTo>
                  <a:lnTo>
                    <a:pt x="291338" y="99314"/>
                  </a:lnTo>
                  <a:lnTo>
                    <a:pt x="291338" y="86614"/>
                  </a:lnTo>
                  <a:close/>
                </a:path>
                <a:path w="291465" h="762000">
                  <a:moveTo>
                    <a:pt x="291338" y="38100"/>
                  </a:moveTo>
                  <a:lnTo>
                    <a:pt x="278638" y="31750"/>
                  </a:lnTo>
                  <a:lnTo>
                    <a:pt x="215138" y="0"/>
                  </a:lnTo>
                  <a:lnTo>
                    <a:pt x="215138" y="31750"/>
                  </a:lnTo>
                  <a:lnTo>
                    <a:pt x="62738" y="31750"/>
                  </a:lnTo>
                  <a:lnTo>
                    <a:pt x="62738" y="44450"/>
                  </a:lnTo>
                  <a:lnTo>
                    <a:pt x="215138" y="44450"/>
                  </a:lnTo>
                  <a:lnTo>
                    <a:pt x="215138" y="76200"/>
                  </a:lnTo>
                  <a:lnTo>
                    <a:pt x="278638" y="44450"/>
                  </a:lnTo>
                  <a:lnTo>
                    <a:pt x="291338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40980855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7754" y="59644"/>
            <a:ext cx="11459633" cy="5376344"/>
          </a:xfrm>
          <a:prstGeom prst="rect">
            <a:avLst/>
          </a:prstGeom>
        </p:spPr>
        <p:txBody>
          <a:bodyPr vert="horz" wrap="square" lIns="0" tIns="248920" rIns="0" bIns="0" rtlCol="0">
            <a:spAutoFit/>
          </a:bodyPr>
          <a:lstStyle/>
          <a:p>
            <a:pPr marR="144776" algn="ctr">
              <a:spcBef>
                <a:spcPts val="1960"/>
              </a:spcBef>
            </a:pPr>
            <a:r>
              <a:rPr sz="3200" b="1" dirty="0">
                <a:latin typeface="Calibri"/>
                <a:cs typeface="Calibri"/>
              </a:rPr>
              <a:t>Reuse:</a:t>
            </a:r>
            <a:r>
              <a:rPr sz="3200" b="1" spc="-12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An</a:t>
            </a:r>
            <a:r>
              <a:rPr sz="3200" b="1" spc="-87" dirty="0">
                <a:latin typeface="Calibri"/>
                <a:cs typeface="Calibri"/>
              </a:rPr>
              <a:t> </a:t>
            </a:r>
            <a:r>
              <a:rPr sz="3200" b="1" spc="-13" dirty="0">
                <a:latin typeface="Calibri"/>
                <a:cs typeface="Calibri"/>
              </a:rPr>
              <a:t>Advantage</a:t>
            </a:r>
            <a:r>
              <a:rPr sz="3200" b="1" spc="-47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of</a:t>
            </a:r>
            <a:r>
              <a:rPr sz="3200" b="1" spc="-107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Functional</a:t>
            </a:r>
            <a:r>
              <a:rPr sz="3200" b="1" spc="-53" dirty="0">
                <a:latin typeface="Calibri"/>
                <a:cs typeface="Calibri"/>
              </a:rPr>
              <a:t> </a:t>
            </a:r>
            <a:r>
              <a:rPr sz="3200" b="1" spc="-13" dirty="0">
                <a:latin typeface="Calibri"/>
                <a:cs typeface="Calibri"/>
              </a:rPr>
              <a:t>Independence</a:t>
            </a:r>
            <a:endParaRPr sz="3200">
              <a:latin typeface="Calibri"/>
              <a:cs typeface="Calibri"/>
            </a:endParaRPr>
          </a:p>
          <a:p>
            <a:pPr marL="473275" indent="-456342">
              <a:spcBef>
                <a:spcPts val="2227"/>
              </a:spcBef>
              <a:buFont typeface="Arial MT"/>
              <a:buChar char="•"/>
              <a:tabLst>
                <a:tab pos="473275" algn="l"/>
              </a:tabLst>
            </a:pPr>
            <a:r>
              <a:rPr sz="4000" dirty="0">
                <a:latin typeface="Calibri"/>
                <a:cs typeface="Calibri"/>
              </a:rPr>
              <a:t>A</a:t>
            </a:r>
            <a:r>
              <a:rPr sz="4000" spc="-12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functionally</a:t>
            </a:r>
            <a:r>
              <a:rPr sz="4000" spc="-14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independent</a:t>
            </a:r>
            <a:r>
              <a:rPr sz="4000" spc="-100" dirty="0">
                <a:latin typeface="Calibri"/>
                <a:cs typeface="Calibri"/>
              </a:rPr>
              <a:t> </a:t>
            </a:r>
            <a:r>
              <a:rPr sz="4000" spc="-13" dirty="0">
                <a:latin typeface="Calibri"/>
                <a:cs typeface="Calibri"/>
              </a:rPr>
              <a:t>module:</a:t>
            </a:r>
            <a:endParaRPr sz="4000">
              <a:latin typeface="Calibri"/>
              <a:cs typeface="Calibri"/>
            </a:endParaRPr>
          </a:p>
          <a:p>
            <a:pPr marL="1009201" marR="1579841" lvl="1" indent="-382684">
              <a:lnSpc>
                <a:spcPct val="120200"/>
              </a:lnSpc>
              <a:spcBef>
                <a:spcPts val="1647"/>
              </a:spcBef>
              <a:buFont typeface="Arial MT"/>
              <a:buChar char="–"/>
              <a:tabLst>
                <a:tab pos="1010895" algn="l"/>
              </a:tabLst>
            </a:pPr>
            <a:r>
              <a:rPr sz="3600" dirty="0">
                <a:latin typeface="Calibri"/>
                <a:cs typeface="Calibri"/>
              </a:rPr>
              <a:t>can</a:t>
            </a:r>
            <a:r>
              <a:rPr sz="3600" spc="-8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be</a:t>
            </a:r>
            <a:r>
              <a:rPr sz="3600" spc="-8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easily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taken</a:t>
            </a:r>
            <a:r>
              <a:rPr sz="3600" spc="-8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out</a:t>
            </a:r>
            <a:r>
              <a:rPr sz="3600" spc="-6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and</a:t>
            </a:r>
            <a:r>
              <a:rPr sz="3600" spc="-8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reused</a:t>
            </a:r>
            <a:r>
              <a:rPr sz="3600" spc="-33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in</a:t>
            </a:r>
            <a:r>
              <a:rPr sz="3600" spc="-4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</a:t>
            </a:r>
            <a:r>
              <a:rPr sz="3600" spc="-60" dirty="0">
                <a:latin typeface="Calibri"/>
                <a:cs typeface="Calibri"/>
              </a:rPr>
              <a:t> </a:t>
            </a:r>
            <a:r>
              <a:rPr sz="3600" spc="-13" dirty="0">
                <a:latin typeface="Calibri"/>
                <a:cs typeface="Calibri"/>
              </a:rPr>
              <a:t>different 	program.</a:t>
            </a:r>
            <a:endParaRPr sz="3600">
              <a:latin typeface="Calibri"/>
              <a:cs typeface="Calibri"/>
            </a:endParaRPr>
          </a:p>
          <a:p>
            <a:pPr marL="1540048" lvl="2" indent="-303946">
              <a:spcBef>
                <a:spcPts val="2473"/>
              </a:spcBef>
              <a:buFont typeface="Arial MT"/>
              <a:buChar char="•"/>
              <a:tabLst>
                <a:tab pos="1540048" algn="l"/>
              </a:tabLst>
            </a:pPr>
            <a:r>
              <a:rPr sz="3200" dirty="0">
                <a:latin typeface="Calibri"/>
                <a:cs typeface="Calibri"/>
              </a:rPr>
              <a:t>each</a:t>
            </a:r>
            <a:r>
              <a:rPr sz="3200" spc="-93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module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does</a:t>
            </a:r>
            <a:r>
              <a:rPr sz="3200" spc="-47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some</a:t>
            </a:r>
            <a:r>
              <a:rPr sz="3200" spc="-127" dirty="0">
                <a:latin typeface="Calibri"/>
                <a:cs typeface="Calibri"/>
              </a:rPr>
              <a:t> </a:t>
            </a:r>
            <a:r>
              <a:rPr sz="3200" spc="-13" dirty="0">
                <a:latin typeface="Calibri"/>
                <a:cs typeface="Calibri"/>
              </a:rPr>
              <a:t>well-</a:t>
            </a:r>
            <a:r>
              <a:rPr sz="3200" dirty="0">
                <a:latin typeface="Calibri"/>
                <a:cs typeface="Calibri"/>
              </a:rPr>
              <a:t>defined</a:t>
            </a:r>
            <a:r>
              <a:rPr sz="3200" spc="47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87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precise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13" dirty="0">
                <a:latin typeface="Calibri"/>
                <a:cs typeface="Calibri"/>
              </a:rPr>
              <a:t>function</a:t>
            </a:r>
            <a:endParaRPr sz="3200">
              <a:latin typeface="Calibri"/>
              <a:cs typeface="Calibri"/>
            </a:endParaRPr>
          </a:p>
          <a:p>
            <a:pPr marL="1540048" marR="6773" lvl="2" indent="-303946">
              <a:lnSpc>
                <a:spcPct val="120200"/>
              </a:lnSpc>
              <a:spcBef>
                <a:spcPts val="1573"/>
              </a:spcBef>
              <a:buFont typeface="Arial MT"/>
              <a:buChar char="•"/>
              <a:tabLst>
                <a:tab pos="1541741" algn="l"/>
              </a:tabLst>
            </a:pPr>
            <a:r>
              <a:rPr sz="3200" dirty="0">
                <a:latin typeface="Calibri"/>
                <a:cs typeface="Calibri"/>
              </a:rPr>
              <a:t>the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-13" dirty="0">
                <a:latin typeface="Calibri"/>
                <a:cs typeface="Calibri"/>
              </a:rPr>
              <a:t>interfaces</a:t>
            </a:r>
            <a:r>
              <a:rPr sz="3200" spc="7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67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module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with</a:t>
            </a:r>
            <a:r>
              <a:rPr sz="3200" spc="-67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other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modules</a:t>
            </a:r>
            <a:r>
              <a:rPr sz="3200" spc="-67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67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simple</a:t>
            </a:r>
            <a:r>
              <a:rPr sz="3200" spc="-73" dirty="0">
                <a:latin typeface="Calibri"/>
                <a:cs typeface="Calibri"/>
              </a:rPr>
              <a:t> </a:t>
            </a:r>
            <a:r>
              <a:rPr sz="3200" spc="-33" dirty="0">
                <a:latin typeface="Calibri"/>
                <a:cs typeface="Calibri"/>
              </a:rPr>
              <a:t>and 	</a:t>
            </a:r>
            <a:r>
              <a:rPr sz="3200" spc="-13" dirty="0">
                <a:latin typeface="Calibri"/>
                <a:cs typeface="Calibri"/>
              </a:rPr>
              <a:t>minimal.</a:t>
            </a:r>
            <a:endParaRPr sz="3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415115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8890" y="198864"/>
            <a:ext cx="10710607" cy="691535"/>
          </a:xfrm>
          <a:prstGeom prst="rect">
            <a:avLst/>
          </a:prstGeom>
        </p:spPr>
        <p:txBody>
          <a:bodyPr vert="horz" wrap="square" lIns="0" tIns="95503" rIns="0" bIns="0" rtlCol="0" anchor="ctr">
            <a:spAutoFit/>
          </a:bodyPr>
          <a:lstStyle/>
          <a:p>
            <a:pPr>
              <a:lnSpc>
                <a:spcPct val="100000"/>
              </a:lnSpc>
              <a:spcBef>
                <a:spcPts val="152"/>
              </a:spcBef>
            </a:pPr>
            <a:r>
              <a:rPr sz="3867" dirty="0"/>
              <a:t>Measuring</a:t>
            </a:r>
            <a:r>
              <a:rPr sz="3867" spc="-80" dirty="0"/>
              <a:t> </a:t>
            </a:r>
            <a:r>
              <a:rPr sz="3867" dirty="0"/>
              <a:t>Functional</a:t>
            </a:r>
            <a:r>
              <a:rPr sz="3867" spc="-107" dirty="0"/>
              <a:t> </a:t>
            </a:r>
            <a:r>
              <a:rPr sz="3867" spc="-13" dirty="0"/>
              <a:t>Independence</a:t>
            </a:r>
            <a:endParaRPr sz="3867" dirty="0"/>
          </a:p>
        </p:txBody>
      </p:sp>
      <p:sp>
        <p:nvSpPr>
          <p:cNvPr id="3" name="object 3"/>
          <p:cNvSpPr txBox="1"/>
          <p:nvPr/>
        </p:nvSpPr>
        <p:spPr>
          <a:xfrm>
            <a:off x="430107" y="1056288"/>
            <a:ext cx="11761893" cy="4479838"/>
          </a:xfrm>
          <a:prstGeom prst="rect">
            <a:avLst/>
          </a:prstGeom>
        </p:spPr>
        <p:txBody>
          <a:bodyPr vert="horz" wrap="square" lIns="0" tIns="18627" rIns="0" bIns="0" rtlCol="0">
            <a:spAutoFit/>
          </a:bodyPr>
          <a:lstStyle/>
          <a:p>
            <a:pPr marL="473275" indent="-456342">
              <a:spcBef>
                <a:spcPts val="147"/>
              </a:spcBef>
              <a:buFont typeface="Arial MT"/>
              <a:buChar char="•"/>
              <a:tabLst>
                <a:tab pos="473275" algn="l"/>
              </a:tabLst>
            </a:pPr>
            <a:r>
              <a:rPr sz="3733" spc="-33" dirty="0">
                <a:latin typeface="Calibri"/>
                <a:cs typeface="Calibri"/>
              </a:rPr>
              <a:t>Unfortunately,</a:t>
            </a:r>
            <a:r>
              <a:rPr sz="3733" spc="-87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there</a:t>
            </a:r>
            <a:r>
              <a:rPr sz="3733" spc="-80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are</a:t>
            </a:r>
            <a:r>
              <a:rPr sz="3733" spc="-87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no</a:t>
            </a:r>
            <a:r>
              <a:rPr sz="3733" spc="-60" dirty="0">
                <a:latin typeface="Calibri"/>
                <a:cs typeface="Calibri"/>
              </a:rPr>
              <a:t> </a:t>
            </a:r>
            <a:r>
              <a:rPr sz="3733" spc="-13" dirty="0">
                <a:latin typeface="Calibri"/>
                <a:cs typeface="Calibri"/>
              </a:rPr>
              <a:t>ways:</a:t>
            </a:r>
            <a:endParaRPr sz="3733" dirty="0">
              <a:latin typeface="Calibri"/>
              <a:cs typeface="Calibri"/>
            </a:endParaRPr>
          </a:p>
          <a:p>
            <a:pPr marL="1008355" marR="336118" lvl="1" indent="-382684">
              <a:lnSpc>
                <a:spcPct val="120100"/>
              </a:lnSpc>
              <a:spcBef>
                <a:spcPts val="1873"/>
              </a:spcBef>
              <a:buFont typeface="Arial MT"/>
              <a:buChar char="–"/>
              <a:tabLst>
                <a:tab pos="1010895" algn="l"/>
                <a:tab pos="6160193" algn="l"/>
              </a:tabLst>
            </a:pPr>
            <a:r>
              <a:rPr sz="3733" dirty="0">
                <a:latin typeface="Calibri"/>
                <a:cs typeface="Calibri"/>
              </a:rPr>
              <a:t>to</a:t>
            </a:r>
            <a:r>
              <a:rPr sz="3733" spc="-93" dirty="0">
                <a:latin typeface="Calibri"/>
                <a:cs typeface="Calibri"/>
              </a:rPr>
              <a:t> </a:t>
            </a:r>
            <a:r>
              <a:rPr sz="3733" spc="-13" dirty="0">
                <a:latin typeface="Calibri"/>
                <a:cs typeface="Calibri"/>
              </a:rPr>
              <a:t>quantitatively</a:t>
            </a:r>
            <a:r>
              <a:rPr sz="3733" spc="-80" dirty="0">
                <a:latin typeface="Calibri"/>
                <a:cs typeface="Calibri"/>
              </a:rPr>
              <a:t> </a:t>
            </a:r>
            <a:r>
              <a:rPr sz="3733" spc="-13" dirty="0">
                <a:latin typeface="Calibri"/>
                <a:cs typeface="Calibri"/>
              </a:rPr>
              <a:t>measure</a:t>
            </a:r>
            <a:r>
              <a:rPr sz="3733" dirty="0">
                <a:latin typeface="Calibri"/>
                <a:cs typeface="Calibri"/>
              </a:rPr>
              <a:t>	the</a:t>
            </a:r>
            <a:r>
              <a:rPr sz="3733" spc="-73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degree</a:t>
            </a:r>
            <a:r>
              <a:rPr sz="3733" spc="-100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of</a:t>
            </a:r>
            <a:r>
              <a:rPr sz="3733" spc="-67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cohesion</a:t>
            </a:r>
            <a:r>
              <a:rPr sz="3733" spc="-73" dirty="0">
                <a:latin typeface="Calibri"/>
                <a:cs typeface="Calibri"/>
              </a:rPr>
              <a:t> </a:t>
            </a:r>
            <a:r>
              <a:rPr sz="3733" spc="-33" dirty="0">
                <a:latin typeface="Calibri"/>
                <a:cs typeface="Calibri"/>
              </a:rPr>
              <a:t>and 	</a:t>
            </a:r>
            <a:r>
              <a:rPr sz="3733" spc="-13" dirty="0">
                <a:latin typeface="Calibri"/>
                <a:cs typeface="Calibri"/>
              </a:rPr>
              <a:t>coupling</a:t>
            </a:r>
            <a:r>
              <a:rPr sz="3200" spc="-13" dirty="0">
                <a:latin typeface="Calibri"/>
                <a:cs typeface="Calibri"/>
              </a:rPr>
              <a:t>:</a:t>
            </a:r>
            <a:endParaRPr sz="3200" dirty="0">
              <a:latin typeface="Calibri"/>
              <a:cs typeface="Calibri"/>
            </a:endParaRPr>
          </a:p>
          <a:p>
            <a:pPr marL="1010048" lvl="1" indent="-383530">
              <a:spcBef>
                <a:spcPts val="2733"/>
              </a:spcBef>
              <a:buFont typeface="Arial MT"/>
              <a:buChar char="–"/>
              <a:tabLst>
                <a:tab pos="1010048" algn="l"/>
                <a:tab pos="6569969" algn="l"/>
              </a:tabLst>
            </a:pPr>
            <a:r>
              <a:rPr sz="3200" dirty="0">
                <a:solidFill>
                  <a:srgbClr val="0000FF"/>
                </a:solidFill>
                <a:latin typeface="Calibri"/>
                <a:cs typeface="Calibri"/>
              </a:rPr>
              <a:t>At</a:t>
            </a:r>
            <a:r>
              <a:rPr sz="3200" spc="-11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00FF"/>
                </a:solidFill>
                <a:latin typeface="Calibri"/>
                <a:cs typeface="Calibri"/>
              </a:rPr>
              <a:t>least</a:t>
            </a:r>
            <a:r>
              <a:rPr sz="3200" spc="-7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spc="-13" dirty="0">
                <a:solidFill>
                  <a:srgbClr val="0000FF"/>
                </a:solidFill>
                <a:latin typeface="Calibri"/>
                <a:cs typeface="Calibri"/>
              </a:rPr>
              <a:t>classification</a:t>
            </a:r>
            <a:r>
              <a:rPr sz="3200" spc="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00FF"/>
                </a:solidFill>
                <a:latin typeface="Calibri"/>
                <a:cs typeface="Calibri"/>
              </a:rPr>
              <a:t>of</a:t>
            </a:r>
            <a:r>
              <a:rPr sz="3200" spc="-11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spc="-13" dirty="0">
                <a:solidFill>
                  <a:srgbClr val="0000FF"/>
                </a:solidFill>
                <a:latin typeface="Calibri"/>
                <a:cs typeface="Calibri"/>
              </a:rPr>
              <a:t>different</a:t>
            </a:r>
            <a:r>
              <a:rPr sz="3200" dirty="0">
                <a:solidFill>
                  <a:srgbClr val="0000FF"/>
                </a:solidFill>
                <a:latin typeface="Calibri"/>
                <a:cs typeface="Calibri"/>
              </a:rPr>
              <a:t>	kinds</a:t>
            </a:r>
            <a:r>
              <a:rPr sz="3200" spc="-6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00FF"/>
                </a:solidFill>
                <a:latin typeface="Calibri"/>
                <a:cs typeface="Calibri"/>
              </a:rPr>
              <a:t>of</a:t>
            </a:r>
            <a:r>
              <a:rPr sz="3200" spc="-9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00FF"/>
                </a:solidFill>
                <a:latin typeface="Calibri"/>
                <a:cs typeface="Calibri"/>
              </a:rPr>
              <a:t>cohesion</a:t>
            </a:r>
            <a:r>
              <a:rPr sz="3200" spc="-1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00FF"/>
                </a:solidFill>
                <a:latin typeface="Calibri"/>
                <a:cs typeface="Calibri"/>
              </a:rPr>
              <a:t>and</a:t>
            </a:r>
            <a:r>
              <a:rPr sz="3200" spc="-9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spc="-13" dirty="0">
                <a:solidFill>
                  <a:srgbClr val="0000FF"/>
                </a:solidFill>
                <a:latin typeface="Calibri"/>
                <a:cs typeface="Calibri"/>
              </a:rPr>
              <a:t>coupling:</a:t>
            </a:r>
            <a:endParaRPr sz="3200" dirty="0">
              <a:latin typeface="Calibri"/>
              <a:cs typeface="Calibri"/>
            </a:endParaRPr>
          </a:p>
          <a:p>
            <a:pPr marL="1539202" marR="392844" lvl="2" indent="-303098">
              <a:lnSpc>
                <a:spcPct val="120100"/>
              </a:lnSpc>
              <a:spcBef>
                <a:spcPts val="1873"/>
              </a:spcBef>
              <a:buFont typeface="Arial MT"/>
              <a:buChar char="•"/>
              <a:tabLst>
                <a:tab pos="1540895" algn="l"/>
              </a:tabLst>
            </a:pPr>
            <a:r>
              <a:rPr sz="3200" dirty="0">
                <a:solidFill>
                  <a:srgbClr val="0000FF"/>
                </a:solidFill>
                <a:latin typeface="Calibri"/>
                <a:cs typeface="Calibri"/>
              </a:rPr>
              <a:t>will</a:t>
            </a:r>
            <a:r>
              <a:rPr sz="3200" spc="-5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00FF"/>
                </a:solidFill>
                <a:latin typeface="Calibri"/>
                <a:cs typeface="Calibri"/>
              </a:rPr>
              <a:t>give</a:t>
            </a:r>
            <a:r>
              <a:rPr sz="3200" spc="-1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00FF"/>
                </a:solidFill>
                <a:latin typeface="Calibri"/>
                <a:cs typeface="Calibri"/>
              </a:rPr>
              <a:t>us</a:t>
            </a:r>
            <a:r>
              <a:rPr sz="3200" spc="-5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00FF"/>
                </a:solidFill>
                <a:latin typeface="Calibri"/>
                <a:cs typeface="Calibri"/>
              </a:rPr>
              <a:t>some</a:t>
            </a:r>
            <a:r>
              <a:rPr sz="3200" spc="-107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00FF"/>
                </a:solidFill>
                <a:latin typeface="Calibri"/>
                <a:cs typeface="Calibri"/>
              </a:rPr>
              <a:t>idea </a:t>
            </a:r>
            <a:r>
              <a:rPr sz="3200" spc="-13" dirty="0">
                <a:solidFill>
                  <a:srgbClr val="0000FF"/>
                </a:solidFill>
                <a:latin typeface="Calibri"/>
                <a:cs typeface="Calibri"/>
              </a:rPr>
              <a:t>regarding</a:t>
            </a:r>
            <a:r>
              <a:rPr sz="3200" spc="-8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00FF"/>
                </a:solidFill>
                <a:latin typeface="Calibri"/>
                <a:cs typeface="Calibri"/>
              </a:rPr>
              <a:t>the</a:t>
            </a:r>
            <a:r>
              <a:rPr sz="320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00FF"/>
                </a:solidFill>
                <a:latin typeface="Calibri"/>
                <a:cs typeface="Calibri"/>
              </a:rPr>
              <a:t>degree</a:t>
            </a:r>
            <a:r>
              <a:rPr sz="3200" spc="-1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00FF"/>
                </a:solidFill>
                <a:latin typeface="Calibri"/>
                <a:cs typeface="Calibri"/>
              </a:rPr>
              <a:t>of</a:t>
            </a:r>
            <a:r>
              <a:rPr sz="3200" spc="-6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spc="-13" dirty="0">
                <a:solidFill>
                  <a:srgbClr val="0000FF"/>
                </a:solidFill>
                <a:latin typeface="Calibri"/>
                <a:cs typeface="Calibri"/>
              </a:rPr>
              <a:t>cohesiveness 	</a:t>
            </a:r>
            <a:r>
              <a:rPr sz="3200" dirty="0">
                <a:solidFill>
                  <a:srgbClr val="0000FF"/>
                </a:solidFill>
                <a:latin typeface="Calibri"/>
                <a:cs typeface="Calibri"/>
              </a:rPr>
              <a:t>of</a:t>
            </a:r>
            <a:r>
              <a:rPr sz="3200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00FF"/>
                </a:solidFill>
                <a:latin typeface="Calibri"/>
                <a:cs typeface="Calibri"/>
              </a:rPr>
              <a:t>a</a:t>
            </a:r>
            <a:r>
              <a:rPr sz="3200" spc="-27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spc="-13" dirty="0">
                <a:solidFill>
                  <a:srgbClr val="0000FF"/>
                </a:solidFill>
                <a:latin typeface="Calibri"/>
                <a:cs typeface="Calibri"/>
              </a:rPr>
              <a:t>module.</a:t>
            </a:r>
            <a:endParaRPr sz="32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308282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9207" y="364960"/>
            <a:ext cx="8231141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13" dirty="0"/>
              <a:t>Classification</a:t>
            </a:r>
            <a:r>
              <a:rPr spc="-87" dirty="0"/>
              <a:t> </a:t>
            </a:r>
            <a:r>
              <a:rPr dirty="0"/>
              <a:t>of</a:t>
            </a:r>
            <a:r>
              <a:rPr spc="-33" dirty="0"/>
              <a:t> </a:t>
            </a:r>
            <a:r>
              <a:rPr spc="-13" dirty="0"/>
              <a:t>Cohesiveness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6154" y="991744"/>
            <a:ext cx="11679767" cy="4666876"/>
          </a:xfrm>
          <a:prstGeom prst="rect">
            <a:avLst/>
          </a:prstGeom>
        </p:spPr>
        <p:txBody>
          <a:bodyPr vert="horz" wrap="square" lIns="0" tIns="270087" rIns="0" bIns="0" rtlCol="0">
            <a:spAutoFit/>
          </a:bodyPr>
          <a:lstStyle/>
          <a:p>
            <a:pPr marL="473275" indent="-456342">
              <a:spcBef>
                <a:spcPts val="2127"/>
              </a:spcBef>
              <a:buFont typeface="Arial MT"/>
              <a:buChar char="•"/>
              <a:tabLst>
                <a:tab pos="473275" algn="l"/>
              </a:tabLst>
            </a:pPr>
            <a:r>
              <a:rPr sz="3733" spc="-13" dirty="0">
                <a:latin typeface="Calibri"/>
                <a:cs typeface="Calibri"/>
              </a:rPr>
              <a:t>Classification</a:t>
            </a:r>
            <a:r>
              <a:rPr sz="3733" spc="-180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can</a:t>
            </a:r>
            <a:r>
              <a:rPr sz="3733" spc="7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have</a:t>
            </a:r>
            <a:r>
              <a:rPr sz="3733" spc="-67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scope</a:t>
            </a:r>
            <a:r>
              <a:rPr sz="3733" spc="-73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for</a:t>
            </a:r>
            <a:r>
              <a:rPr sz="3733" spc="-47" dirty="0">
                <a:latin typeface="Calibri"/>
                <a:cs typeface="Calibri"/>
              </a:rPr>
              <a:t> </a:t>
            </a:r>
            <a:r>
              <a:rPr sz="3733" spc="-13" dirty="0">
                <a:latin typeface="Calibri"/>
                <a:cs typeface="Calibri"/>
              </a:rPr>
              <a:t>ambiguity:</a:t>
            </a:r>
            <a:endParaRPr sz="3733" dirty="0">
              <a:latin typeface="Calibri"/>
              <a:cs typeface="Calibri"/>
            </a:endParaRPr>
          </a:p>
          <a:p>
            <a:pPr marL="1008355" marR="1648419" lvl="1" indent="-382684">
              <a:lnSpc>
                <a:spcPct val="114799"/>
              </a:lnSpc>
              <a:spcBef>
                <a:spcPts val="1340"/>
              </a:spcBef>
              <a:buFont typeface="Arial MT"/>
              <a:buChar char="–"/>
              <a:tabLst>
                <a:tab pos="1010895" algn="l"/>
              </a:tabLst>
            </a:pPr>
            <a:r>
              <a:rPr sz="3733" dirty="0">
                <a:latin typeface="Calibri"/>
                <a:cs typeface="Calibri"/>
              </a:rPr>
              <a:t>yet</a:t>
            </a:r>
            <a:r>
              <a:rPr sz="3733" spc="-80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gives</a:t>
            </a:r>
            <a:r>
              <a:rPr sz="3733" spc="-93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us</a:t>
            </a:r>
            <a:r>
              <a:rPr sz="3733" spc="-13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some</a:t>
            </a:r>
            <a:r>
              <a:rPr sz="3733" spc="-113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idea</a:t>
            </a:r>
            <a:r>
              <a:rPr sz="3733" spc="-40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about</a:t>
            </a:r>
            <a:r>
              <a:rPr sz="3733" spc="-87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cohesiveness</a:t>
            </a:r>
            <a:r>
              <a:rPr sz="3733" spc="-100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of</a:t>
            </a:r>
            <a:r>
              <a:rPr sz="3733" spc="-67" dirty="0">
                <a:latin typeface="Calibri"/>
                <a:cs typeface="Calibri"/>
              </a:rPr>
              <a:t> a 	</a:t>
            </a:r>
            <a:r>
              <a:rPr sz="3733" spc="-13" dirty="0">
                <a:latin typeface="Calibri"/>
                <a:cs typeface="Calibri"/>
              </a:rPr>
              <a:t>module.</a:t>
            </a:r>
            <a:endParaRPr sz="3733" dirty="0">
              <a:latin typeface="Calibri"/>
              <a:cs typeface="Calibri"/>
            </a:endParaRPr>
          </a:p>
          <a:p>
            <a:pPr marL="473275" indent="-456342">
              <a:spcBef>
                <a:spcPts val="2053"/>
              </a:spcBef>
              <a:buFont typeface="Arial MT"/>
              <a:buChar char="•"/>
              <a:tabLst>
                <a:tab pos="473275" algn="l"/>
                <a:tab pos="626518" algn="l"/>
              </a:tabLst>
            </a:pPr>
            <a:r>
              <a:rPr sz="3733" dirty="0">
                <a:latin typeface="Calibri"/>
                <a:cs typeface="Calibri"/>
              </a:rPr>
              <a:t>By</a:t>
            </a:r>
            <a:r>
              <a:rPr sz="3733" spc="-60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examining</a:t>
            </a:r>
            <a:r>
              <a:rPr sz="3733" spc="-113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the</a:t>
            </a:r>
            <a:r>
              <a:rPr sz="3733" spc="-67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type</a:t>
            </a:r>
            <a:r>
              <a:rPr sz="3733" spc="-67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of</a:t>
            </a:r>
            <a:r>
              <a:rPr sz="3733" spc="-27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cohesion</a:t>
            </a:r>
            <a:r>
              <a:rPr sz="3733" spc="-120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exhibited</a:t>
            </a:r>
            <a:r>
              <a:rPr sz="3733" spc="-113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by</a:t>
            </a:r>
            <a:r>
              <a:rPr sz="3733" spc="-47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a</a:t>
            </a:r>
            <a:r>
              <a:rPr sz="3733" spc="-40" dirty="0">
                <a:latin typeface="Calibri"/>
                <a:cs typeface="Calibri"/>
              </a:rPr>
              <a:t> </a:t>
            </a:r>
            <a:r>
              <a:rPr sz="3733" spc="-13" dirty="0">
                <a:latin typeface="Calibri"/>
                <a:cs typeface="Calibri"/>
              </a:rPr>
              <a:t>module:</a:t>
            </a:r>
            <a:endParaRPr sz="3733" dirty="0">
              <a:latin typeface="Calibri"/>
              <a:cs typeface="Calibri"/>
            </a:endParaRPr>
          </a:p>
          <a:p>
            <a:pPr marL="1008355" marR="6773" lvl="1" indent="-382684">
              <a:lnSpc>
                <a:spcPct val="114700"/>
              </a:lnSpc>
              <a:spcBef>
                <a:spcPts val="1347"/>
              </a:spcBef>
              <a:buFont typeface="Arial MT"/>
              <a:buChar char="–"/>
              <a:tabLst>
                <a:tab pos="1010895" algn="l"/>
              </a:tabLst>
            </a:pPr>
            <a:r>
              <a:rPr sz="3733" dirty="0">
                <a:latin typeface="Calibri"/>
                <a:cs typeface="Calibri"/>
              </a:rPr>
              <a:t>we</a:t>
            </a:r>
            <a:r>
              <a:rPr sz="3733" spc="-80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can</a:t>
            </a:r>
            <a:r>
              <a:rPr sz="3733" spc="-40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roughly</a:t>
            </a:r>
            <a:r>
              <a:rPr sz="3733" spc="-87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tell</a:t>
            </a:r>
            <a:r>
              <a:rPr sz="3733" spc="-67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whether</a:t>
            </a:r>
            <a:r>
              <a:rPr sz="3733" spc="-133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it</a:t>
            </a:r>
            <a:r>
              <a:rPr sz="3733" spc="-87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displays</a:t>
            </a:r>
            <a:r>
              <a:rPr sz="3733" spc="-67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high</a:t>
            </a:r>
            <a:r>
              <a:rPr sz="3733" spc="-120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cohesion</a:t>
            </a:r>
            <a:r>
              <a:rPr sz="3733" spc="-87" dirty="0">
                <a:latin typeface="Calibri"/>
                <a:cs typeface="Calibri"/>
              </a:rPr>
              <a:t> </a:t>
            </a:r>
            <a:r>
              <a:rPr sz="3733" spc="-33" dirty="0">
                <a:latin typeface="Calibri"/>
                <a:cs typeface="Calibri"/>
              </a:rPr>
              <a:t>or 	</a:t>
            </a:r>
            <a:r>
              <a:rPr sz="3733" dirty="0">
                <a:latin typeface="Calibri"/>
                <a:cs typeface="Calibri"/>
              </a:rPr>
              <a:t>low</a:t>
            </a:r>
            <a:r>
              <a:rPr sz="3733" spc="-27" dirty="0">
                <a:latin typeface="Calibri"/>
                <a:cs typeface="Calibri"/>
              </a:rPr>
              <a:t> </a:t>
            </a:r>
            <a:r>
              <a:rPr sz="3733" spc="-13" dirty="0">
                <a:latin typeface="Calibri"/>
                <a:cs typeface="Calibri"/>
              </a:rPr>
              <a:t>cohesion.</a:t>
            </a:r>
            <a:endParaRPr sz="3733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871749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7679" y="1840992"/>
            <a:ext cx="3627120" cy="1128514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262460">
              <a:lnSpc>
                <a:spcPts val="4280"/>
              </a:lnSpc>
            </a:pPr>
            <a:r>
              <a:rPr sz="3733" b="1" dirty="0">
                <a:latin typeface="Calibri"/>
                <a:cs typeface="Calibri"/>
              </a:rPr>
              <a:t>Classification</a:t>
            </a:r>
            <a:r>
              <a:rPr sz="3733" b="1" spc="-140" dirty="0">
                <a:latin typeface="Calibri"/>
                <a:cs typeface="Calibri"/>
              </a:rPr>
              <a:t> </a:t>
            </a:r>
            <a:r>
              <a:rPr sz="3733" b="1" spc="-33" dirty="0">
                <a:latin typeface="Calibri"/>
                <a:cs typeface="Calibri"/>
              </a:rPr>
              <a:t>of</a:t>
            </a:r>
            <a:endParaRPr sz="3733">
              <a:latin typeface="Calibri"/>
              <a:cs typeface="Calibri"/>
            </a:endParaRPr>
          </a:p>
          <a:p>
            <a:pPr marL="493594">
              <a:lnSpc>
                <a:spcPts val="4472"/>
              </a:lnSpc>
            </a:pPr>
            <a:r>
              <a:rPr sz="3733" b="1" spc="-13" dirty="0">
                <a:latin typeface="Calibri"/>
                <a:cs typeface="Calibri"/>
              </a:rPr>
              <a:t>Cohesiveness</a:t>
            </a:r>
            <a:endParaRPr sz="3733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174995" y="780289"/>
          <a:ext cx="4522893" cy="48742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28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97653">
                <a:tc>
                  <a:txBody>
                    <a:bodyPr/>
                    <a:lstStyle/>
                    <a:p>
                      <a:pPr marL="67754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3200" b="1" spc="-10" dirty="0">
                          <a:solidFill>
                            <a:srgbClr val="FFFF00"/>
                          </a:solidFill>
                          <a:latin typeface="Comic Sans MS"/>
                          <a:cs typeface="Comic Sans MS"/>
                        </a:rPr>
                        <a:t>functional</a:t>
                      </a:r>
                      <a:endParaRPr sz="3200">
                        <a:latin typeface="Comic Sans MS"/>
                        <a:cs typeface="Comic Sans MS"/>
                      </a:endParaRPr>
                    </a:p>
                  </a:txBody>
                  <a:tcPr marL="0" marR="0" marT="44027" marB="0">
                    <a:lnL w="12700">
                      <a:solidFill>
                        <a:srgbClr val="003300"/>
                      </a:solidFill>
                      <a:prstDash val="solid"/>
                    </a:lnL>
                    <a:lnR w="12700">
                      <a:solidFill>
                        <a:srgbClr val="003300"/>
                      </a:solidFill>
                      <a:prstDash val="solid"/>
                    </a:lnR>
                    <a:lnT w="9525">
                      <a:solidFill>
                        <a:srgbClr val="003300"/>
                      </a:solidFill>
                      <a:prstDash val="solid"/>
                    </a:lnT>
                    <a:lnB w="19050">
                      <a:solidFill>
                        <a:srgbClr val="003300"/>
                      </a:solidFill>
                      <a:prstDash val="solid"/>
                    </a:lnB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267">
                <a:tc>
                  <a:txBody>
                    <a:bodyPr/>
                    <a:lstStyle/>
                    <a:p>
                      <a:pPr marL="677545">
                        <a:lnSpc>
                          <a:spcPts val="2460"/>
                        </a:lnSpc>
                      </a:pPr>
                      <a:r>
                        <a:rPr sz="3200" b="1" spc="-10" dirty="0">
                          <a:solidFill>
                            <a:srgbClr val="FFFF00"/>
                          </a:solidFill>
                          <a:latin typeface="Comic Sans MS"/>
                          <a:cs typeface="Comic Sans MS"/>
                        </a:rPr>
                        <a:t>sequential</a:t>
                      </a:r>
                      <a:endParaRPr sz="320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2700">
                      <a:solidFill>
                        <a:srgbClr val="003300"/>
                      </a:solidFill>
                      <a:prstDash val="solid"/>
                    </a:lnL>
                    <a:lnR w="12700">
                      <a:solidFill>
                        <a:srgbClr val="003300"/>
                      </a:solidFill>
                      <a:prstDash val="solid"/>
                    </a:lnR>
                    <a:lnT w="19050">
                      <a:solidFill>
                        <a:srgbClr val="003300"/>
                      </a:solidFill>
                      <a:prstDash val="solid"/>
                    </a:lnT>
                    <a:lnB w="19050">
                      <a:solidFill>
                        <a:srgbClr val="003300"/>
                      </a:solidFill>
                      <a:prstDash val="solid"/>
                    </a:lnB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7653">
                <a:tc>
                  <a:txBody>
                    <a:bodyPr/>
                    <a:lstStyle/>
                    <a:p>
                      <a:pPr marL="677545">
                        <a:lnSpc>
                          <a:spcPts val="2475"/>
                        </a:lnSpc>
                      </a:pPr>
                      <a:r>
                        <a:rPr sz="3200" b="1" spc="-10" dirty="0">
                          <a:solidFill>
                            <a:srgbClr val="FFFF00"/>
                          </a:solidFill>
                          <a:latin typeface="Comic Sans MS"/>
                          <a:cs typeface="Comic Sans MS"/>
                        </a:rPr>
                        <a:t>communicational</a:t>
                      </a:r>
                      <a:endParaRPr sz="320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2700">
                      <a:solidFill>
                        <a:srgbClr val="003300"/>
                      </a:solidFill>
                      <a:prstDash val="solid"/>
                    </a:lnL>
                    <a:lnR w="12700">
                      <a:solidFill>
                        <a:srgbClr val="003300"/>
                      </a:solidFill>
                      <a:prstDash val="solid"/>
                    </a:lnR>
                    <a:lnT w="19050">
                      <a:solidFill>
                        <a:srgbClr val="003300"/>
                      </a:solidFill>
                      <a:prstDash val="solid"/>
                    </a:lnT>
                    <a:lnB w="9525">
                      <a:solidFill>
                        <a:srgbClr val="003300"/>
                      </a:solidFill>
                      <a:prstDash val="solid"/>
                    </a:lnB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7653">
                <a:tc>
                  <a:txBody>
                    <a:bodyPr/>
                    <a:lstStyle/>
                    <a:p>
                      <a:pPr marL="677545">
                        <a:lnSpc>
                          <a:spcPts val="2475"/>
                        </a:lnSpc>
                      </a:pPr>
                      <a:r>
                        <a:rPr sz="3200" b="1" spc="-10" dirty="0">
                          <a:solidFill>
                            <a:srgbClr val="FFFF00"/>
                          </a:solidFill>
                          <a:latin typeface="Comic Sans MS"/>
                          <a:cs typeface="Comic Sans MS"/>
                        </a:rPr>
                        <a:t>procedural</a:t>
                      </a:r>
                      <a:endParaRPr sz="320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2700">
                      <a:solidFill>
                        <a:srgbClr val="003300"/>
                      </a:solidFill>
                      <a:prstDash val="solid"/>
                    </a:lnL>
                    <a:lnR w="12700">
                      <a:solidFill>
                        <a:srgbClr val="003300"/>
                      </a:solidFill>
                      <a:prstDash val="solid"/>
                    </a:lnR>
                    <a:lnT w="9525">
                      <a:solidFill>
                        <a:srgbClr val="003300"/>
                      </a:solidFill>
                      <a:prstDash val="solid"/>
                    </a:lnT>
                    <a:lnB w="19050">
                      <a:solidFill>
                        <a:srgbClr val="003300"/>
                      </a:solidFill>
                      <a:prstDash val="solid"/>
                    </a:lnB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267">
                <a:tc>
                  <a:txBody>
                    <a:bodyPr/>
                    <a:lstStyle/>
                    <a:p>
                      <a:pPr marL="677545">
                        <a:lnSpc>
                          <a:spcPts val="2475"/>
                        </a:lnSpc>
                      </a:pPr>
                      <a:r>
                        <a:rPr sz="3200" b="1" spc="-10" dirty="0">
                          <a:solidFill>
                            <a:srgbClr val="FFFF00"/>
                          </a:solidFill>
                          <a:latin typeface="Comic Sans MS"/>
                          <a:cs typeface="Comic Sans MS"/>
                        </a:rPr>
                        <a:t>temporal</a:t>
                      </a:r>
                      <a:endParaRPr sz="320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2700">
                      <a:solidFill>
                        <a:srgbClr val="003300"/>
                      </a:solidFill>
                      <a:prstDash val="solid"/>
                    </a:lnL>
                    <a:lnR w="12700">
                      <a:solidFill>
                        <a:srgbClr val="003300"/>
                      </a:solidFill>
                      <a:prstDash val="solid"/>
                    </a:lnR>
                    <a:lnT w="19050">
                      <a:solidFill>
                        <a:srgbClr val="003300"/>
                      </a:solidFill>
                      <a:prstDash val="solid"/>
                    </a:lnT>
                    <a:lnB w="19050">
                      <a:solidFill>
                        <a:srgbClr val="003300"/>
                      </a:solidFill>
                      <a:prstDash val="solid"/>
                    </a:lnB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67754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3200" b="1" spc="-10" dirty="0">
                          <a:solidFill>
                            <a:srgbClr val="FFFF00"/>
                          </a:solidFill>
                          <a:latin typeface="Comic Sans MS"/>
                          <a:cs typeface="Comic Sans MS"/>
                        </a:rPr>
                        <a:t>logical</a:t>
                      </a:r>
                      <a:endParaRPr sz="3200">
                        <a:latin typeface="Comic Sans MS"/>
                        <a:cs typeface="Comic Sans MS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003300"/>
                      </a:solidFill>
                      <a:prstDash val="solid"/>
                    </a:lnL>
                    <a:lnR w="12700">
                      <a:solidFill>
                        <a:srgbClr val="003300"/>
                      </a:solidFill>
                      <a:prstDash val="solid"/>
                    </a:lnR>
                    <a:lnT w="19050">
                      <a:solidFill>
                        <a:srgbClr val="003300"/>
                      </a:solidFill>
                      <a:prstDash val="solid"/>
                    </a:lnT>
                    <a:lnB w="19050">
                      <a:solidFill>
                        <a:srgbClr val="003300"/>
                      </a:solidFill>
                      <a:prstDash val="solid"/>
                    </a:lnB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1727">
                <a:tc>
                  <a:txBody>
                    <a:bodyPr/>
                    <a:lstStyle/>
                    <a:p>
                      <a:pPr marL="677545">
                        <a:lnSpc>
                          <a:spcPts val="2480"/>
                        </a:lnSpc>
                      </a:pPr>
                      <a:r>
                        <a:rPr sz="3200" b="1" spc="-10" dirty="0">
                          <a:solidFill>
                            <a:srgbClr val="FFFF00"/>
                          </a:solidFill>
                          <a:latin typeface="Comic Sans MS"/>
                          <a:cs typeface="Comic Sans MS"/>
                        </a:rPr>
                        <a:t>coincidental</a:t>
                      </a:r>
                      <a:endParaRPr sz="320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2700">
                      <a:solidFill>
                        <a:srgbClr val="003300"/>
                      </a:solidFill>
                      <a:prstDash val="solid"/>
                    </a:lnL>
                    <a:lnR w="12700">
                      <a:solidFill>
                        <a:srgbClr val="003300"/>
                      </a:solidFill>
                      <a:prstDash val="solid"/>
                    </a:lnR>
                    <a:lnT w="19050">
                      <a:solidFill>
                        <a:srgbClr val="003300"/>
                      </a:solidFill>
                      <a:prstDash val="solid"/>
                    </a:lnT>
                    <a:lnB w="9525">
                      <a:solidFill>
                        <a:srgbClr val="003300"/>
                      </a:solidFill>
                      <a:prstDash val="solid"/>
                    </a:lnB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10399775" y="789431"/>
            <a:ext cx="396240" cy="4767580"/>
          </a:xfrm>
          <a:custGeom>
            <a:avLst/>
            <a:gdLst/>
            <a:ahLst/>
            <a:cxnLst/>
            <a:rect l="l" t="t" r="r" b="b"/>
            <a:pathLst>
              <a:path w="297179" h="3575685">
                <a:moveTo>
                  <a:pt x="178308" y="267462"/>
                </a:moveTo>
                <a:lnTo>
                  <a:pt x="118872" y="267462"/>
                </a:lnTo>
                <a:lnTo>
                  <a:pt x="118872" y="3575304"/>
                </a:lnTo>
                <a:lnTo>
                  <a:pt x="178308" y="3575304"/>
                </a:lnTo>
                <a:lnTo>
                  <a:pt x="178308" y="267462"/>
                </a:lnTo>
                <a:close/>
              </a:path>
              <a:path w="297179" h="3575685">
                <a:moveTo>
                  <a:pt x="148590" y="0"/>
                </a:moveTo>
                <a:lnTo>
                  <a:pt x="0" y="297179"/>
                </a:lnTo>
                <a:lnTo>
                  <a:pt x="118872" y="297179"/>
                </a:lnTo>
                <a:lnTo>
                  <a:pt x="118872" y="267462"/>
                </a:lnTo>
                <a:lnTo>
                  <a:pt x="282321" y="267462"/>
                </a:lnTo>
                <a:lnTo>
                  <a:pt x="148590" y="0"/>
                </a:lnTo>
                <a:close/>
              </a:path>
              <a:path w="297179" h="3575685">
                <a:moveTo>
                  <a:pt x="282321" y="267462"/>
                </a:moveTo>
                <a:lnTo>
                  <a:pt x="178308" y="267462"/>
                </a:lnTo>
                <a:lnTo>
                  <a:pt x="178308" y="297179"/>
                </a:lnTo>
                <a:lnTo>
                  <a:pt x="297179" y="297179"/>
                </a:lnTo>
                <a:lnTo>
                  <a:pt x="282321" y="267462"/>
                </a:lnTo>
                <a:close/>
              </a:path>
            </a:pathLst>
          </a:custGeom>
          <a:solidFill>
            <a:srgbClr val="FF66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 txBox="1"/>
          <p:nvPr/>
        </p:nvSpPr>
        <p:spPr>
          <a:xfrm>
            <a:off x="9988295" y="2489302"/>
            <a:ext cx="2016760" cy="512106"/>
          </a:xfrm>
          <a:prstGeom prst="rect">
            <a:avLst/>
          </a:prstGeom>
        </p:spPr>
        <p:txBody>
          <a:bodyPr vert="horz" wrap="square" lIns="0" tIns="19473" rIns="0" bIns="0" rtlCol="0">
            <a:spAutoFit/>
          </a:bodyPr>
          <a:lstStyle/>
          <a:p>
            <a:pPr marL="16933">
              <a:spcBef>
                <a:spcPts val="153"/>
              </a:spcBef>
            </a:pPr>
            <a:r>
              <a:rPr sz="3200" b="1" dirty="0">
                <a:latin typeface="Comic Sans MS"/>
                <a:cs typeface="Comic Sans MS"/>
              </a:rPr>
              <a:t>Degree</a:t>
            </a:r>
            <a:r>
              <a:rPr sz="3200" b="1" spc="-87" dirty="0">
                <a:latin typeface="Comic Sans MS"/>
                <a:cs typeface="Comic Sans MS"/>
              </a:rPr>
              <a:t> </a:t>
            </a:r>
            <a:r>
              <a:rPr sz="3200" b="1" spc="-33" dirty="0">
                <a:latin typeface="Comic Sans MS"/>
                <a:cs typeface="Comic Sans MS"/>
              </a:rPr>
              <a:t>of</a:t>
            </a:r>
            <a:endParaRPr sz="3200">
              <a:latin typeface="Comic Sans MS"/>
              <a:cs typeface="Comic Sans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88295" y="2843378"/>
            <a:ext cx="1662007" cy="512106"/>
          </a:xfrm>
          <a:prstGeom prst="rect">
            <a:avLst/>
          </a:prstGeom>
        </p:spPr>
        <p:txBody>
          <a:bodyPr vert="horz" wrap="square" lIns="0" tIns="19473" rIns="0" bIns="0" rtlCol="0">
            <a:spAutoFit/>
          </a:bodyPr>
          <a:lstStyle/>
          <a:p>
            <a:pPr marL="16933">
              <a:spcBef>
                <a:spcPts val="153"/>
              </a:spcBef>
            </a:pPr>
            <a:r>
              <a:rPr sz="3200" b="1" spc="-13" dirty="0">
                <a:latin typeface="Comic Sans MS"/>
                <a:cs typeface="Comic Sans MS"/>
              </a:rPr>
              <a:t>cohesion</a:t>
            </a:r>
            <a:endParaRPr sz="320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1054913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18535" y="369871"/>
            <a:ext cx="5595620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dirty="0"/>
              <a:t>Coincidental</a:t>
            </a:r>
            <a:r>
              <a:rPr spc="-272" dirty="0"/>
              <a:t> </a:t>
            </a:r>
            <a:r>
              <a:rPr spc="-13" dirty="0"/>
              <a:t>cohesion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4329" y="916418"/>
            <a:ext cx="11484187" cy="4965503"/>
          </a:xfrm>
          <a:prstGeom prst="rect">
            <a:avLst/>
          </a:prstGeom>
        </p:spPr>
        <p:txBody>
          <a:bodyPr vert="horz" wrap="square" lIns="0" tIns="311572" rIns="0" bIns="0" rtlCol="0">
            <a:spAutoFit/>
          </a:bodyPr>
          <a:lstStyle/>
          <a:p>
            <a:pPr marL="474121" indent="-457189">
              <a:spcBef>
                <a:spcPts val="2452"/>
              </a:spcBef>
              <a:buFont typeface="Arial MT"/>
              <a:buChar char="•"/>
              <a:tabLst>
                <a:tab pos="474121" algn="l"/>
              </a:tabLst>
            </a:pPr>
            <a:r>
              <a:rPr sz="4267" dirty="0">
                <a:latin typeface="Calibri"/>
                <a:cs typeface="Calibri"/>
              </a:rPr>
              <a:t>The</a:t>
            </a:r>
            <a:r>
              <a:rPr sz="4267" spc="-13" dirty="0">
                <a:latin typeface="Calibri"/>
                <a:cs typeface="Calibri"/>
              </a:rPr>
              <a:t> </a:t>
            </a:r>
            <a:r>
              <a:rPr sz="4267" dirty="0">
                <a:latin typeface="Calibri"/>
                <a:cs typeface="Calibri"/>
              </a:rPr>
              <a:t>module</a:t>
            </a:r>
            <a:r>
              <a:rPr sz="4267" spc="-53" dirty="0">
                <a:latin typeface="Calibri"/>
                <a:cs typeface="Calibri"/>
              </a:rPr>
              <a:t> </a:t>
            </a:r>
            <a:r>
              <a:rPr sz="4267" dirty="0">
                <a:latin typeface="Calibri"/>
                <a:cs typeface="Calibri"/>
              </a:rPr>
              <a:t>performs</a:t>
            </a:r>
            <a:r>
              <a:rPr sz="4267" spc="-47" dirty="0">
                <a:latin typeface="Calibri"/>
                <a:cs typeface="Calibri"/>
              </a:rPr>
              <a:t> </a:t>
            </a:r>
            <a:r>
              <a:rPr sz="4267" dirty="0">
                <a:latin typeface="Calibri"/>
                <a:cs typeface="Calibri"/>
              </a:rPr>
              <a:t>a</a:t>
            </a:r>
            <a:r>
              <a:rPr sz="4267" spc="-33" dirty="0">
                <a:latin typeface="Calibri"/>
                <a:cs typeface="Calibri"/>
              </a:rPr>
              <a:t> </a:t>
            </a:r>
            <a:r>
              <a:rPr sz="4267" dirty="0">
                <a:latin typeface="Calibri"/>
                <a:cs typeface="Calibri"/>
              </a:rPr>
              <a:t>set</a:t>
            </a:r>
            <a:r>
              <a:rPr sz="4267" spc="-87" dirty="0">
                <a:latin typeface="Calibri"/>
                <a:cs typeface="Calibri"/>
              </a:rPr>
              <a:t> </a:t>
            </a:r>
            <a:r>
              <a:rPr sz="4267" dirty="0">
                <a:latin typeface="Calibri"/>
                <a:cs typeface="Calibri"/>
              </a:rPr>
              <a:t>of</a:t>
            </a:r>
            <a:r>
              <a:rPr sz="4267" spc="-60" dirty="0">
                <a:latin typeface="Calibri"/>
                <a:cs typeface="Calibri"/>
              </a:rPr>
              <a:t> </a:t>
            </a:r>
            <a:r>
              <a:rPr sz="4267" spc="-13" dirty="0">
                <a:latin typeface="Calibri"/>
                <a:cs typeface="Calibri"/>
              </a:rPr>
              <a:t>tasks:</a:t>
            </a:r>
            <a:endParaRPr sz="4267" dirty="0">
              <a:latin typeface="Calibri"/>
              <a:cs typeface="Calibri"/>
            </a:endParaRPr>
          </a:p>
          <a:p>
            <a:pPr marL="1009201" lvl="1" indent="-382684">
              <a:spcBef>
                <a:spcPts val="2327"/>
              </a:spcBef>
              <a:buFont typeface="Arial MT"/>
              <a:buChar char="–"/>
              <a:tabLst>
                <a:tab pos="1009201" algn="l"/>
              </a:tabLst>
            </a:pPr>
            <a:r>
              <a:rPr sz="4267" dirty="0">
                <a:latin typeface="Calibri"/>
                <a:cs typeface="Calibri"/>
              </a:rPr>
              <a:t>which</a:t>
            </a:r>
            <a:r>
              <a:rPr sz="4267" spc="-133" dirty="0">
                <a:latin typeface="Calibri"/>
                <a:cs typeface="Calibri"/>
              </a:rPr>
              <a:t> </a:t>
            </a:r>
            <a:r>
              <a:rPr sz="4267" dirty="0">
                <a:latin typeface="Calibri"/>
                <a:cs typeface="Calibri"/>
              </a:rPr>
              <a:t>relate</a:t>
            </a:r>
            <a:r>
              <a:rPr sz="4267" spc="-73" dirty="0">
                <a:latin typeface="Calibri"/>
                <a:cs typeface="Calibri"/>
              </a:rPr>
              <a:t> </a:t>
            </a:r>
            <a:r>
              <a:rPr sz="4267" dirty="0">
                <a:latin typeface="Calibri"/>
                <a:cs typeface="Calibri"/>
              </a:rPr>
              <a:t>to</a:t>
            </a:r>
            <a:r>
              <a:rPr sz="4267" spc="-87" dirty="0">
                <a:latin typeface="Calibri"/>
                <a:cs typeface="Calibri"/>
              </a:rPr>
              <a:t> </a:t>
            </a:r>
            <a:r>
              <a:rPr sz="4267" dirty="0">
                <a:latin typeface="Calibri"/>
                <a:cs typeface="Calibri"/>
              </a:rPr>
              <a:t>each</a:t>
            </a:r>
            <a:r>
              <a:rPr sz="4267" spc="-133" dirty="0">
                <a:latin typeface="Calibri"/>
                <a:cs typeface="Calibri"/>
              </a:rPr>
              <a:t> </a:t>
            </a:r>
            <a:r>
              <a:rPr sz="4267" dirty="0">
                <a:latin typeface="Calibri"/>
                <a:cs typeface="Calibri"/>
              </a:rPr>
              <a:t>other</a:t>
            </a:r>
            <a:r>
              <a:rPr sz="4267" spc="-93" dirty="0">
                <a:latin typeface="Calibri"/>
                <a:cs typeface="Calibri"/>
              </a:rPr>
              <a:t> </a:t>
            </a:r>
            <a:r>
              <a:rPr sz="4267" dirty="0">
                <a:latin typeface="Calibri"/>
                <a:cs typeface="Calibri"/>
              </a:rPr>
              <a:t>very</a:t>
            </a:r>
            <a:r>
              <a:rPr sz="4267" spc="-67" dirty="0">
                <a:latin typeface="Calibri"/>
                <a:cs typeface="Calibri"/>
              </a:rPr>
              <a:t> </a:t>
            </a:r>
            <a:r>
              <a:rPr sz="4267" spc="-27" dirty="0">
                <a:latin typeface="Calibri"/>
                <a:cs typeface="Calibri"/>
              </a:rPr>
              <a:t>loosely,</a:t>
            </a:r>
            <a:r>
              <a:rPr sz="4267" spc="-67" dirty="0">
                <a:latin typeface="Calibri"/>
                <a:cs typeface="Calibri"/>
              </a:rPr>
              <a:t> </a:t>
            </a:r>
            <a:r>
              <a:rPr sz="4267" dirty="0">
                <a:latin typeface="Calibri"/>
                <a:cs typeface="Calibri"/>
              </a:rPr>
              <a:t>if</a:t>
            </a:r>
            <a:r>
              <a:rPr sz="4267" spc="-67" dirty="0">
                <a:latin typeface="Calibri"/>
                <a:cs typeface="Calibri"/>
              </a:rPr>
              <a:t> </a:t>
            </a:r>
            <a:r>
              <a:rPr sz="4267" dirty="0">
                <a:latin typeface="Calibri"/>
                <a:cs typeface="Calibri"/>
              </a:rPr>
              <a:t>at</a:t>
            </a:r>
            <a:r>
              <a:rPr sz="4267" spc="-93" dirty="0">
                <a:latin typeface="Calibri"/>
                <a:cs typeface="Calibri"/>
              </a:rPr>
              <a:t> </a:t>
            </a:r>
            <a:r>
              <a:rPr sz="4267" spc="-27" dirty="0">
                <a:latin typeface="Calibri"/>
                <a:cs typeface="Calibri"/>
              </a:rPr>
              <a:t>all.</a:t>
            </a:r>
            <a:endParaRPr sz="4267" dirty="0">
              <a:latin typeface="Calibri"/>
              <a:cs typeface="Calibri"/>
            </a:endParaRPr>
          </a:p>
          <a:p>
            <a:pPr marL="1539202" marR="71118" lvl="2" indent="-303946">
              <a:lnSpc>
                <a:spcPct val="113700"/>
              </a:lnSpc>
              <a:spcBef>
                <a:spcPts val="1720"/>
              </a:spcBef>
              <a:buFont typeface="Arial MT"/>
              <a:buChar char="•"/>
              <a:tabLst>
                <a:tab pos="1540895" algn="l"/>
              </a:tabLst>
            </a:pPr>
            <a:r>
              <a:rPr sz="3733" dirty="0">
                <a:latin typeface="Calibri"/>
                <a:cs typeface="Calibri"/>
              </a:rPr>
              <a:t>That</a:t>
            </a:r>
            <a:r>
              <a:rPr sz="3733" spc="-60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is,</a:t>
            </a:r>
            <a:r>
              <a:rPr sz="3733" spc="-100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the</a:t>
            </a:r>
            <a:r>
              <a:rPr sz="3733" spc="-47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module</a:t>
            </a:r>
            <a:r>
              <a:rPr sz="3733" spc="-73" dirty="0">
                <a:latin typeface="Calibri"/>
                <a:cs typeface="Calibri"/>
              </a:rPr>
              <a:t> </a:t>
            </a:r>
            <a:r>
              <a:rPr sz="3733" spc="-13" dirty="0">
                <a:latin typeface="Calibri"/>
                <a:cs typeface="Calibri"/>
              </a:rPr>
              <a:t>contains</a:t>
            </a:r>
            <a:r>
              <a:rPr sz="3733" spc="-60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a</a:t>
            </a:r>
            <a:r>
              <a:rPr sz="3733" spc="-67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random</a:t>
            </a:r>
            <a:r>
              <a:rPr sz="3733" spc="-13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collection</a:t>
            </a:r>
            <a:r>
              <a:rPr sz="3733" spc="-133" dirty="0">
                <a:latin typeface="Calibri"/>
                <a:cs typeface="Calibri"/>
              </a:rPr>
              <a:t> </a:t>
            </a:r>
            <a:r>
              <a:rPr sz="3733" spc="-33" dirty="0">
                <a:latin typeface="Calibri"/>
                <a:cs typeface="Calibri"/>
              </a:rPr>
              <a:t>of 	</a:t>
            </a:r>
            <a:r>
              <a:rPr sz="3733" spc="-13" dirty="0">
                <a:latin typeface="Calibri"/>
                <a:cs typeface="Calibri"/>
              </a:rPr>
              <a:t>functions.</a:t>
            </a:r>
            <a:endParaRPr sz="3733" dirty="0">
              <a:latin typeface="Calibri"/>
              <a:cs typeface="Calibri"/>
            </a:endParaRPr>
          </a:p>
          <a:p>
            <a:pPr marL="1539202" marR="6773" lvl="2" indent="-303946">
              <a:lnSpc>
                <a:spcPct val="113599"/>
              </a:lnSpc>
              <a:spcBef>
                <a:spcPts val="1640"/>
              </a:spcBef>
              <a:buFont typeface="Arial MT"/>
              <a:buChar char="•"/>
              <a:tabLst>
                <a:tab pos="1540895" algn="l"/>
              </a:tabLst>
            </a:pPr>
            <a:r>
              <a:rPr sz="3733" b="1" dirty="0">
                <a:solidFill>
                  <a:srgbClr val="0000FF"/>
                </a:solidFill>
                <a:latin typeface="Calibri"/>
                <a:cs typeface="Calibri"/>
              </a:rPr>
              <a:t>functions</a:t>
            </a:r>
            <a:r>
              <a:rPr sz="3733" b="1" spc="-107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733" b="1" dirty="0">
                <a:solidFill>
                  <a:srgbClr val="0000FF"/>
                </a:solidFill>
                <a:latin typeface="Calibri"/>
                <a:cs typeface="Calibri"/>
              </a:rPr>
              <a:t>have</a:t>
            </a:r>
            <a:r>
              <a:rPr sz="3733" b="1" spc="-6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733" b="1" dirty="0">
                <a:solidFill>
                  <a:srgbClr val="0000FF"/>
                </a:solidFill>
                <a:latin typeface="Calibri"/>
                <a:cs typeface="Calibri"/>
              </a:rPr>
              <a:t>been</a:t>
            </a:r>
            <a:r>
              <a:rPr sz="3733" b="1" spc="-47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733" b="1" dirty="0">
                <a:solidFill>
                  <a:srgbClr val="0000FF"/>
                </a:solidFill>
                <a:latin typeface="Calibri"/>
                <a:cs typeface="Calibri"/>
              </a:rPr>
              <a:t>put</a:t>
            </a:r>
            <a:r>
              <a:rPr sz="3733" b="1" spc="-7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733" b="1" dirty="0">
                <a:solidFill>
                  <a:srgbClr val="0000FF"/>
                </a:solidFill>
                <a:latin typeface="Calibri"/>
                <a:cs typeface="Calibri"/>
              </a:rPr>
              <a:t>in</a:t>
            </a:r>
            <a:r>
              <a:rPr sz="3733" b="1" spc="-6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733" b="1" dirty="0">
                <a:solidFill>
                  <a:srgbClr val="0000FF"/>
                </a:solidFill>
                <a:latin typeface="Calibri"/>
                <a:cs typeface="Calibri"/>
              </a:rPr>
              <a:t>the</a:t>
            </a:r>
            <a:r>
              <a:rPr sz="3733" b="1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733" b="1" dirty="0">
                <a:solidFill>
                  <a:srgbClr val="0000FF"/>
                </a:solidFill>
                <a:latin typeface="Calibri"/>
                <a:cs typeface="Calibri"/>
              </a:rPr>
              <a:t>module</a:t>
            </a:r>
            <a:r>
              <a:rPr sz="3733" b="1" spc="-67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733" b="1" dirty="0">
                <a:solidFill>
                  <a:srgbClr val="0000FF"/>
                </a:solidFill>
                <a:latin typeface="Calibri"/>
                <a:cs typeface="Calibri"/>
              </a:rPr>
              <a:t>out</a:t>
            </a:r>
            <a:r>
              <a:rPr sz="3733" b="1" spc="-47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733" b="1" dirty="0">
                <a:solidFill>
                  <a:srgbClr val="0000FF"/>
                </a:solidFill>
                <a:latin typeface="Calibri"/>
                <a:cs typeface="Calibri"/>
              </a:rPr>
              <a:t>of</a:t>
            </a:r>
            <a:r>
              <a:rPr sz="3733" b="1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733" b="1" spc="-27" dirty="0">
                <a:solidFill>
                  <a:srgbClr val="0000FF"/>
                </a:solidFill>
                <a:latin typeface="Calibri"/>
                <a:cs typeface="Calibri"/>
              </a:rPr>
              <a:t>pure 	</a:t>
            </a:r>
            <a:r>
              <a:rPr sz="3733" b="1" dirty="0">
                <a:solidFill>
                  <a:srgbClr val="0000FF"/>
                </a:solidFill>
                <a:latin typeface="Calibri"/>
                <a:cs typeface="Calibri"/>
              </a:rPr>
              <a:t>coincidence</a:t>
            </a:r>
            <a:r>
              <a:rPr sz="3733" b="1" spc="-127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733" b="1" dirty="0">
                <a:solidFill>
                  <a:srgbClr val="0000FF"/>
                </a:solidFill>
                <a:latin typeface="Calibri"/>
                <a:cs typeface="Calibri"/>
              </a:rPr>
              <a:t>without</a:t>
            </a:r>
            <a:r>
              <a:rPr sz="3733" b="1" spc="-67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733" b="1" dirty="0">
                <a:solidFill>
                  <a:srgbClr val="0000FF"/>
                </a:solidFill>
                <a:latin typeface="Calibri"/>
                <a:cs typeface="Calibri"/>
              </a:rPr>
              <a:t>any</a:t>
            </a:r>
            <a:r>
              <a:rPr sz="3733" b="1" spc="-11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733" b="1" dirty="0">
                <a:solidFill>
                  <a:srgbClr val="0000FF"/>
                </a:solidFill>
                <a:latin typeface="Calibri"/>
                <a:cs typeface="Calibri"/>
              </a:rPr>
              <a:t>thought</a:t>
            </a:r>
            <a:r>
              <a:rPr sz="3733" b="1" spc="-11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733" b="1" dirty="0">
                <a:solidFill>
                  <a:srgbClr val="0000FF"/>
                </a:solidFill>
                <a:latin typeface="Calibri"/>
                <a:cs typeface="Calibri"/>
              </a:rPr>
              <a:t>or</a:t>
            </a:r>
            <a:r>
              <a:rPr sz="3733" b="1" spc="-7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733" b="1" spc="-13" dirty="0">
                <a:solidFill>
                  <a:srgbClr val="0000FF"/>
                </a:solidFill>
                <a:latin typeface="Calibri"/>
                <a:cs typeface="Calibri"/>
              </a:rPr>
              <a:t>design.</a:t>
            </a:r>
            <a:endParaRPr sz="3733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71195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77324" y="1885082"/>
            <a:ext cx="4298527" cy="408297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6933">
              <a:spcBef>
                <a:spcPts val="120"/>
              </a:spcBef>
            </a:pPr>
            <a:r>
              <a:rPr sz="2800" b="1" dirty="0">
                <a:latin typeface="Comic Sans MS"/>
                <a:cs typeface="Comic Sans MS"/>
              </a:rPr>
              <a:t>Module</a:t>
            </a:r>
            <a:r>
              <a:rPr sz="2800" b="1" spc="-113" dirty="0">
                <a:latin typeface="Comic Sans MS"/>
                <a:cs typeface="Comic Sans MS"/>
              </a:rPr>
              <a:t> </a:t>
            </a:r>
            <a:r>
              <a:rPr sz="2800" b="1" spc="-27" dirty="0">
                <a:latin typeface="Comic Sans MS"/>
                <a:cs typeface="Comic Sans MS"/>
              </a:rPr>
              <a:t>AAA{</a:t>
            </a:r>
            <a:endParaRPr sz="2800" dirty="0">
              <a:latin typeface="Comic Sans MS"/>
              <a:cs typeface="Comic Sans MS"/>
            </a:endParaRPr>
          </a:p>
          <a:p>
            <a:pPr marL="888978" marR="6773">
              <a:lnSpc>
                <a:spcPct val="242099"/>
              </a:lnSpc>
              <a:spcBef>
                <a:spcPts val="120"/>
              </a:spcBef>
            </a:pPr>
            <a:r>
              <a:rPr sz="2733" b="1" dirty="0">
                <a:latin typeface="Comic Sans MS"/>
                <a:cs typeface="Comic Sans MS"/>
              </a:rPr>
              <a:t>Print-</a:t>
            </a:r>
            <a:r>
              <a:rPr sz="2733" b="1" spc="-13" dirty="0">
                <a:latin typeface="Comic Sans MS"/>
                <a:cs typeface="Comic Sans MS"/>
              </a:rPr>
              <a:t>inventory(); </a:t>
            </a:r>
            <a:r>
              <a:rPr sz="2800" b="1" spc="-40" dirty="0">
                <a:latin typeface="Comic Sans MS"/>
                <a:cs typeface="Comic Sans MS"/>
              </a:rPr>
              <a:t>Register-</a:t>
            </a:r>
            <a:r>
              <a:rPr sz="2800" b="1" spc="-13" dirty="0">
                <a:latin typeface="Comic Sans MS"/>
                <a:cs typeface="Comic Sans MS"/>
              </a:rPr>
              <a:t>Student(); </a:t>
            </a:r>
            <a:r>
              <a:rPr sz="2800" b="1" spc="-40" dirty="0">
                <a:latin typeface="Comic Sans MS"/>
                <a:cs typeface="Comic Sans MS"/>
              </a:rPr>
              <a:t>Issue-</a:t>
            </a:r>
            <a:r>
              <a:rPr sz="2800" b="1" spc="-13" dirty="0">
                <a:latin typeface="Comic Sans MS"/>
                <a:cs typeface="Comic Sans MS"/>
              </a:rPr>
              <a:t>Book();</a:t>
            </a:r>
            <a:endParaRPr sz="2800" dirty="0">
              <a:latin typeface="Comic Sans MS"/>
              <a:cs typeface="Comic Sans MS"/>
            </a:endParaRPr>
          </a:p>
          <a:p>
            <a:pPr marL="16933">
              <a:spcBef>
                <a:spcPts val="673"/>
              </a:spcBef>
            </a:pPr>
            <a:r>
              <a:rPr sz="2800" b="1" spc="-33" dirty="0">
                <a:latin typeface="Comic Sans MS"/>
                <a:cs typeface="Comic Sans MS"/>
              </a:rPr>
              <a:t>};</a:t>
            </a:r>
            <a:endParaRPr sz="2800" dirty="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07884" y="524129"/>
            <a:ext cx="9869948" cy="630942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/>
          <a:p>
            <a:pPr marL="34711">
              <a:lnSpc>
                <a:spcPct val="100000"/>
              </a:lnSpc>
              <a:spcBef>
                <a:spcPts val="120"/>
              </a:spcBef>
            </a:pPr>
            <a:r>
              <a:rPr sz="4000" dirty="0">
                <a:solidFill>
                  <a:srgbClr val="1F487C"/>
                </a:solidFill>
                <a:latin typeface="Comic Sans MS"/>
                <a:cs typeface="Comic Sans MS"/>
              </a:rPr>
              <a:t>Coincidental</a:t>
            </a:r>
            <a:r>
              <a:rPr sz="4000" spc="-40" dirty="0">
                <a:solidFill>
                  <a:srgbClr val="1F487C"/>
                </a:solidFill>
                <a:latin typeface="Comic Sans MS"/>
                <a:cs typeface="Comic Sans MS"/>
              </a:rPr>
              <a:t> </a:t>
            </a:r>
            <a:r>
              <a:rPr sz="4000" dirty="0">
                <a:solidFill>
                  <a:srgbClr val="1F487C"/>
                </a:solidFill>
                <a:latin typeface="Comic Sans MS"/>
                <a:cs typeface="Comic Sans MS"/>
              </a:rPr>
              <a:t>Cohesion</a:t>
            </a:r>
            <a:r>
              <a:rPr sz="4000" spc="-73" dirty="0">
                <a:solidFill>
                  <a:srgbClr val="1F487C"/>
                </a:solidFill>
                <a:latin typeface="Comic Sans MS"/>
                <a:cs typeface="Comic Sans MS"/>
              </a:rPr>
              <a:t> </a:t>
            </a:r>
            <a:r>
              <a:rPr sz="4000" dirty="0">
                <a:solidFill>
                  <a:srgbClr val="1F487C"/>
                </a:solidFill>
                <a:latin typeface="Comic Sans MS"/>
                <a:cs typeface="Comic Sans MS"/>
              </a:rPr>
              <a:t>-</a:t>
            </a:r>
            <a:r>
              <a:rPr sz="4000" spc="-160" dirty="0">
                <a:solidFill>
                  <a:srgbClr val="1F487C"/>
                </a:solidFill>
                <a:latin typeface="Comic Sans MS"/>
                <a:cs typeface="Comic Sans MS"/>
              </a:rPr>
              <a:t> </a:t>
            </a:r>
            <a:r>
              <a:rPr sz="4000" spc="-13" dirty="0">
                <a:solidFill>
                  <a:srgbClr val="1F487C"/>
                </a:solidFill>
                <a:latin typeface="Comic Sans MS"/>
                <a:cs typeface="Comic Sans MS"/>
              </a:rPr>
              <a:t>example</a:t>
            </a:r>
            <a:endParaRPr sz="4000" dirty="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1056585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5871" y="197528"/>
            <a:ext cx="9943690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23866">
              <a:lnSpc>
                <a:spcPct val="100000"/>
              </a:lnSpc>
              <a:spcBef>
                <a:spcPts val="133"/>
              </a:spcBef>
            </a:pPr>
            <a:r>
              <a:rPr dirty="0"/>
              <a:t>Logical</a:t>
            </a:r>
            <a:r>
              <a:rPr spc="-173" dirty="0"/>
              <a:t> </a:t>
            </a:r>
            <a:r>
              <a:rPr spc="-13" dirty="0"/>
              <a:t>cohesion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0581" y="1408284"/>
            <a:ext cx="11151445" cy="4216453"/>
          </a:xfrm>
          <a:prstGeom prst="rect">
            <a:avLst/>
          </a:prstGeom>
        </p:spPr>
        <p:txBody>
          <a:bodyPr vert="horz" wrap="square" lIns="0" tIns="14393" rIns="0" bIns="0" rtlCol="0">
            <a:spAutoFit/>
          </a:bodyPr>
          <a:lstStyle/>
          <a:p>
            <a:pPr marL="474121" marR="2175031" indent="-458035">
              <a:lnSpc>
                <a:spcPts val="4705"/>
              </a:lnSpc>
              <a:spcBef>
                <a:spcPts val="113"/>
              </a:spcBef>
              <a:buFont typeface="Arial MT"/>
              <a:buChar char="•"/>
              <a:tabLst>
                <a:tab pos="474121" algn="l"/>
              </a:tabLst>
            </a:pPr>
            <a:r>
              <a:rPr sz="3733" b="1" dirty="0">
                <a:solidFill>
                  <a:srgbClr val="0000FF"/>
                </a:solidFill>
                <a:latin typeface="Calibri"/>
                <a:cs typeface="Calibri"/>
              </a:rPr>
              <a:t>All</a:t>
            </a:r>
            <a:r>
              <a:rPr sz="3733" b="1" spc="-67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733" b="1" dirty="0">
                <a:solidFill>
                  <a:srgbClr val="0000FF"/>
                </a:solidFill>
                <a:latin typeface="Calibri"/>
                <a:cs typeface="Calibri"/>
              </a:rPr>
              <a:t>elements of</a:t>
            </a:r>
            <a:r>
              <a:rPr sz="3733" b="1" spc="-67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733" b="1" dirty="0">
                <a:solidFill>
                  <a:srgbClr val="0000FF"/>
                </a:solidFill>
                <a:latin typeface="Calibri"/>
                <a:cs typeface="Calibri"/>
              </a:rPr>
              <a:t>the</a:t>
            </a:r>
            <a:r>
              <a:rPr sz="3733" b="1" spc="-9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733" b="1" dirty="0">
                <a:solidFill>
                  <a:srgbClr val="0000FF"/>
                </a:solidFill>
                <a:latin typeface="Calibri"/>
                <a:cs typeface="Calibri"/>
              </a:rPr>
              <a:t>module</a:t>
            </a:r>
            <a:r>
              <a:rPr sz="3733" b="1" spc="-47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733" b="1" dirty="0">
                <a:solidFill>
                  <a:srgbClr val="0000FF"/>
                </a:solidFill>
                <a:latin typeface="Calibri"/>
                <a:cs typeface="Calibri"/>
              </a:rPr>
              <a:t>perform</a:t>
            </a:r>
            <a:r>
              <a:rPr sz="3733" b="1" spc="-147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733" b="1" spc="-13" dirty="0">
                <a:solidFill>
                  <a:srgbClr val="0000FF"/>
                </a:solidFill>
                <a:latin typeface="Calibri"/>
                <a:cs typeface="Calibri"/>
              </a:rPr>
              <a:t>similar operations:</a:t>
            </a:r>
            <a:endParaRPr sz="3733" dirty="0">
              <a:latin typeface="Calibri"/>
              <a:cs typeface="Calibri"/>
            </a:endParaRPr>
          </a:p>
          <a:p>
            <a:pPr marL="1009201" lvl="1" indent="-382684">
              <a:spcBef>
                <a:spcPts val="1620"/>
              </a:spcBef>
              <a:buFont typeface="Arial MT"/>
              <a:buChar char="–"/>
              <a:tabLst>
                <a:tab pos="1009201" algn="l"/>
              </a:tabLst>
            </a:pPr>
            <a:r>
              <a:rPr sz="3733" dirty="0">
                <a:latin typeface="Calibri"/>
                <a:cs typeface="Calibri"/>
              </a:rPr>
              <a:t>e.g.</a:t>
            </a:r>
            <a:r>
              <a:rPr sz="3733" spc="-93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error</a:t>
            </a:r>
            <a:r>
              <a:rPr sz="3733" spc="-80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handling,</a:t>
            </a:r>
            <a:r>
              <a:rPr sz="3733" spc="-87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data input,</a:t>
            </a:r>
            <a:r>
              <a:rPr sz="3733" spc="-93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data</a:t>
            </a:r>
            <a:r>
              <a:rPr sz="3733" spc="7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output,</a:t>
            </a:r>
            <a:r>
              <a:rPr sz="3733" spc="-47" dirty="0">
                <a:latin typeface="Calibri"/>
                <a:cs typeface="Calibri"/>
              </a:rPr>
              <a:t> </a:t>
            </a:r>
            <a:r>
              <a:rPr sz="3733" spc="-27" dirty="0">
                <a:latin typeface="Calibri"/>
                <a:cs typeface="Calibri"/>
              </a:rPr>
              <a:t>etc.</a:t>
            </a:r>
            <a:endParaRPr sz="3733" dirty="0">
              <a:latin typeface="Calibri"/>
              <a:cs typeface="Calibri"/>
            </a:endParaRPr>
          </a:p>
          <a:p>
            <a:pPr marL="474121" indent="-457189">
              <a:spcBef>
                <a:spcPts val="1813"/>
              </a:spcBef>
              <a:buFont typeface="Arial MT"/>
              <a:buChar char="•"/>
              <a:tabLst>
                <a:tab pos="474121" algn="l"/>
              </a:tabLst>
            </a:pPr>
            <a:r>
              <a:rPr sz="3733" dirty="0">
                <a:latin typeface="Calibri"/>
                <a:cs typeface="Calibri"/>
              </a:rPr>
              <a:t>An</a:t>
            </a:r>
            <a:r>
              <a:rPr sz="3733" spc="-53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example</a:t>
            </a:r>
            <a:r>
              <a:rPr sz="3733" spc="-107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of</a:t>
            </a:r>
            <a:r>
              <a:rPr sz="3733" spc="-80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logical</a:t>
            </a:r>
            <a:r>
              <a:rPr sz="3733" spc="-73" dirty="0">
                <a:latin typeface="Calibri"/>
                <a:cs typeface="Calibri"/>
              </a:rPr>
              <a:t> </a:t>
            </a:r>
            <a:r>
              <a:rPr sz="3733" spc="-13" dirty="0">
                <a:latin typeface="Calibri"/>
                <a:cs typeface="Calibri"/>
              </a:rPr>
              <a:t>cohesion:</a:t>
            </a:r>
            <a:endParaRPr sz="3733" dirty="0">
              <a:latin typeface="Calibri"/>
              <a:cs typeface="Calibri"/>
            </a:endParaRPr>
          </a:p>
          <a:p>
            <a:pPr marL="1009201" marR="6773" lvl="1" indent="-382684">
              <a:lnSpc>
                <a:spcPct val="105100"/>
              </a:lnSpc>
              <a:spcBef>
                <a:spcPts val="1633"/>
              </a:spcBef>
              <a:buFont typeface="Arial MT"/>
              <a:buChar char="–"/>
              <a:tabLst>
                <a:tab pos="1010895" algn="l"/>
                <a:tab pos="3820911" algn="l"/>
                <a:tab pos="8490161" algn="l"/>
              </a:tabLst>
            </a:pPr>
            <a:r>
              <a:rPr sz="3733" dirty="0">
                <a:latin typeface="Calibri"/>
                <a:cs typeface="Calibri"/>
              </a:rPr>
              <a:t>a</a:t>
            </a:r>
            <a:r>
              <a:rPr sz="3733" spc="-60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set</a:t>
            </a:r>
            <a:r>
              <a:rPr sz="3733" spc="-133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of</a:t>
            </a:r>
            <a:r>
              <a:rPr sz="3733" spc="-33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print</a:t>
            </a:r>
            <a:r>
              <a:rPr sz="3733" spc="-87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functions</a:t>
            </a:r>
            <a:r>
              <a:rPr sz="3733" spc="-67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to</a:t>
            </a:r>
            <a:r>
              <a:rPr sz="3733" spc="-47" dirty="0">
                <a:latin typeface="Calibri"/>
                <a:cs typeface="Calibri"/>
              </a:rPr>
              <a:t> </a:t>
            </a:r>
            <a:r>
              <a:rPr sz="3733" spc="-13" dirty="0">
                <a:latin typeface="Calibri"/>
                <a:cs typeface="Calibri"/>
              </a:rPr>
              <a:t>generate</a:t>
            </a:r>
            <a:r>
              <a:rPr sz="3733" spc="-73" dirty="0">
                <a:latin typeface="Calibri"/>
                <a:cs typeface="Calibri"/>
              </a:rPr>
              <a:t> </a:t>
            </a:r>
            <a:r>
              <a:rPr sz="3733" spc="-33" dirty="0">
                <a:latin typeface="Calibri"/>
                <a:cs typeface="Calibri"/>
              </a:rPr>
              <a:t>an</a:t>
            </a:r>
            <a:r>
              <a:rPr sz="3733" dirty="0">
                <a:latin typeface="Calibri"/>
                <a:cs typeface="Calibri"/>
              </a:rPr>
              <a:t>	output</a:t>
            </a:r>
            <a:r>
              <a:rPr sz="3733" spc="-53" dirty="0">
                <a:latin typeface="Calibri"/>
                <a:cs typeface="Calibri"/>
              </a:rPr>
              <a:t> </a:t>
            </a:r>
            <a:r>
              <a:rPr sz="3733" spc="-13" dirty="0">
                <a:latin typeface="Calibri"/>
                <a:cs typeface="Calibri"/>
              </a:rPr>
              <a:t>report 	</a:t>
            </a:r>
            <a:r>
              <a:rPr sz="3733" dirty="0">
                <a:latin typeface="Calibri"/>
                <a:cs typeface="Calibri"/>
              </a:rPr>
              <a:t>arranged</a:t>
            </a:r>
            <a:r>
              <a:rPr sz="3733" spc="-187" dirty="0">
                <a:latin typeface="Calibri"/>
                <a:cs typeface="Calibri"/>
              </a:rPr>
              <a:t> </a:t>
            </a:r>
            <a:r>
              <a:rPr sz="3733" spc="-27" dirty="0">
                <a:latin typeface="Calibri"/>
                <a:cs typeface="Calibri"/>
              </a:rPr>
              <a:t>into</a:t>
            </a:r>
            <a:r>
              <a:rPr sz="3733" dirty="0">
                <a:latin typeface="Calibri"/>
                <a:cs typeface="Calibri"/>
              </a:rPr>
              <a:t>	a</a:t>
            </a:r>
            <a:r>
              <a:rPr sz="3733" spc="-47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single</a:t>
            </a:r>
            <a:r>
              <a:rPr sz="3733" spc="-60" dirty="0">
                <a:latin typeface="Calibri"/>
                <a:cs typeface="Calibri"/>
              </a:rPr>
              <a:t> </a:t>
            </a:r>
            <a:r>
              <a:rPr sz="3733" spc="-13" dirty="0">
                <a:latin typeface="Calibri"/>
                <a:cs typeface="Calibri"/>
              </a:rPr>
              <a:t>module.</a:t>
            </a:r>
            <a:endParaRPr sz="3733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31078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306439" y="1298541"/>
            <a:ext cx="10931832" cy="4464469"/>
          </a:xfrm>
          <a:prstGeom prst="rect">
            <a:avLst/>
          </a:prstGeom>
        </p:spPr>
        <p:txBody>
          <a:bodyPr vert="horz" wrap="square" lIns="0" tIns="138852" rIns="0" bIns="0" rtlCol="0">
            <a:spAutoFit/>
          </a:bodyPr>
          <a:lstStyle/>
          <a:p>
            <a:pPr marL="2017556">
              <a:lnSpc>
                <a:spcPct val="100000"/>
              </a:lnSpc>
              <a:spcBef>
                <a:spcPts val="1092"/>
              </a:spcBef>
            </a:pPr>
            <a:r>
              <a:rPr sz="3200" b="1" dirty="0">
                <a:latin typeface="Comic Sans MS"/>
                <a:cs typeface="Comic Sans MS"/>
              </a:rPr>
              <a:t>module</a:t>
            </a:r>
            <a:r>
              <a:rPr sz="3200" b="1" spc="-73" dirty="0">
                <a:latin typeface="Comic Sans MS"/>
                <a:cs typeface="Comic Sans MS"/>
              </a:rPr>
              <a:t> </a:t>
            </a:r>
            <a:r>
              <a:rPr sz="3200" b="1" spc="-13" dirty="0">
                <a:latin typeface="Comic Sans MS"/>
                <a:cs typeface="Comic Sans MS"/>
              </a:rPr>
              <a:t>print{</a:t>
            </a:r>
            <a:endParaRPr sz="3200" dirty="0">
              <a:latin typeface="Comic Sans MS"/>
              <a:cs typeface="Comic Sans MS"/>
            </a:endParaRPr>
          </a:p>
          <a:p>
            <a:pPr marL="2889601">
              <a:lnSpc>
                <a:spcPct val="100000"/>
              </a:lnSpc>
              <a:spcBef>
                <a:spcPts val="967"/>
              </a:spcBef>
            </a:pPr>
            <a:r>
              <a:rPr sz="3200" b="1" dirty="0">
                <a:latin typeface="Comic Sans MS"/>
                <a:cs typeface="Comic Sans MS"/>
              </a:rPr>
              <a:t>void</a:t>
            </a:r>
            <a:r>
              <a:rPr sz="3200" b="1" spc="20" dirty="0">
                <a:latin typeface="Comic Sans MS"/>
                <a:cs typeface="Comic Sans MS"/>
              </a:rPr>
              <a:t> </a:t>
            </a:r>
            <a:r>
              <a:rPr sz="3200" b="1" spc="-13" dirty="0">
                <a:latin typeface="Comic Sans MS"/>
                <a:cs typeface="Comic Sans MS"/>
              </a:rPr>
              <a:t>print-grades(student-</a:t>
            </a:r>
            <a:r>
              <a:rPr sz="3200" b="1" dirty="0">
                <a:latin typeface="Comic Sans MS"/>
                <a:cs typeface="Comic Sans MS"/>
              </a:rPr>
              <a:t>file){</a:t>
            </a:r>
            <a:r>
              <a:rPr sz="3200" b="1" spc="-100" dirty="0">
                <a:latin typeface="Comic Sans MS"/>
                <a:cs typeface="Comic Sans MS"/>
              </a:rPr>
              <a:t> </a:t>
            </a:r>
            <a:r>
              <a:rPr sz="3200" b="1" spc="-33" dirty="0">
                <a:latin typeface="Comic Sans MS"/>
                <a:cs typeface="Comic Sans MS"/>
              </a:rPr>
              <a:t>…}</a:t>
            </a:r>
            <a:endParaRPr sz="3200" dirty="0">
              <a:latin typeface="Comic Sans MS"/>
              <a:cs typeface="Comic Sans MS"/>
            </a:endParaRPr>
          </a:p>
          <a:p>
            <a:pPr marL="2889601" marR="6773">
              <a:lnSpc>
                <a:spcPct val="250199"/>
              </a:lnSpc>
            </a:pPr>
            <a:r>
              <a:rPr sz="3200" b="1" dirty="0">
                <a:latin typeface="Comic Sans MS"/>
                <a:cs typeface="Comic Sans MS"/>
              </a:rPr>
              <a:t>void</a:t>
            </a:r>
            <a:r>
              <a:rPr sz="3200" b="1" spc="180" dirty="0">
                <a:latin typeface="Comic Sans MS"/>
                <a:cs typeface="Comic Sans MS"/>
              </a:rPr>
              <a:t> </a:t>
            </a:r>
            <a:r>
              <a:rPr sz="3200" b="1" spc="-13" dirty="0">
                <a:latin typeface="Comic Sans MS"/>
                <a:cs typeface="Comic Sans MS"/>
              </a:rPr>
              <a:t>print-certificates(student-file){…} </a:t>
            </a:r>
            <a:r>
              <a:rPr sz="3200" b="1" dirty="0">
                <a:latin typeface="Comic Sans MS"/>
                <a:cs typeface="Comic Sans MS"/>
              </a:rPr>
              <a:t>void</a:t>
            </a:r>
            <a:r>
              <a:rPr sz="3200" b="1" spc="167" dirty="0">
                <a:latin typeface="Comic Sans MS"/>
                <a:cs typeface="Comic Sans MS"/>
              </a:rPr>
              <a:t> </a:t>
            </a:r>
            <a:r>
              <a:rPr sz="3200" b="1" spc="-13" dirty="0">
                <a:latin typeface="Comic Sans MS"/>
                <a:cs typeface="Comic Sans MS"/>
              </a:rPr>
              <a:t>print-salary(teacher-file){…}</a:t>
            </a:r>
            <a:endParaRPr sz="3200" dirty="0">
              <a:latin typeface="Comic Sans MS"/>
              <a:cs typeface="Comic Sans MS"/>
            </a:endParaRPr>
          </a:p>
          <a:p>
            <a:pPr marL="2017556">
              <a:lnSpc>
                <a:spcPct val="100000"/>
              </a:lnSpc>
              <a:spcBef>
                <a:spcPts val="960"/>
              </a:spcBef>
            </a:pPr>
            <a:r>
              <a:rPr sz="3200" b="1" spc="-67" dirty="0">
                <a:latin typeface="Comic Sans MS"/>
                <a:cs typeface="Comic Sans MS"/>
              </a:rPr>
              <a:t>}</a:t>
            </a:r>
            <a:endParaRPr sz="3200" dirty="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93135" y="328980"/>
            <a:ext cx="10769600" cy="696772"/>
          </a:xfrm>
          <a:prstGeom prst="rect">
            <a:avLst/>
          </a:prstGeom>
        </p:spPr>
        <p:txBody>
          <a:bodyPr vert="horz" wrap="square" lIns="0" tIns="19473" rIns="0" bIns="0" rtlCol="0" anchor="ctr">
            <a:spAutoFit/>
          </a:bodyPr>
          <a:lstStyle/>
          <a:p>
            <a:pPr marL="1809281">
              <a:lnSpc>
                <a:spcPct val="100000"/>
              </a:lnSpc>
              <a:spcBef>
                <a:spcPts val="153"/>
              </a:spcBef>
            </a:pPr>
            <a:r>
              <a:rPr dirty="0">
                <a:solidFill>
                  <a:srgbClr val="1F487C"/>
                </a:solidFill>
                <a:latin typeface="Comic Sans MS"/>
                <a:cs typeface="Comic Sans MS"/>
              </a:rPr>
              <a:t>Logical</a:t>
            </a:r>
            <a:r>
              <a:rPr spc="-73" dirty="0">
                <a:solidFill>
                  <a:srgbClr val="1F487C"/>
                </a:solidFill>
                <a:latin typeface="Comic Sans MS"/>
                <a:cs typeface="Comic Sans MS"/>
              </a:rPr>
              <a:t> </a:t>
            </a:r>
            <a:r>
              <a:rPr spc="-13" dirty="0">
                <a:solidFill>
                  <a:srgbClr val="1F487C"/>
                </a:solidFill>
                <a:latin typeface="Comic Sans MS"/>
                <a:cs typeface="Comic Sans MS"/>
              </a:rPr>
              <a:t>Cohesion</a:t>
            </a:r>
            <a:endParaRPr dirty="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4233619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10186" y="369859"/>
            <a:ext cx="5371582" cy="696772"/>
          </a:xfrm>
          <a:prstGeom prst="rect">
            <a:avLst/>
          </a:prstGeom>
        </p:spPr>
        <p:txBody>
          <a:bodyPr vert="horz" wrap="square" lIns="0" tIns="1947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53"/>
              </a:spcBef>
            </a:pPr>
            <a:r>
              <a:rPr spc="-47" dirty="0"/>
              <a:t>Temporal</a:t>
            </a:r>
            <a:r>
              <a:rPr spc="-173" dirty="0"/>
              <a:t> </a:t>
            </a:r>
            <a:r>
              <a:rPr spc="-13" dirty="0"/>
              <a:t>cohesion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29726" y="933662"/>
            <a:ext cx="10750127" cy="4518331"/>
          </a:xfrm>
          <a:prstGeom prst="rect">
            <a:avLst/>
          </a:prstGeom>
        </p:spPr>
        <p:txBody>
          <a:bodyPr vert="horz" wrap="square" lIns="0" tIns="283633" rIns="0" bIns="0" rtlCol="0">
            <a:spAutoFit/>
          </a:bodyPr>
          <a:lstStyle/>
          <a:p>
            <a:pPr marL="474121" indent="-457189">
              <a:spcBef>
                <a:spcPts val="2233"/>
              </a:spcBef>
              <a:buFont typeface="Arial MT"/>
              <a:buChar char="•"/>
              <a:tabLst>
                <a:tab pos="474121" algn="l"/>
              </a:tabLst>
            </a:pPr>
            <a:r>
              <a:rPr sz="3600" dirty="0">
                <a:latin typeface="Calibri"/>
                <a:cs typeface="Calibri"/>
              </a:rPr>
              <a:t>The</a:t>
            </a:r>
            <a:r>
              <a:rPr sz="3600" spc="-10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module</a:t>
            </a:r>
            <a:r>
              <a:rPr sz="3600" spc="-53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contains</a:t>
            </a:r>
            <a:r>
              <a:rPr sz="3600" spc="-67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functions</a:t>
            </a:r>
            <a:r>
              <a:rPr sz="3600" spc="-53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so</a:t>
            </a:r>
            <a:r>
              <a:rPr sz="3600" spc="-93" dirty="0">
                <a:latin typeface="Calibri"/>
                <a:cs typeface="Calibri"/>
              </a:rPr>
              <a:t> </a:t>
            </a:r>
            <a:r>
              <a:rPr sz="3600" spc="-13" dirty="0">
                <a:latin typeface="Calibri"/>
                <a:cs typeface="Calibri"/>
              </a:rPr>
              <a:t>that:</a:t>
            </a:r>
            <a:endParaRPr sz="3600">
              <a:latin typeface="Calibri"/>
              <a:cs typeface="Calibri"/>
            </a:endParaRPr>
          </a:p>
          <a:p>
            <a:pPr marL="1010048" lvl="1" indent="-383530">
              <a:spcBef>
                <a:spcPts val="1893"/>
              </a:spcBef>
              <a:buFont typeface="Arial MT"/>
              <a:buChar char="–"/>
              <a:tabLst>
                <a:tab pos="1010048" algn="l"/>
              </a:tabLst>
            </a:pPr>
            <a:r>
              <a:rPr sz="3200" b="1" dirty="0">
                <a:solidFill>
                  <a:srgbClr val="0000FF"/>
                </a:solidFill>
                <a:latin typeface="Calibri"/>
                <a:cs typeface="Calibri"/>
              </a:rPr>
              <a:t>all</a:t>
            </a:r>
            <a:r>
              <a:rPr sz="3200" b="1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0000FF"/>
                </a:solidFill>
                <a:latin typeface="Calibri"/>
                <a:cs typeface="Calibri"/>
              </a:rPr>
              <a:t>the</a:t>
            </a:r>
            <a:r>
              <a:rPr sz="3200" b="1" spc="-7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0000FF"/>
                </a:solidFill>
                <a:latin typeface="Calibri"/>
                <a:cs typeface="Calibri"/>
              </a:rPr>
              <a:t>functions</a:t>
            </a:r>
            <a:r>
              <a:rPr sz="3200" b="1" spc="-8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0000FF"/>
                </a:solidFill>
                <a:latin typeface="Calibri"/>
                <a:cs typeface="Calibri"/>
              </a:rPr>
              <a:t>must</a:t>
            </a:r>
            <a:r>
              <a:rPr sz="3200" b="1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0000FF"/>
                </a:solidFill>
                <a:latin typeface="Calibri"/>
                <a:cs typeface="Calibri"/>
              </a:rPr>
              <a:t>be</a:t>
            </a:r>
            <a:r>
              <a:rPr sz="3200" b="1" spc="-8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b="1" spc="-13" dirty="0">
                <a:solidFill>
                  <a:srgbClr val="0000FF"/>
                </a:solidFill>
                <a:latin typeface="Calibri"/>
                <a:cs typeface="Calibri"/>
              </a:rPr>
              <a:t>executed</a:t>
            </a:r>
            <a:r>
              <a:rPr sz="3200" b="1" spc="-87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0000FF"/>
                </a:solidFill>
                <a:latin typeface="Calibri"/>
                <a:cs typeface="Calibri"/>
              </a:rPr>
              <a:t>in</a:t>
            </a:r>
            <a:r>
              <a:rPr sz="3200" b="1" spc="-3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0000FF"/>
                </a:solidFill>
                <a:latin typeface="Calibri"/>
                <a:cs typeface="Calibri"/>
              </a:rPr>
              <a:t>the</a:t>
            </a:r>
            <a:r>
              <a:rPr sz="3200" b="1" spc="-8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0000FF"/>
                </a:solidFill>
                <a:latin typeface="Calibri"/>
                <a:cs typeface="Calibri"/>
              </a:rPr>
              <a:t>same</a:t>
            </a:r>
            <a:r>
              <a:rPr sz="3200" b="1" spc="-8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0000FF"/>
                </a:solidFill>
                <a:latin typeface="Calibri"/>
                <a:cs typeface="Calibri"/>
              </a:rPr>
              <a:t>time</a:t>
            </a:r>
            <a:r>
              <a:rPr sz="3200" b="1" spc="-8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b="1" spc="-13" dirty="0">
                <a:solidFill>
                  <a:srgbClr val="0000FF"/>
                </a:solidFill>
                <a:latin typeface="Calibri"/>
                <a:cs typeface="Calibri"/>
              </a:rPr>
              <a:t>span.</a:t>
            </a:r>
            <a:endParaRPr sz="3200">
              <a:latin typeface="Calibri"/>
              <a:cs typeface="Calibri"/>
            </a:endParaRPr>
          </a:p>
          <a:p>
            <a:pPr marL="474121" indent="-457189">
              <a:spcBef>
                <a:spcPts val="1767"/>
              </a:spcBef>
              <a:buFont typeface="Arial MT"/>
              <a:buChar char="•"/>
              <a:tabLst>
                <a:tab pos="474121" algn="l"/>
              </a:tabLst>
            </a:pPr>
            <a:r>
              <a:rPr sz="3600" u="sng" spc="-13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Example:</a:t>
            </a:r>
            <a:endParaRPr sz="3600">
              <a:latin typeface="Calibri"/>
              <a:cs typeface="Calibri"/>
            </a:endParaRPr>
          </a:p>
          <a:p>
            <a:pPr marL="1009201" lvl="1" indent="-382684">
              <a:spcBef>
                <a:spcPts val="1947"/>
              </a:spcBef>
              <a:buFont typeface="Arial MT"/>
              <a:buChar char="–"/>
              <a:tabLst>
                <a:tab pos="1009201" algn="l"/>
              </a:tabLst>
            </a:pPr>
            <a:r>
              <a:rPr sz="3200" dirty="0">
                <a:latin typeface="Calibri"/>
                <a:cs typeface="Calibri"/>
              </a:rPr>
              <a:t>The</a:t>
            </a:r>
            <a:r>
              <a:rPr sz="3200" spc="-113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set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67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functions</a:t>
            </a:r>
            <a:r>
              <a:rPr sz="3200" spc="-67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responsible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33" dirty="0">
                <a:latin typeface="Calibri"/>
                <a:cs typeface="Calibri"/>
              </a:rPr>
              <a:t>for</a:t>
            </a:r>
            <a:endParaRPr sz="3200">
              <a:latin typeface="Calibri"/>
              <a:cs typeface="Calibri"/>
            </a:endParaRPr>
          </a:p>
          <a:p>
            <a:pPr marL="1539202" lvl="2" indent="-303098">
              <a:spcBef>
                <a:spcPts val="1727"/>
              </a:spcBef>
              <a:buFont typeface="Arial MT"/>
              <a:buChar char="•"/>
              <a:tabLst>
                <a:tab pos="1539202" algn="l"/>
              </a:tabLst>
            </a:pPr>
            <a:r>
              <a:rPr sz="3200" spc="-13" dirty="0">
                <a:latin typeface="Calibri"/>
                <a:cs typeface="Calibri"/>
              </a:rPr>
              <a:t>initialization,</a:t>
            </a:r>
            <a:endParaRPr sz="3200">
              <a:latin typeface="Calibri"/>
              <a:cs typeface="Calibri"/>
            </a:endParaRPr>
          </a:p>
          <a:p>
            <a:pPr marL="1539202" lvl="2" indent="-303098">
              <a:spcBef>
                <a:spcPts val="1733"/>
              </a:spcBef>
              <a:buFont typeface="Arial MT"/>
              <a:buChar char="•"/>
              <a:tabLst>
                <a:tab pos="1539202" algn="l"/>
              </a:tabLst>
            </a:pPr>
            <a:r>
              <a:rPr sz="3200" spc="-33" dirty="0">
                <a:latin typeface="Calibri"/>
                <a:cs typeface="Calibri"/>
              </a:rPr>
              <a:t>start-</a:t>
            </a:r>
            <a:r>
              <a:rPr sz="3200" dirty="0">
                <a:latin typeface="Calibri"/>
                <a:cs typeface="Calibri"/>
              </a:rPr>
              <a:t>up,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-13" dirty="0">
                <a:latin typeface="Calibri"/>
                <a:cs typeface="Calibri"/>
              </a:rPr>
              <a:t>shut-</a:t>
            </a:r>
            <a:r>
              <a:rPr sz="3200" dirty="0">
                <a:latin typeface="Calibri"/>
                <a:cs typeface="Calibri"/>
              </a:rPr>
              <a:t>down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67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some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process,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-27" dirty="0">
                <a:latin typeface="Calibri"/>
                <a:cs typeface="Calibri"/>
              </a:rPr>
              <a:t>etc.</a:t>
            </a:r>
            <a:endParaRPr sz="3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1928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03079" y="759203"/>
            <a:ext cx="1287780" cy="512106"/>
          </a:xfrm>
          <a:prstGeom prst="rect">
            <a:avLst/>
          </a:prstGeom>
        </p:spPr>
        <p:txBody>
          <a:bodyPr vert="horz" wrap="square" lIns="0" tIns="1947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53"/>
              </a:spcBef>
            </a:pPr>
            <a:r>
              <a:rPr sz="3200" dirty="0">
                <a:latin typeface="Comic Sans MS"/>
                <a:cs typeface="Comic Sans MS"/>
              </a:rPr>
              <a:t>init()</a:t>
            </a:r>
            <a:r>
              <a:rPr sz="3200" spc="-60" dirty="0">
                <a:latin typeface="Comic Sans MS"/>
                <a:cs typeface="Comic Sans MS"/>
              </a:rPr>
              <a:t> </a:t>
            </a:r>
            <a:r>
              <a:rPr sz="3200" spc="-67" dirty="0">
                <a:latin typeface="Comic Sans MS"/>
                <a:cs typeface="Comic Sans MS"/>
              </a:rPr>
              <a:t>{</a:t>
            </a:r>
            <a:endParaRPr sz="32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03079" y="1582692"/>
            <a:ext cx="5614247" cy="3862254"/>
          </a:xfrm>
          <a:prstGeom prst="rect">
            <a:avLst/>
          </a:prstGeom>
        </p:spPr>
        <p:txBody>
          <a:bodyPr vert="horz" wrap="square" lIns="0" tIns="19473" rIns="0" bIns="0" rtlCol="0">
            <a:spAutoFit/>
          </a:bodyPr>
          <a:lstStyle/>
          <a:p>
            <a:pPr marL="888978">
              <a:spcBef>
                <a:spcPts val="153"/>
              </a:spcBef>
            </a:pPr>
            <a:r>
              <a:rPr sz="3200" b="1" spc="-13" dirty="0">
                <a:latin typeface="Comic Sans MS"/>
                <a:cs typeface="Comic Sans MS"/>
              </a:rPr>
              <a:t>Check-memory();</a:t>
            </a:r>
            <a:endParaRPr sz="3200">
              <a:latin typeface="Comic Sans MS"/>
              <a:cs typeface="Comic Sans MS"/>
            </a:endParaRPr>
          </a:p>
          <a:p>
            <a:pPr marL="888978" marR="6773">
              <a:lnSpc>
                <a:spcPct val="170200"/>
              </a:lnSpc>
            </a:pPr>
            <a:r>
              <a:rPr sz="3200" b="1" spc="-13" dirty="0">
                <a:latin typeface="Comic Sans MS"/>
                <a:cs typeface="Comic Sans MS"/>
              </a:rPr>
              <a:t>Check-</a:t>
            </a:r>
            <a:r>
              <a:rPr sz="3200" b="1" spc="-27" dirty="0">
                <a:latin typeface="Comic Sans MS"/>
                <a:cs typeface="Comic Sans MS"/>
              </a:rPr>
              <a:t>Hard-</a:t>
            </a:r>
            <a:r>
              <a:rPr sz="3200" b="1" spc="-13" dirty="0">
                <a:latin typeface="Comic Sans MS"/>
                <a:cs typeface="Comic Sans MS"/>
              </a:rPr>
              <a:t>disk(); Initialize-Ports(); Display-</a:t>
            </a:r>
            <a:r>
              <a:rPr sz="3200" b="1" dirty="0">
                <a:latin typeface="Comic Sans MS"/>
                <a:cs typeface="Comic Sans MS"/>
              </a:rPr>
              <a:t>Login-</a:t>
            </a:r>
            <a:r>
              <a:rPr sz="3200" b="1" spc="-13" dirty="0">
                <a:latin typeface="Comic Sans MS"/>
                <a:cs typeface="Comic Sans MS"/>
              </a:rPr>
              <a:t>Screen();</a:t>
            </a:r>
            <a:endParaRPr sz="3200">
              <a:latin typeface="Comic Sans MS"/>
              <a:cs typeface="Comic Sans MS"/>
            </a:endParaRPr>
          </a:p>
          <a:p>
            <a:pPr marL="16933">
              <a:spcBef>
                <a:spcPts val="2693"/>
              </a:spcBef>
            </a:pPr>
            <a:r>
              <a:rPr sz="3200" b="1" spc="-67" dirty="0">
                <a:latin typeface="Comic Sans MS"/>
                <a:cs typeface="Comic Sans MS"/>
              </a:rPr>
              <a:t>}</a:t>
            </a:r>
            <a:endParaRPr sz="32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30769" y="1499615"/>
            <a:ext cx="3103033" cy="188171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34712" rIns="0" bIns="0" rtlCol="0">
            <a:spAutoFit/>
          </a:bodyPr>
          <a:lstStyle/>
          <a:p>
            <a:pPr marL="293786" marR="276006" indent="-5927" algn="ctr">
              <a:spcBef>
                <a:spcPts val="272"/>
              </a:spcBef>
            </a:pPr>
            <a:r>
              <a:rPr sz="4000" b="1" spc="-13" dirty="0">
                <a:solidFill>
                  <a:srgbClr val="1F487C"/>
                </a:solidFill>
                <a:latin typeface="Comic Sans MS"/>
                <a:cs typeface="Comic Sans MS"/>
              </a:rPr>
              <a:t>Temporal </a:t>
            </a:r>
            <a:r>
              <a:rPr sz="4000" b="1" dirty="0">
                <a:solidFill>
                  <a:srgbClr val="1F487C"/>
                </a:solidFill>
                <a:latin typeface="Comic Sans MS"/>
                <a:cs typeface="Comic Sans MS"/>
              </a:rPr>
              <a:t>Cohesion</a:t>
            </a:r>
            <a:r>
              <a:rPr sz="4000" b="1" spc="-133" dirty="0">
                <a:solidFill>
                  <a:srgbClr val="1F487C"/>
                </a:solidFill>
                <a:latin typeface="Comic Sans MS"/>
                <a:cs typeface="Comic Sans MS"/>
              </a:rPr>
              <a:t> </a:t>
            </a:r>
            <a:r>
              <a:rPr sz="4000" b="1" spc="-67" dirty="0">
                <a:solidFill>
                  <a:srgbClr val="1F487C"/>
                </a:solidFill>
                <a:latin typeface="Comic Sans MS"/>
                <a:cs typeface="Comic Sans MS"/>
              </a:rPr>
              <a:t>– </a:t>
            </a:r>
            <a:r>
              <a:rPr sz="4000" b="1" spc="-13" dirty="0">
                <a:solidFill>
                  <a:srgbClr val="1F487C"/>
                </a:solidFill>
                <a:latin typeface="Comic Sans MS"/>
                <a:cs typeface="Comic Sans MS"/>
              </a:rPr>
              <a:t>Example</a:t>
            </a:r>
            <a:endParaRPr sz="400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3069235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52985" y="369871"/>
            <a:ext cx="5313680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  <a:tabLst>
                <a:tab pos="3025064" algn="l"/>
              </a:tabLst>
            </a:pPr>
            <a:r>
              <a:rPr spc="-13" dirty="0"/>
              <a:t>Procedural</a:t>
            </a:r>
            <a:r>
              <a:rPr dirty="0"/>
              <a:t>	</a:t>
            </a:r>
            <a:r>
              <a:rPr spc="-13" dirty="0"/>
              <a:t>cohesion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49" y="798147"/>
            <a:ext cx="11601873" cy="4658156"/>
          </a:xfrm>
          <a:prstGeom prst="rect">
            <a:avLst/>
          </a:prstGeom>
        </p:spPr>
        <p:txBody>
          <a:bodyPr vert="horz" wrap="square" lIns="0" tIns="366607" rIns="0" bIns="0" rtlCol="0">
            <a:spAutoFit/>
          </a:bodyPr>
          <a:lstStyle/>
          <a:p>
            <a:pPr marL="474121" indent="-457189">
              <a:spcBef>
                <a:spcPts val="2887"/>
              </a:spcBef>
              <a:buFont typeface="Arial MT"/>
              <a:buChar char="•"/>
              <a:tabLst>
                <a:tab pos="474121" algn="l"/>
              </a:tabLst>
            </a:pPr>
            <a:r>
              <a:rPr sz="4800" dirty="0">
                <a:latin typeface="Calibri"/>
                <a:cs typeface="Calibri"/>
              </a:rPr>
              <a:t>The</a:t>
            </a:r>
            <a:r>
              <a:rPr sz="4800" spc="-87" dirty="0">
                <a:latin typeface="Calibri"/>
                <a:cs typeface="Calibri"/>
              </a:rPr>
              <a:t> </a:t>
            </a:r>
            <a:r>
              <a:rPr sz="4800" dirty="0">
                <a:latin typeface="Calibri"/>
                <a:cs typeface="Calibri"/>
              </a:rPr>
              <a:t>set</a:t>
            </a:r>
            <a:r>
              <a:rPr sz="4800" spc="13" dirty="0">
                <a:latin typeface="Calibri"/>
                <a:cs typeface="Calibri"/>
              </a:rPr>
              <a:t> </a:t>
            </a:r>
            <a:r>
              <a:rPr sz="4800" dirty="0">
                <a:latin typeface="Calibri"/>
                <a:cs typeface="Calibri"/>
              </a:rPr>
              <a:t>of</a:t>
            </a:r>
            <a:r>
              <a:rPr sz="4800" spc="-67" dirty="0">
                <a:latin typeface="Calibri"/>
                <a:cs typeface="Calibri"/>
              </a:rPr>
              <a:t> </a:t>
            </a:r>
            <a:r>
              <a:rPr sz="4800" dirty="0">
                <a:latin typeface="Calibri"/>
                <a:cs typeface="Calibri"/>
              </a:rPr>
              <a:t>functions</a:t>
            </a:r>
            <a:r>
              <a:rPr sz="4800" spc="-147" dirty="0">
                <a:latin typeface="Calibri"/>
                <a:cs typeface="Calibri"/>
              </a:rPr>
              <a:t> </a:t>
            </a:r>
            <a:r>
              <a:rPr sz="4800" dirty="0">
                <a:latin typeface="Calibri"/>
                <a:cs typeface="Calibri"/>
              </a:rPr>
              <a:t>of</a:t>
            </a:r>
            <a:r>
              <a:rPr sz="4800" spc="-27" dirty="0">
                <a:latin typeface="Calibri"/>
                <a:cs typeface="Calibri"/>
              </a:rPr>
              <a:t> </a:t>
            </a:r>
            <a:r>
              <a:rPr sz="4800" dirty="0">
                <a:latin typeface="Calibri"/>
                <a:cs typeface="Calibri"/>
              </a:rPr>
              <a:t>the</a:t>
            </a:r>
            <a:r>
              <a:rPr sz="4800" spc="-87" dirty="0">
                <a:latin typeface="Calibri"/>
                <a:cs typeface="Calibri"/>
              </a:rPr>
              <a:t> </a:t>
            </a:r>
            <a:r>
              <a:rPr sz="4800" spc="-13" dirty="0">
                <a:latin typeface="Calibri"/>
                <a:cs typeface="Calibri"/>
              </a:rPr>
              <a:t>module:</a:t>
            </a:r>
            <a:endParaRPr sz="4800">
              <a:latin typeface="Calibri"/>
              <a:cs typeface="Calibri"/>
            </a:endParaRPr>
          </a:p>
          <a:p>
            <a:pPr marL="1010048" lvl="1" indent="-383530">
              <a:spcBef>
                <a:spcPts val="2460"/>
              </a:spcBef>
              <a:buFont typeface="Arial MT"/>
              <a:buChar char="–"/>
              <a:tabLst>
                <a:tab pos="1010048" algn="l"/>
              </a:tabLst>
            </a:pPr>
            <a:r>
              <a:rPr sz="4267" dirty="0">
                <a:latin typeface="Calibri"/>
                <a:cs typeface="Calibri"/>
              </a:rPr>
              <a:t>all</a:t>
            </a:r>
            <a:r>
              <a:rPr sz="4267" spc="-33" dirty="0">
                <a:latin typeface="Calibri"/>
                <a:cs typeface="Calibri"/>
              </a:rPr>
              <a:t> </a:t>
            </a:r>
            <a:r>
              <a:rPr sz="4267" dirty="0">
                <a:latin typeface="Calibri"/>
                <a:cs typeface="Calibri"/>
              </a:rPr>
              <a:t>part</a:t>
            </a:r>
            <a:r>
              <a:rPr sz="4267" spc="-100" dirty="0">
                <a:latin typeface="Calibri"/>
                <a:cs typeface="Calibri"/>
              </a:rPr>
              <a:t> </a:t>
            </a:r>
            <a:r>
              <a:rPr sz="4267" dirty="0">
                <a:latin typeface="Calibri"/>
                <a:cs typeface="Calibri"/>
              </a:rPr>
              <a:t>of</a:t>
            </a:r>
            <a:r>
              <a:rPr sz="4267" spc="-53" dirty="0">
                <a:latin typeface="Calibri"/>
                <a:cs typeface="Calibri"/>
              </a:rPr>
              <a:t> </a:t>
            </a:r>
            <a:r>
              <a:rPr sz="4267" dirty="0">
                <a:latin typeface="Calibri"/>
                <a:cs typeface="Calibri"/>
              </a:rPr>
              <a:t>a</a:t>
            </a:r>
            <a:r>
              <a:rPr sz="4267" spc="-53" dirty="0">
                <a:latin typeface="Calibri"/>
                <a:cs typeface="Calibri"/>
              </a:rPr>
              <a:t> </a:t>
            </a:r>
            <a:r>
              <a:rPr sz="4267" dirty="0">
                <a:latin typeface="Calibri"/>
                <a:cs typeface="Calibri"/>
              </a:rPr>
              <a:t>procedure</a:t>
            </a:r>
            <a:r>
              <a:rPr sz="4267" spc="-120" dirty="0">
                <a:latin typeface="Calibri"/>
                <a:cs typeface="Calibri"/>
              </a:rPr>
              <a:t> </a:t>
            </a:r>
            <a:r>
              <a:rPr sz="4267" spc="-13" dirty="0">
                <a:latin typeface="Calibri"/>
                <a:cs typeface="Calibri"/>
              </a:rPr>
              <a:t>(algorithm)</a:t>
            </a:r>
            <a:endParaRPr sz="4267">
              <a:latin typeface="Calibri"/>
              <a:cs typeface="Calibri"/>
            </a:endParaRPr>
          </a:p>
          <a:p>
            <a:pPr marL="1009201" marR="6773" lvl="1" indent="-383530">
              <a:lnSpc>
                <a:spcPct val="114500"/>
              </a:lnSpc>
              <a:spcBef>
                <a:spcPts val="1587"/>
              </a:spcBef>
              <a:buFont typeface="Arial MT"/>
              <a:buChar char="–"/>
              <a:tabLst>
                <a:tab pos="1010895" algn="l"/>
              </a:tabLst>
            </a:pPr>
            <a:r>
              <a:rPr sz="4267" dirty="0">
                <a:latin typeface="Calibri"/>
                <a:cs typeface="Calibri"/>
              </a:rPr>
              <a:t>certain</a:t>
            </a:r>
            <a:r>
              <a:rPr sz="4267" spc="-127" dirty="0">
                <a:latin typeface="Calibri"/>
                <a:cs typeface="Calibri"/>
              </a:rPr>
              <a:t> </a:t>
            </a:r>
            <a:r>
              <a:rPr sz="4267" dirty="0">
                <a:latin typeface="Calibri"/>
                <a:cs typeface="Calibri"/>
              </a:rPr>
              <a:t>sequence</a:t>
            </a:r>
            <a:r>
              <a:rPr sz="4267" spc="-93" dirty="0">
                <a:latin typeface="Calibri"/>
                <a:cs typeface="Calibri"/>
              </a:rPr>
              <a:t> </a:t>
            </a:r>
            <a:r>
              <a:rPr sz="4267" dirty="0">
                <a:latin typeface="Calibri"/>
                <a:cs typeface="Calibri"/>
              </a:rPr>
              <a:t>of</a:t>
            </a:r>
            <a:r>
              <a:rPr sz="4267" spc="-93" dirty="0">
                <a:latin typeface="Calibri"/>
                <a:cs typeface="Calibri"/>
              </a:rPr>
              <a:t> </a:t>
            </a:r>
            <a:r>
              <a:rPr sz="4267" dirty="0">
                <a:latin typeface="Calibri"/>
                <a:cs typeface="Calibri"/>
              </a:rPr>
              <a:t>steps</a:t>
            </a:r>
            <a:r>
              <a:rPr sz="4267" spc="-113" dirty="0">
                <a:latin typeface="Calibri"/>
                <a:cs typeface="Calibri"/>
              </a:rPr>
              <a:t> </a:t>
            </a:r>
            <a:r>
              <a:rPr sz="4267" dirty="0">
                <a:latin typeface="Calibri"/>
                <a:cs typeface="Calibri"/>
              </a:rPr>
              <a:t>have</a:t>
            </a:r>
            <a:r>
              <a:rPr sz="4267" spc="-100" dirty="0">
                <a:latin typeface="Calibri"/>
                <a:cs typeface="Calibri"/>
              </a:rPr>
              <a:t> </a:t>
            </a:r>
            <a:r>
              <a:rPr sz="4267" dirty="0">
                <a:latin typeface="Calibri"/>
                <a:cs typeface="Calibri"/>
              </a:rPr>
              <a:t>to</a:t>
            </a:r>
            <a:r>
              <a:rPr sz="4267" spc="-73" dirty="0">
                <a:latin typeface="Calibri"/>
                <a:cs typeface="Calibri"/>
              </a:rPr>
              <a:t> </a:t>
            </a:r>
            <a:r>
              <a:rPr sz="4267" dirty="0">
                <a:latin typeface="Calibri"/>
                <a:cs typeface="Calibri"/>
              </a:rPr>
              <a:t>be</a:t>
            </a:r>
            <a:r>
              <a:rPr sz="4267" spc="-93" dirty="0">
                <a:latin typeface="Calibri"/>
                <a:cs typeface="Calibri"/>
              </a:rPr>
              <a:t> </a:t>
            </a:r>
            <a:r>
              <a:rPr sz="4267" dirty="0">
                <a:latin typeface="Calibri"/>
                <a:cs typeface="Calibri"/>
              </a:rPr>
              <a:t>carried</a:t>
            </a:r>
            <a:r>
              <a:rPr sz="4267" spc="-80" dirty="0">
                <a:latin typeface="Calibri"/>
                <a:cs typeface="Calibri"/>
              </a:rPr>
              <a:t> </a:t>
            </a:r>
            <a:r>
              <a:rPr sz="4267" spc="-33" dirty="0">
                <a:latin typeface="Calibri"/>
                <a:cs typeface="Calibri"/>
              </a:rPr>
              <a:t>out 	</a:t>
            </a:r>
            <a:r>
              <a:rPr sz="4267" dirty="0">
                <a:latin typeface="Calibri"/>
                <a:cs typeface="Calibri"/>
              </a:rPr>
              <a:t>in</a:t>
            </a:r>
            <a:r>
              <a:rPr sz="4267" spc="-80" dirty="0">
                <a:latin typeface="Calibri"/>
                <a:cs typeface="Calibri"/>
              </a:rPr>
              <a:t> </a:t>
            </a:r>
            <a:r>
              <a:rPr sz="4267" dirty="0">
                <a:latin typeface="Calibri"/>
                <a:cs typeface="Calibri"/>
              </a:rPr>
              <a:t>a</a:t>
            </a:r>
            <a:r>
              <a:rPr sz="4267" spc="-67" dirty="0">
                <a:latin typeface="Calibri"/>
                <a:cs typeface="Calibri"/>
              </a:rPr>
              <a:t> </a:t>
            </a:r>
            <a:r>
              <a:rPr sz="4267" dirty="0">
                <a:latin typeface="Calibri"/>
                <a:cs typeface="Calibri"/>
              </a:rPr>
              <a:t>certain</a:t>
            </a:r>
            <a:r>
              <a:rPr sz="4267" spc="-73" dirty="0">
                <a:latin typeface="Calibri"/>
                <a:cs typeface="Calibri"/>
              </a:rPr>
              <a:t> </a:t>
            </a:r>
            <a:r>
              <a:rPr sz="4267" dirty="0">
                <a:latin typeface="Calibri"/>
                <a:cs typeface="Calibri"/>
              </a:rPr>
              <a:t>order</a:t>
            </a:r>
            <a:r>
              <a:rPr sz="4267" spc="-140" dirty="0">
                <a:latin typeface="Calibri"/>
                <a:cs typeface="Calibri"/>
              </a:rPr>
              <a:t> </a:t>
            </a:r>
            <a:r>
              <a:rPr sz="4267" dirty="0">
                <a:latin typeface="Calibri"/>
                <a:cs typeface="Calibri"/>
              </a:rPr>
              <a:t>for</a:t>
            </a:r>
            <a:r>
              <a:rPr sz="4267" spc="-40" dirty="0">
                <a:latin typeface="Calibri"/>
                <a:cs typeface="Calibri"/>
              </a:rPr>
              <a:t> </a:t>
            </a:r>
            <a:r>
              <a:rPr sz="4267" dirty="0">
                <a:latin typeface="Calibri"/>
                <a:cs typeface="Calibri"/>
              </a:rPr>
              <a:t>achieving</a:t>
            </a:r>
            <a:r>
              <a:rPr sz="4267" spc="-73" dirty="0">
                <a:latin typeface="Calibri"/>
                <a:cs typeface="Calibri"/>
              </a:rPr>
              <a:t> </a:t>
            </a:r>
            <a:r>
              <a:rPr sz="4267" dirty="0">
                <a:latin typeface="Calibri"/>
                <a:cs typeface="Calibri"/>
              </a:rPr>
              <a:t>an</a:t>
            </a:r>
            <a:r>
              <a:rPr sz="4267" spc="-113" dirty="0">
                <a:latin typeface="Calibri"/>
                <a:cs typeface="Calibri"/>
              </a:rPr>
              <a:t> </a:t>
            </a:r>
            <a:r>
              <a:rPr sz="4267" spc="-13" dirty="0">
                <a:latin typeface="Calibri"/>
                <a:cs typeface="Calibri"/>
              </a:rPr>
              <a:t>objective,</a:t>
            </a:r>
            <a:endParaRPr sz="4267">
              <a:latin typeface="Calibri"/>
              <a:cs typeface="Calibri"/>
            </a:endParaRPr>
          </a:p>
          <a:p>
            <a:pPr marL="1539202" lvl="2" indent="-303098">
              <a:spcBef>
                <a:spcPts val="2233"/>
              </a:spcBef>
              <a:buFont typeface="Arial MT"/>
              <a:buChar char="•"/>
              <a:tabLst>
                <a:tab pos="1539202" algn="l"/>
              </a:tabLst>
            </a:pPr>
            <a:r>
              <a:rPr sz="3733" dirty="0">
                <a:latin typeface="Calibri"/>
                <a:cs typeface="Calibri"/>
              </a:rPr>
              <a:t>e.g.</a:t>
            </a:r>
            <a:r>
              <a:rPr sz="3733" spc="-100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the</a:t>
            </a:r>
            <a:r>
              <a:rPr sz="3733" spc="-60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algorithm</a:t>
            </a:r>
            <a:r>
              <a:rPr sz="3733" spc="-27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for</a:t>
            </a:r>
            <a:r>
              <a:rPr sz="3733" spc="-27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decoding</a:t>
            </a:r>
            <a:r>
              <a:rPr sz="3733" spc="-87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a</a:t>
            </a:r>
            <a:r>
              <a:rPr sz="3733" spc="-33" dirty="0">
                <a:latin typeface="Calibri"/>
                <a:cs typeface="Calibri"/>
              </a:rPr>
              <a:t> </a:t>
            </a:r>
            <a:r>
              <a:rPr sz="3733" spc="-13" dirty="0">
                <a:latin typeface="Calibri"/>
                <a:cs typeface="Calibri"/>
              </a:rPr>
              <a:t>message.</a:t>
            </a:r>
            <a:endParaRPr sz="3733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67964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6681" y="369859"/>
            <a:ext cx="7116751" cy="696772"/>
          </a:xfrm>
          <a:prstGeom prst="rect">
            <a:avLst/>
          </a:prstGeom>
        </p:spPr>
        <p:txBody>
          <a:bodyPr vert="horz" wrap="square" lIns="0" tIns="1947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53"/>
              </a:spcBef>
            </a:pPr>
            <a:r>
              <a:rPr dirty="0"/>
              <a:t>Communicational</a:t>
            </a:r>
            <a:r>
              <a:rPr spc="-260" dirty="0"/>
              <a:t> </a:t>
            </a:r>
            <a:r>
              <a:rPr spc="-13" dirty="0"/>
              <a:t>cohesion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04554" y="928573"/>
            <a:ext cx="10856807" cy="3631762"/>
          </a:xfrm>
          <a:prstGeom prst="rect">
            <a:avLst/>
          </a:prstGeom>
        </p:spPr>
        <p:txBody>
          <a:bodyPr vert="horz" wrap="square" lIns="0" tIns="332739" rIns="0" bIns="0" rtlCol="0">
            <a:spAutoFit/>
          </a:bodyPr>
          <a:lstStyle/>
          <a:p>
            <a:pPr marL="473275" indent="-456342">
              <a:spcBef>
                <a:spcPts val="2619"/>
              </a:spcBef>
              <a:buFont typeface="Arial MT"/>
              <a:buChar char="•"/>
              <a:tabLst>
                <a:tab pos="473275" algn="l"/>
              </a:tabLst>
            </a:pPr>
            <a:r>
              <a:rPr sz="4267" dirty="0">
                <a:latin typeface="Calibri"/>
                <a:cs typeface="Calibri"/>
              </a:rPr>
              <a:t>All</a:t>
            </a:r>
            <a:r>
              <a:rPr sz="4267" spc="-60" dirty="0">
                <a:latin typeface="Calibri"/>
                <a:cs typeface="Calibri"/>
              </a:rPr>
              <a:t> </a:t>
            </a:r>
            <a:r>
              <a:rPr sz="4267" dirty="0">
                <a:latin typeface="Calibri"/>
                <a:cs typeface="Calibri"/>
              </a:rPr>
              <a:t>functions</a:t>
            </a:r>
            <a:r>
              <a:rPr sz="4267" spc="-33" dirty="0">
                <a:latin typeface="Calibri"/>
                <a:cs typeface="Calibri"/>
              </a:rPr>
              <a:t> </a:t>
            </a:r>
            <a:r>
              <a:rPr sz="4267" dirty="0">
                <a:latin typeface="Calibri"/>
                <a:cs typeface="Calibri"/>
              </a:rPr>
              <a:t>of</a:t>
            </a:r>
            <a:r>
              <a:rPr sz="4267" spc="-33" dirty="0">
                <a:latin typeface="Calibri"/>
                <a:cs typeface="Calibri"/>
              </a:rPr>
              <a:t> </a:t>
            </a:r>
            <a:r>
              <a:rPr sz="4267" dirty="0">
                <a:latin typeface="Calibri"/>
                <a:cs typeface="Calibri"/>
              </a:rPr>
              <a:t>the</a:t>
            </a:r>
            <a:r>
              <a:rPr sz="4267" spc="-53" dirty="0">
                <a:latin typeface="Calibri"/>
                <a:cs typeface="Calibri"/>
              </a:rPr>
              <a:t> </a:t>
            </a:r>
            <a:r>
              <a:rPr sz="4267" spc="-13" dirty="0">
                <a:latin typeface="Calibri"/>
                <a:cs typeface="Calibri"/>
              </a:rPr>
              <a:t>module:</a:t>
            </a:r>
            <a:endParaRPr sz="4267">
              <a:latin typeface="Calibri"/>
              <a:cs typeface="Calibri"/>
            </a:endParaRPr>
          </a:p>
          <a:p>
            <a:pPr marL="1009201" lvl="1" indent="-382684">
              <a:spcBef>
                <a:spcPts val="2185"/>
              </a:spcBef>
              <a:buFont typeface="Arial MT"/>
              <a:buChar char="–"/>
              <a:tabLst>
                <a:tab pos="1009201" algn="l"/>
              </a:tabLst>
            </a:pPr>
            <a:r>
              <a:rPr sz="3733" spc="-27" dirty="0">
                <a:latin typeface="Calibri"/>
                <a:cs typeface="Calibri"/>
              </a:rPr>
              <a:t>Reference</a:t>
            </a:r>
            <a:r>
              <a:rPr sz="3733" spc="-113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or</a:t>
            </a:r>
            <a:r>
              <a:rPr sz="3733" spc="-47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update</a:t>
            </a:r>
            <a:r>
              <a:rPr sz="3733" spc="-67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the</a:t>
            </a:r>
            <a:r>
              <a:rPr sz="3733" spc="-27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same</a:t>
            </a:r>
            <a:r>
              <a:rPr sz="3733" spc="-67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data</a:t>
            </a:r>
            <a:r>
              <a:rPr sz="3733" spc="-53" dirty="0">
                <a:latin typeface="Calibri"/>
                <a:cs typeface="Calibri"/>
              </a:rPr>
              <a:t> </a:t>
            </a:r>
            <a:r>
              <a:rPr sz="3733" spc="-13" dirty="0">
                <a:latin typeface="Calibri"/>
                <a:cs typeface="Calibri"/>
              </a:rPr>
              <a:t>structure,</a:t>
            </a:r>
            <a:endParaRPr sz="3733">
              <a:latin typeface="Calibri"/>
              <a:cs typeface="Calibri"/>
            </a:endParaRPr>
          </a:p>
          <a:p>
            <a:pPr marL="473275" indent="-456342">
              <a:spcBef>
                <a:spcPts val="2147"/>
              </a:spcBef>
              <a:buFont typeface="Arial MT"/>
              <a:buChar char="•"/>
              <a:tabLst>
                <a:tab pos="473275" algn="l"/>
              </a:tabLst>
            </a:pPr>
            <a:r>
              <a:rPr sz="4267" b="1" spc="-13" dirty="0">
                <a:latin typeface="Calibri"/>
                <a:cs typeface="Calibri"/>
              </a:rPr>
              <a:t>Example:</a:t>
            </a:r>
            <a:endParaRPr sz="4267">
              <a:latin typeface="Calibri"/>
              <a:cs typeface="Calibri"/>
            </a:endParaRPr>
          </a:p>
          <a:p>
            <a:pPr marL="1009201" lvl="1" indent="-382684">
              <a:spcBef>
                <a:spcPts val="2185"/>
              </a:spcBef>
              <a:buFont typeface="Arial MT"/>
              <a:buChar char="–"/>
              <a:tabLst>
                <a:tab pos="1009201" algn="l"/>
                <a:tab pos="5032461" algn="l"/>
              </a:tabLst>
            </a:pPr>
            <a:r>
              <a:rPr sz="3733" dirty="0">
                <a:latin typeface="Calibri"/>
                <a:cs typeface="Calibri"/>
              </a:rPr>
              <a:t>The</a:t>
            </a:r>
            <a:r>
              <a:rPr sz="3733" spc="-27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set</a:t>
            </a:r>
            <a:r>
              <a:rPr sz="3733" spc="-87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of</a:t>
            </a:r>
            <a:r>
              <a:rPr sz="3733" spc="7" dirty="0">
                <a:latin typeface="Calibri"/>
                <a:cs typeface="Calibri"/>
              </a:rPr>
              <a:t> </a:t>
            </a:r>
            <a:r>
              <a:rPr sz="3733" spc="-13" dirty="0">
                <a:latin typeface="Calibri"/>
                <a:cs typeface="Calibri"/>
              </a:rPr>
              <a:t>functions</a:t>
            </a:r>
            <a:r>
              <a:rPr sz="3733" dirty="0">
                <a:latin typeface="Calibri"/>
                <a:cs typeface="Calibri"/>
              </a:rPr>
              <a:t>	defined</a:t>
            </a:r>
            <a:r>
              <a:rPr sz="3733" spc="-107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on</a:t>
            </a:r>
            <a:r>
              <a:rPr sz="3733" spc="-33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an</a:t>
            </a:r>
            <a:r>
              <a:rPr sz="3733" spc="-27" dirty="0">
                <a:latin typeface="Calibri"/>
                <a:cs typeface="Calibri"/>
              </a:rPr>
              <a:t> </a:t>
            </a:r>
            <a:r>
              <a:rPr sz="3733" spc="-13" dirty="0">
                <a:latin typeface="Calibri"/>
                <a:cs typeface="Calibri"/>
              </a:rPr>
              <a:t>array</a:t>
            </a:r>
            <a:r>
              <a:rPr sz="3733" spc="-33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or</a:t>
            </a:r>
            <a:r>
              <a:rPr sz="3733" spc="-33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a</a:t>
            </a:r>
            <a:r>
              <a:rPr sz="3733" spc="-40" dirty="0">
                <a:latin typeface="Calibri"/>
                <a:cs typeface="Calibri"/>
              </a:rPr>
              <a:t> </a:t>
            </a:r>
            <a:r>
              <a:rPr sz="3733" spc="-13" dirty="0">
                <a:latin typeface="Calibri"/>
                <a:cs typeface="Calibri"/>
              </a:rPr>
              <a:t>stack.</a:t>
            </a:r>
            <a:endParaRPr sz="3733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43071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0657" y="1180605"/>
            <a:ext cx="7378700" cy="1343958"/>
          </a:xfrm>
          <a:prstGeom prst="rect">
            <a:avLst/>
          </a:prstGeom>
        </p:spPr>
        <p:txBody>
          <a:bodyPr vert="horz" wrap="square" lIns="0" tIns="248920" rIns="0" bIns="0" rtlCol="0">
            <a:spAutoFit/>
          </a:bodyPr>
          <a:lstStyle/>
          <a:p>
            <a:pPr marL="16933">
              <a:spcBef>
                <a:spcPts val="1960"/>
              </a:spcBef>
            </a:pPr>
            <a:r>
              <a:rPr sz="2800" b="1" spc="-33" dirty="0">
                <a:latin typeface="Comic Sans MS"/>
                <a:cs typeface="Comic Sans MS"/>
              </a:rPr>
              <a:t>handle-</a:t>
            </a:r>
            <a:r>
              <a:rPr sz="2800" b="1" dirty="0">
                <a:latin typeface="Comic Sans MS"/>
                <a:cs typeface="Comic Sans MS"/>
              </a:rPr>
              <a:t>Student-</a:t>
            </a:r>
            <a:r>
              <a:rPr sz="2800" b="1" spc="47" dirty="0">
                <a:latin typeface="Comic Sans MS"/>
                <a:cs typeface="Comic Sans MS"/>
              </a:rPr>
              <a:t> </a:t>
            </a:r>
            <a:r>
              <a:rPr sz="2800" b="1" dirty="0">
                <a:latin typeface="Comic Sans MS"/>
                <a:cs typeface="Comic Sans MS"/>
              </a:rPr>
              <a:t>Data()</a:t>
            </a:r>
            <a:r>
              <a:rPr sz="2800" b="1" spc="-27" dirty="0">
                <a:latin typeface="Comic Sans MS"/>
                <a:cs typeface="Comic Sans MS"/>
              </a:rPr>
              <a:t> </a:t>
            </a:r>
            <a:r>
              <a:rPr sz="2800" b="1" spc="-67" dirty="0">
                <a:latin typeface="Comic Sans MS"/>
                <a:cs typeface="Comic Sans MS"/>
              </a:rPr>
              <a:t>{</a:t>
            </a:r>
            <a:endParaRPr sz="2800">
              <a:latin typeface="Comic Sans MS"/>
              <a:cs typeface="Comic Sans MS"/>
            </a:endParaRPr>
          </a:p>
          <a:p>
            <a:pPr marL="888978">
              <a:spcBef>
                <a:spcPts val="1833"/>
              </a:spcBef>
              <a:tabLst>
                <a:tab pos="3529665" algn="l"/>
              </a:tabLst>
            </a:pPr>
            <a:r>
              <a:rPr sz="2800" b="1" dirty="0">
                <a:latin typeface="Comic Sans MS"/>
                <a:cs typeface="Comic Sans MS"/>
              </a:rPr>
              <a:t>Static</a:t>
            </a:r>
            <a:r>
              <a:rPr sz="2800" b="1" spc="-73" dirty="0">
                <a:latin typeface="Comic Sans MS"/>
                <a:cs typeface="Comic Sans MS"/>
              </a:rPr>
              <a:t> </a:t>
            </a:r>
            <a:r>
              <a:rPr sz="2800" b="1" spc="-13" dirty="0">
                <a:latin typeface="Comic Sans MS"/>
                <a:cs typeface="Comic Sans MS"/>
              </a:rPr>
              <a:t>Struct</a:t>
            </a:r>
            <a:r>
              <a:rPr sz="2800" b="1" dirty="0">
                <a:latin typeface="Comic Sans MS"/>
                <a:cs typeface="Comic Sans MS"/>
              </a:rPr>
              <a:t>	</a:t>
            </a:r>
            <a:r>
              <a:rPr sz="2800" b="1" spc="-47" dirty="0">
                <a:latin typeface="Comic Sans MS"/>
                <a:cs typeface="Comic Sans MS"/>
              </a:rPr>
              <a:t>Student-</a:t>
            </a:r>
            <a:r>
              <a:rPr sz="2800" b="1" spc="-13" dirty="0">
                <a:latin typeface="Comic Sans MS"/>
                <a:cs typeface="Comic Sans MS"/>
              </a:rPr>
              <a:t>data[10000];</a:t>
            </a:r>
            <a:endParaRPr sz="28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92826" y="2504452"/>
            <a:ext cx="4187613" cy="2018159"/>
          </a:xfrm>
          <a:prstGeom prst="rect">
            <a:avLst/>
          </a:prstGeom>
        </p:spPr>
        <p:txBody>
          <a:bodyPr vert="horz" wrap="square" lIns="0" tIns="14393" rIns="0" bIns="0" rtlCol="0">
            <a:spAutoFit/>
          </a:bodyPr>
          <a:lstStyle/>
          <a:p>
            <a:pPr marL="16933" marR="6773">
              <a:lnSpc>
                <a:spcPct val="155100"/>
              </a:lnSpc>
              <a:spcBef>
                <a:spcPts val="113"/>
              </a:spcBef>
            </a:pPr>
            <a:r>
              <a:rPr sz="2800" b="1" spc="-33" dirty="0">
                <a:latin typeface="Comic Sans MS"/>
                <a:cs typeface="Comic Sans MS"/>
              </a:rPr>
              <a:t>Store-</a:t>
            </a:r>
            <a:r>
              <a:rPr sz="2800" b="1" spc="-40" dirty="0">
                <a:latin typeface="Comic Sans MS"/>
                <a:cs typeface="Comic Sans MS"/>
              </a:rPr>
              <a:t>student-</a:t>
            </a:r>
            <a:r>
              <a:rPr sz="2800" b="1" spc="-13" dirty="0">
                <a:latin typeface="Comic Sans MS"/>
                <a:cs typeface="Comic Sans MS"/>
              </a:rPr>
              <a:t>data(); </a:t>
            </a:r>
            <a:r>
              <a:rPr sz="2800" b="1" spc="-33" dirty="0">
                <a:latin typeface="Comic Sans MS"/>
                <a:cs typeface="Comic Sans MS"/>
              </a:rPr>
              <a:t>Search-</a:t>
            </a:r>
            <a:r>
              <a:rPr sz="2800" b="1" spc="-40" dirty="0">
                <a:latin typeface="Comic Sans MS"/>
                <a:cs typeface="Comic Sans MS"/>
              </a:rPr>
              <a:t>Student-</a:t>
            </a:r>
            <a:r>
              <a:rPr sz="2800" b="1" spc="-13" dirty="0">
                <a:latin typeface="Comic Sans MS"/>
                <a:cs typeface="Comic Sans MS"/>
              </a:rPr>
              <a:t>data(); </a:t>
            </a:r>
            <a:r>
              <a:rPr sz="2800" b="1" spc="-40" dirty="0">
                <a:latin typeface="Comic Sans MS"/>
                <a:cs typeface="Comic Sans MS"/>
              </a:rPr>
              <a:t>Print-</a:t>
            </a:r>
            <a:r>
              <a:rPr sz="2800" b="1" spc="-33" dirty="0">
                <a:latin typeface="Comic Sans MS"/>
                <a:cs typeface="Comic Sans MS"/>
              </a:rPr>
              <a:t>all-</a:t>
            </a:r>
            <a:r>
              <a:rPr sz="2800" b="1" spc="-13" dirty="0">
                <a:latin typeface="Comic Sans MS"/>
                <a:cs typeface="Comic Sans MS"/>
              </a:rPr>
              <a:t>students();</a:t>
            </a:r>
            <a:endParaRPr sz="28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0656" y="4722131"/>
            <a:ext cx="314960" cy="446276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6933">
              <a:spcBef>
                <a:spcPts val="120"/>
              </a:spcBef>
            </a:pPr>
            <a:r>
              <a:rPr sz="2800" b="1" spc="-33" dirty="0">
                <a:latin typeface="Comic Sans MS"/>
                <a:cs typeface="Comic Sans MS"/>
              </a:rPr>
              <a:t>};</a:t>
            </a:r>
            <a:endParaRPr sz="2800">
              <a:latin typeface="Comic Sans MS"/>
              <a:cs typeface="Comic Sans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88957" y="316078"/>
            <a:ext cx="9710101" cy="696772"/>
          </a:xfrm>
          <a:prstGeom prst="rect">
            <a:avLst/>
          </a:prstGeom>
        </p:spPr>
        <p:txBody>
          <a:bodyPr vert="horz" wrap="square" lIns="0" tIns="19473" rIns="0" bIns="0" rtlCol="0" anchor="ctr">
            <a:spAutoFit/>
          </a:bodyPr>
          <a:lstStyle/>
          <a:p>
            <a:pPr marL="552860">
              <a:lnSpc>
                <a:spcPct val="100000"/>
              </a:lnSpc>
              <a:spcBef>
                <a:spcPts val="153"/>
              </a:spcBef>
            </a:pPr>
            <a:r>
              <a:rPr dirty="0">
                <a:solidFill>
                  <a:srgbClr val="1F487C"/>
                </a:solidFill>
                <a:latin typeface="Comic Sans MS"/>
                <a:cs typeface="Comic Sans MS"/>
              </a:rPr>
              <a:t>Communicational</a:t>
            </a:r>
            <a:r>
              <a:rPr spc="-193" dirty="0">
                <a:solidFill>
                  <a:srgbClr val="1F487C"/>
                </a:solidFill>
                <a:latin typeface="Comic Sans MS"/>
                <a:cs typeface="Comic Sans MS"/>
              </a:rPr>
              <a:t> </a:t>
            </a:r>
            <a:r>
              <a:rPr spc="-13" dirty="0">
                <a:solidFill>
                  <a:srgbClr val="1F487C"/>
                </a:solidFill>
                <a:latin typeface="Comic Sans MS"/>
                <a:cs typeface="Comic Sans MS"/>
              </a:rPr>
              <a:t>Cohesion</a:t>
            </a:r>
            <a:endParaRPr dirty="0">
              <a:latin typeface="Comic Sans MS"/>
              <a:cs typeface="Comic Sans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277857" y="3096514"/>
            <a:ext cx="2463800" cy="1452033"/>
            <a:chOff x="6958393" y="2322385"/>
            <a:chExt cx="1847850" cy="1089025"/>
          </a:xfrm>
        </p:grpSpPr>
        <p:sp>
          <p:nvSpPr>
            <p:cNvPr id="7" name="object 7"/>
            <p:cNvSpPr/>
            <p:nvPr/>
          </p:nvSpPr>
          <p:spPr>
            <a:xfrm>
              <a:off x="6963156" y="2327148"/>
              <a:ext cx="1838325" cy="1079500"/>
            </a:xfrm>
            <a:custGeom>
              <a:avLst/>
              <a:gdLst/>
              <a:ahLst/>
              <a:cxnLst/>
              <a:rect l="l" t="t" r="r" b="b"/>
              <a:pathLst>
                <a:path w="1838325" h="1079500">
                  <a:moveTo>
                    <a:pt x="1837944" y="0"/>
                  </a:moveTo>
                  <a:lnTo>
                    <a:pt x="0" y="0"/>
                  </a:lnTo>
                  <a:lnTo>
                    <a:pt x="0" y="1078991"/>
                  </a:lnTo>
                  <a:lnTo>
                    <a:pt x="1837944" y="1078991"/>
                  </a:lnTo>
                  <a:lnTo>
                    <a:pt x="1837944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" name="object 8"/>
            <p:cNvSpPr/>
            <p:nvPr/>
          </p:nvSpPr>
          <p:spPr>
            <a:xfrm>
              <a:off x="6963156" y="2327148"/>
              <a:ext cx="1838325" cy="1079500"/>
            </a:xfrm>
            <a:custGeom>
              <a:avLst/>
              <a:gdLst/>
              <a:ahLst/>
              <a:cxnLst/>
              <a:rect l="l" t="t" r="r" b="b"/>
              <a:pathLst>
                <a:path w="1838325" h="1079500">
                  <a:moveTo>
                    <a:pt x="0" y="1078991"/>
                  </a:moveTo>
                  <a:lnTo>
                    <a:pt x="1837944" y="1078991"/>
                  </a:lnTo>
                  <a:lnTo>
                    <a:pt x="1837944" y="0"/>
                  </a:lnTo>
                  <a:lnTo>
                    <a:pt x="0" y="0"/>
                  </a:lnTo>
                  <a:lnTo>
                    <a:pt x="0" y="1078991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290304" y="3076549"/>
            <a:ext cx="2438400" cy="297517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593497">
              <a:spcBef>
                <a:spcPts val="160"/>
              </a:spcBef>
            </a:pPr>
            <a:r>
              <a:rPr b="1" dirty="0">
                <a:latin typeface="Comic Sans MS"/>
                <a:cs typeface="Comic Sans MS"/>
              </a:rPr>
              <a:t>Function</a:t>
            </a:r>
            <a:r>
              <a:rPr b="1" spc="-67" dirty="0">
                <a:latin typeface="Comic Sans MS"/>
                <a:cs typeface="Comic Sans MS"/>
              </a:rPr>
              <a:t> A</a:t>
            </a:r>
            <a:endParaRPr>
              <a:latin typeface="Comic Sans MS"/>
              <a:cs typeface="Comic Sans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284209" y="3523489"/>
            <a:ext cx="2451100" cy="400965"/>
          </a:xfrm>
          <a:prstGeom prst="rect">
            <a:avLst/>
          </a:prstGeom>
          <a:solidFill>
            <a:srgbClr val="4F81BC"/>
          </a:solidFill>
          <a:ln w="9144">
            <a:solidFill>
              <a:srgbClr val="000000"/>
            </a:solidFill>
          </a:ln>
        </p:spPr>
        <p:txBody>
          <a:bodyPr vert="horz" wrap="square" lIns="0" tIns="122767" rIns="0" bIns="0" rtlCol="0">
            <a:spAutoFit/>
          </a:bodyPr>
          <a:lstStyle/>
          <a:p>
            <a:pPr marL="599425">
              <a:spcBef>
                <a:spcPts val="967"/>
              </a:spcBef>
            </a:pPr>
            <a:r>
              <a:rPr b="1" dirty="0">
                <a:latin typeface="Comic Sans MS"/>
                <a:cs typeface="Comic Sans MS"/>
              </a:rPr>
              <a:t>Function</a:t>
            </a:r>
            <a:r>
              <a:rPr b="1" spc="-67" dirty="0">
                <a:latin typeface="Comic Sans MS"/>
                <a:cs typeface="Comic Sans MS"/>
              </a:rPr>
              <a:t> B</a:t>
            </a:r>
            <a:endParaRPr>
              <a:latin typeface="Comic Sans MS"/>
              <a:cs typeface="Comic Sans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284209" y="4035553"/>
            <a:ext cx="2451100" cy="437726"/>
          </a:xfrm>
          <a:prstGeom prst="rect">
            <a:avLst/>
          </a:prstGeom>
          <a:solidFill>
            <a:srgbClr val="4F81BC"/>
          </a:solidFill>
          <a:ln w="9144">
            <a:solidFill>
              <a:srgbClr val="000000"/>
            </a:solidFill>
          </a:ln>
        </p:spPr>
        <p:txBody>
          <a:bodyPr vert="horz" wrap="square" lIns="0" tIns="159173" rIns="0" bIns="0" rtlCol="0">
            <a:spAutoFit/>
          </a:bodyPr>
          <a:lstStyle/>
          <a:p>
            <a:pPr marL="599425">
              <a:spcBef>
                <a:spcPts val="1253"/>
              </a:spcBef>
            </a:pPr>
            <a:r>
              <a:rPr b="1" dirty="0">
                <a:latin typeface="Comic Sans MS"/>
                <a:cs typeface="Comic Sans MS"/>
              </a:rPr>
              <a:t>Function</a:t>
            </a:r>
            <a:r>
              <a:rPr b="1" spc="-60" dirty="0">
                <a:latin typeface="Comic Sans MS"/>
                <a:cs typeface="Comic Sans MS"/>
              </a:rPr>
              <a:t> </a:t>
            </a:r>
            <a:r>
              <a:rPr b="1" spc="-67" dirty="0">
                <a:latin typeface="Comic Sans MS"/>
                <a:cs typeface="Comic Sans MS"/>
              </a:rPr>
              <a:t>C</a:t>
            </a:r>
            <a:endParaRPr>
              <a:latin typeface="Comic Sans MS"/>
              <a:cs typeface="Comic Sans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491134" y="4705367"/>
            <a:ext cx="1926167" cy="574516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6933" marR="6773" indent="66885">
              <a:spcBef>
                <a:spcPts val="160"/>
              </a:spcBef>
            </a:pPr>
            <a:r>
              <a:rPr spc="-13" dirty="0">
                <a:latin typeface="Comic Sans MS"/>
                <a:cs typeface="Comic Sans MS"/>
              </a:rPr>
              <a:t>Communicational </a:t>
            </a:r>
            <a:r>
              <a:rPr dirty="0">
                <a:latin typeface="Comic Sans MS"/>
                <a:cs typeface="Comic Sans MS"/>
              </a:rPr>
              <a:t>Access</a:t>
            </a:r>
            <a:r>
              <a:rPr spc="-107" dirty="0">
                <a:latin typeface="Comic Sans MS"/>
                <a:cs typeface="Comic Sans MS"/>
              </a:rPr>
              <a:t> </a:t>
            </a:r>
            <a:r>
              <a:rPr dirty="0">
                <a:latin typeface="Comic Sans MS"/>
                <a:cs typeface="Comic Sans MS"/>
              </a:rPr>
              <a:t>same </a:t>
            </a:r>
            <a:r>
              <a:rPr spc="-27" dirty="0">
                <a:latin typeface="Comic Sans MS"/>
                <a:cs typeface="Comic Sans MS"/>
              </a:rPr>
              <a:t>data</a:t>
            </a:r>
            <a:endParaRPr>
              <a:latin typeface="Comic Sans MS"/>
              <a:cs typeface="Comic Sans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528304" y="2103120"/>
            <a:ext cx="1043093" cy="2127673"/>
            <a:chOff x="6396228" y="1577339"/>
            <a:chExt cx="782320" cy="1595755"/>
          </a:xfrm>
        </p:grpSpPr>
        <p:sp>
          <p:nvSpPr>
            <p:cNvPr id="14" name="object 14"/>
            <p:cNvSpPr/>
            <p:nvPr/>
          </p:nvSpPr>
          <p:spPr>
            <a:xfrm>
              <a:off x="6400800" y="1645284"/>
              <a:ext cx="562610" cy="444500"/>
            </a:xfrm>
            <a:custGeom>
              <a:avLst/>
              <a:gdLst/>
              <a:ahLst/>
              <a:cxnLst/>
              <a:rect l="l" t="t" r="r" b="b"/>
              <a:pathLst>
                <a:path w="562609" h="444500">
                  <a:moveTo>
                    <a:pt x="562355" y="0"/>
                  </a:moveTo>
                  <a:lnTo>
                    <a:pt x="523973" y="32041"/>
                  </a:lnTo>
                  <a:lnTo>
                    <a:pt x="480012" y="44894"/>
                  </a:lnTo>
                  <a:lnTo>
                    <a:pt x="423107" y="54826"/>
                  </a:lnTo>
                  <a:lnTo>
                    <a:pt x="355936" y="61230"/>
                  </a:lnTo>
                  <a:lnTo>
                    <a:pt x="281177" y="63500"/>
                  </a:lnTo>
                  <a:lnTo>
                    <a:pt x="206419" y="61230"/>
                  </a:lnTo>
                  <a:lnTo>
                    <a:pt x="139248" y="54826"/>
                  </a:lnTo>
                  <a:lnTo>
                    <a:pt x="82343" y="44894"/>
                  </a:lnTo>
                  <a:lnTo>
                    <a:pt x="38382" y="32041"/>
                  </a:lnTo>
                  <a:lnTo>
                    <a:pt x="0" y="0"/>
                  </a:lnTo>
                  <a:lnTo>
                    <a:pt x="0" y="380619"/>
                  </a:lnTo>
                  <a:lnTo>
                    <a:pt x="38382" y="412660"/>
                  </a:lnTo>
                  <a:lnTo>
                    <a:pt x="82343" y="425513"/>
                  </a:lnTo>
                  <a:lnTo>
                    <a:pt x="139248" y="435445"/>
                  </a:lnTo>
                  <a:lnTo>
                    <a:pt x="206419" y="441849"/>
                  </a:lnTo>
                  <a:lnTo>
                    <a:pt x="281177" y="444119"/>
                  </a:lnTo>
                  <a:lnTo>
                    <a:pt x="355936" y="441849"/>
                  </a:lnTo>
                  <a:lnTo>
                    <a:pt x="423107" y="435445"/>
                  </a:lnTo>
                  <a:lnTo>
                    <a:pt x="480012" y="425513"/>
                  </a:lnTo>
                  <a:lnTo>
                    <a:pt x="523973" y="412660"/>
                  </a:lnTo>
                  <a:lnTo>
                    <a:pt x="562355" y="380619"/>
                  </a:lnTo>
                  <a:lnTo>
                    <a:pt x="562355" y="0"/>
                  </a:lnTo>
                  <a:close/>
                </a:path>
              </a:pathLst>
            </a:custGeom>
            <a:solidFill>
              <a:srgbClr val="CC00CC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5" name="object 15"/>
            <p:cNvSpPr/>
            <p:nvPr/>
          </p:nvSpPr>
          <p:spPr>
            <a:xfrm>
              <a:off x="6400800" y="1581911"/>
              <a:ext cx="562610" cy="127000"/>
            </a:xfrm>
            <a:custGeom>
              <a:avLst/>
              <a:gdLst/>
              <a:ahLst/>
              <a:cxnLst/>
              <a:rect l="l" t="t" r="r" b="b"/>
              <a:pathLst>
                <a:path w="562609" h="127000">
                  <a:moveTo>
                    <a:pt x="281177" y="0"/>
                  </a:moveTo>
                  <a:lnTo>
                    <a:pt x="206419" y="2268"/>
                  </a:lnTo>
                  <a:lnTo>
                    <a:pt x="139248" y="8668"/>
                  </a:lnTo>
                  <a:lnTo>
                    <a:pt x="82343" y="18589"/>
                  </a:lnTo>
                  <a:lnTo>
                    <a:pt x="38382" y="31420"/>
                  </a:lnTo>
                  <a:lnTo>
                    <a:pt x="0" y="63373"/>
                  </a:lnTo>
                  <a:lnTo>
                    <a:pt x="10041" y="80247"/>
                  </a:lnTo>
                  <a:lnTo>
                    <a:pt x="82343" y="108267"/>
                  </a:lnTo>
                  <a:lnTo>
                    <a:pt x="139248" y="118199"/>
                  </a:lnTo>
                  <a:lnTo>
                    <a:pt x="206419" y="124603"/>
                  </a:lnTo>
                  <a:lnTo>
                    <a:pt x="281177" y="126873"/>
                  </a:lnTo>
                  <a:lnTo>
                    <a:pt x="355936" y="124603"/>
                  </a:lnTo>
                  <a:lnTo>
                    <a:pt x="423107" y="118199"/>
                  </a:lnTo>
                  <a:lnTo>
                    <a:pt x="480012" y="108267"/>
                  </a:lnTo>
                  <a:lnTo>
                    <a:pt x="523973" y="95414"/>
                  </a:lnTo>
                  <a:lnTo>
                    <a:pt x="562355" y="63373"/>
                  </a:lnTo>
                  <a:lnTo>
                    <a:pt x="552314" y="46551"/>
                  </a:lnTo>
                  <a:lnTo>
                    <a:pt x="480012" y="18589"/>
                  </a:lnTo>
                  <a:lnTo>
                    <a:pt x="423107" y="8668"/>
                  </a:lnTo>
                  <a:lnTo>
                    <a:pt x="355936" y="2268"/>
                  </a:lnTo>
                  <a:lnTo>
                    <a:pt x="281177" y="0"/>
                  </a:lnTo>
                  <a:close/>
                </a:path>
              </a:pathLst>
            </a:custGeom>
            <a:solidFill>
              <a:srgbClr val="DF66D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6" name="object 16"/>
            <p:cNvSpPr/>
            <p:nvPr/>
          </p:nvSpPr>
          <p:spPr>
            <a:xfrm>
              <a:off x="6400800" y="1581911"/>
              <a:ext cx="562610" cy="508000"/>
            </a:xfrm>
            <a:custGeom>
              <a:avLst/>
              <a:gdLst/>
              <a:ahLst/>
              <a:cxnLst/>
              <a:rect l="l" t="t" r="r" b="b"/>
              <a:pathLst>
                <a:path w="562609" h="508000">
                  <a:moveTo>
                    <a:pt x="562355" y="63373"/>
                  </a:moveTo>
                  <a:lnTo>
                    <a:pt x="523973" y="95414"/>
                  </a:lnTo>
                  <a:lnTo>
                    <a:pt x="480012" y="108267"/>
                  </a:lnTo>
                  <a:lnTo>
                    <a:pt x="423107" y="118199"/>
                  </a:lnTo>
                  <a:lnTo>
                    <a:pt x="355936" y="124603"/>
                  </a:lnTo>
                  <a:lnTo>
                    <a:pt x="281177" y="126873"/>
                  </a:lnTo>
                  <a:lnTo>
                    <a:pt x="206419" y="124603"/>
                  </a:lnTo>
                  <a:lnTo>
                    <a:pt x="139248" y="118199"/>
                  </a:lnTo>
                  <a:lnTo>
                    <a:pt x="82343" y="108267"/>
                  </a:lnTo>
                  <a:lnTo>
                    <a:pt x="38382" y="95414"/>
                  </a:lnTo>
                  <a:lnTo>
                    <a:pt x="0" y="63373"/>
                  </a:lnTo>
                  <a:lnTo>
                    <a:pt x="10041" y="46551"/>
                  </a:lnTo>
                  <a:lnTo>
                    <a:pt x="82343" y="18589"/>
                  </a:lnTo>
                  <a:lnTo>
                    <a:pt x="139248" y="8668"/>
                  </a:lnTo>
                  <a:lnTo>
                    <a:pt x="206419" y="2268"/>
                  </a:lnTo>
                  <a:lnTo>
                    <a:pt x="281177" y="0"/>
                  </a:lnTo>
                  <a:lnTo>
                    <a:pt x="355936" y="2268"/>
                  </a:lnTo>
                  <a:lnTo>
                    <a:pt x="423107" y="8668"/>
                  </a:lnTo>
                  <a:lnTo>
                    <a:pt x="480012" y="18589"/>
                  </a:lnTo>
                  <a:lnTo>
                    <a:pt x="523973" y="31420"/>
                  </a:lnTo>
                  <a:lnTo>
                    <a:pt x="562355" y="63373"/>
                  </a:lnTo>
                  <a:close/>
                </a:path>
                <a:path w="562609" h="508000">
                  <a:moveTo>
                    <a:pt x="562355" y="63373"/>
                  </a:moveTo>
                  <a:lnTo>
                    <a:pt x="562355" y="443992"/>
                  </a:lnTo>
                  <a:lnTo>
                    <a:pt x="552314" y="460866"/>
                  </a:lnTo>
                  <a:lnTo>
                    <a:pt x="480012" y="488886"/>
                  </a:lnTo>
                  <a:lnTo>
                    <a:pt x="423107" y="498818"/>
                  </a:lnTo>
                  <a:lnTo>
                    <a:pt x="355936" y="505222"/>
                  </a:lnTo>
                  <a:lnTo>
                    <a:pt x="281177" y="507492"/>
                  </a:lnTo>
                  <a:lnTo>
                    <a:pt x="206419" y="505222"/>
                  </a:lnTo>
                  <a:lnTo>
                    <a:pt x="139248" y="498818"/>
                  </a:lnTo>
                  <a:lnTo>
                    <a:pt x="82343" y="488886"/>
                  </a:lnTo>
                  <a:lnTo>
                    <a:pt x="38382" y="476033"/>
                  </a:lnTo>
                  <a:lnTo>
                    <a:pt x="0" y="443992"/>
                  </a:lnTo>
                  <a:lnTo>
                    <a:pt x="0" y="63373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7" name="object 17"/>
            <p:cNvSpPr/>
            <p:nvPr/>
          </p:nvSpPr>
          <p:spPr>
            <a:xfrm>
              <a:off x="6466332" y="2025395"/>
              <a:ext cx="711835" cy="1148080"/>
            </a:xfrm>
            <a:custGeom>
              <a:avLst/>
              <a:gdLst/>
              <a:ahLst/>
              <a:cxnLst/>
              <a:rect l="l" t="t" r="r" b="b"/>
              <a:pathLst>
                <a:path w="711834" h="1148080">
                  <a:moveTo>
                    <a:pt x="499872" y="1062482"/>
                  </a:moveTo>
                  <a:lnTo>
                    <a:pt x="470992" y="1075601"/>
                  </a:lnTo>
                  <a:lnTo>
                    <a:pt x="40449" y="130721"/>
                  </a:lnTo>
                  <a:lnTo>
                    <a:pt x="65976" y="119126"/>
                  </a:lnTo>
                  <a:lnTo>
                    <a:pt x="69342" y="117602"/>
                  </a:lnTo>
                  <a:lnTo>
                    <a:pt x="3048" y="64008"/>
                  </a:lnTo>
                  <a:lnTo>
                    <a:pt x="0" y="149098"/>
                  </a:lnTo>
                  <a:lnTo>
                    <a:pt x="28867" y="135991"/>
                  </a:lnTo>
                  <a:lnTo>
                    <a:pt x="459409" y="1080871"/>
                  </a:lnTo>
                  <a:lnTo>
                    <a:pt x="430530" y="1093978"/>
                  </a:lnTo>
                  <a:lnTo>
                    <a:pt x="496824" y="1147572"/>
                  </a:lnTo>
                  <a:lnTo>
                    <a:pt x="498741" y="1093978"/>
                  </a:lnTo>
                  <a:lnTo>
                    <a:pt x="498792" y="1092454"/>
                  </a:lnTo>
                  <a:lnTo>
                    <a:pt x="499872" y="1062482"/>
                  </a:lnTo>
                  <a:close/>
                </a:path>
                <a:path w="711834" h="1148080">
                  <a:moveTo>
                    <a:pt x="509905" y="755523"/>
                  </a:moveTo>
                  <a:lnTo>
                    <a:pt x="480047" y="766381"/>
                  </a:lnTo>
                  <a:lnTo>
                    <a:pt x="249923" y="133413"/>
                  </a:lnTo>
                  <a:lnTo>
                    <a:pt x="279781" y="122555"/>
                  </a:lnTo>
                  <a:lnTo>
                    <a:pt x="278701" y="121539"/>
                  </a:lnTo>
                  <a:lnTo>
                    <a:pt x="217932" y="64008"/>
                  </a:lnTo>
                  <a:lnTo>
                    <a:pt x="208153" y="148590"/>
                  </a:lnTo>
                  <a:lnTo>
                    <a:pt x="237998" y="137744"/>
                  </a:lnTo>
                  <a:lnTo>
                    <a:pt x="468122" y="770712"/>
                  </a:lnTo>
                  <a:lnTo>
                    <a:pt x="438277" y="781558"/>
                  </a:lnTo>
                  <a:lnTo>
                    <a:pt x="500126" y="840105"/>
                  </a:lnTo>
                  <a:lnTo>
                    <a:pt x="506768" y="782574"/>
                  </a:lnTo>
                  <a:lnTo>
                    <a:pt x="509905" y="755523"/>
                  </a:lnTo>
                  <a:close/>
                </a:path>
                <a:path w="711834" h="1148080">
                  <a:moveTo>
                    <a:pt x="711708" y="448056"/>
                  </a:moveTo>
                  <a:lnTo>
                    <a:pt x="706653" y="397764"/>
                  </a:lnTo>
                  <a:lnTo>
                    <a:pt x="703199" y="363347"/>
                  </a:lnTo>
                  <a:lnTo>
                    <a:pt x="676338" y="380301"/>
                  </a:lnTo>
                  <a:lnTo>
                    <a:pt x="474357" y="60972"/>
                  </a:lnTo>
                  <a:lnTo>
                    <a:pt x="491274" y="50292"/>
                  </a:lnTo>
                  <a:lnTo>
                    <a:pt x="501142" y="44069"/>
                  </a:lnTo>
                  <a:lnTo>
                    <a:pt x="428244" y="0"/>
                  </a:lnTo>
                  <a:lnTo>
                    <a:pt x="436753" y="84709"/>
                  </a:lnTo>
                  <a:lnTo>
                    <a:pt x="463600" y="67767"/>
                  </a:lnTo>
                  <a:lnTo>
                    <a:pt x="665581" y="387096"/>
                  </a:lnTo>
                  <a:lnTo>
                    <a:pt x="638810" y="403987"/>
                  </a:lnTo>
                  <a:lnTo>
                    <a:pt x="711708" y="4480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404586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77370" y="369871"/>
            <a:ext cx="5273039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  <a:tabLst>
                <a:tab pos="2984425" algn="l"/>
              </a:tabLst>
            </a:pPr>
            <a:r>
              <a:rPr spc="-13" dirty="0"/>
              <a:t>Sequential</a:t>
            </a:r>
            <a:r>
              <a:rPr dirty="0"/>
              <a:t>	</a:t>
            </a:r>
            <a:r>
              <a:rPr spc="-13" dirty="0"/>
              <a:t>cohesion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4554" y="1043140"/>
            <a:ext cx="10714567" cy="1526529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474121" marR="6773" indent="-457189">
              <a:lnSpc>
                <a:spcPct val="115399"/>
              </a:lnSpc>
              <a:spcBef>
                <a:spcPts val="127"/>
              </a:spcBef>
              <a:buFont typeface="Arial MT"/>
              <a:buChar char="•"/>
              <a:tabLst>
                <a:tab pos="474121" algn="l"/>
              </a:tabLst>
            </a:pPr>
            <a:r>
              <a:rPr sz="4267" dirty="0">
                <a:latin typeface="Calibri"/>
                <a:cs typeface="Calibri"/>
              </a:rPr>
              <a:t>Elements</a:t>
            </a:r>
            <a:r>
              <a:rPr sz="4267" spc="-40" dirty="0">
                <a:latin typeface="Calibri"/>
                <a:cs typeface="Calibri"/>
              </a:rPr>
              <a:t> </a:t>
            </a:r>
            <a:r>
              <a:rPr sz="4267" dirty="0">
                <a:latin typeface="Calibri"/>
                <a:cs typeface="Calibri"/>
              </a:rPr>
              <a:t>of</a:t>
            </a:r>
            <a:r>
              <a:rPr sz="4267" spc="-80" dirty="0">
                <a:latin typeface="Calibri"/>
                <a:cs typeface="Calibri"/>
              </a:rPr>
              <a:t> </a:t>
            </a:r>
            <a:r>
              <a:rPr sz="4267" dirty="0">
                <a:latin typeface="Calibri"/>
                <a:cs typeface="Calibri"/>
              </a:rPr>
              <a:t>a</a:t>
            </a:r>
            <a:r>
              <a:rPr sz="4267" spc="-73" dirty="0">
                <a:latin typeface="Calibri"/>
                <a:cs typeface="Calibri"/>
              </a:rPr>
              <a:t> </a:t>
            </a:r>
            <a:r>
              <a:rPr sz="4267" dirty="0">
                <a:latin typeface="Calibri"/>
                <a:cs typeface="Calibri"/>
              </a:rPr>
              <a:t>module</a:t>
            </a:r>
            <a:r>
              <a:rPr sz="4267" spc="-60" dirty="0">
                <a:latin typeface="Calibri"/>
                <a:cs typeface="Calibri"/>
              </a:rPr>
              <a:t> </a:t>
            </a:r>
            <a:r>
              <a:rPr sz="4267" dirty="0">
                <a:latin typeface="Calibri"/>
                <a:cs typeface="Calibri"/>
              </a:rPr>
              <a:t>form</a:t>
            </a:r>
            <a:r>
              <a:rPr sz="4267" spc="-80" dirty="0">
                <a:latin typeface="Calibri"/>
                <a:cs typeface="Calibri"/>
              </a:rPr>
              <a:t> </a:t>
            </a:r>
            <a:r>
              <a:rPr sz="4267" spc="-27" dirty="0">
                <a:latin typeface="Calibri"/>
                <a:cs typeface="Calibri"/>
              </a:rPr>
              <a:t>different</a:t>
            </a:r>
            <a:r>
              <a:rPr sz="4267" spc="-80" dirty="0">
                <a:latin typeface="Calibri"/>
                <a:cs typeface="Calibri"/>
              </a:rPr>
              <a:t> </a:t>
            </a:r>
            <a:r>
              <a:rPr sz="4267" dirty="0">
                <a:latin typeface="Calibri"/>
                <a:cs typeface="Calibri"/>
              </a:rPr>
              <a:t>parts</a:t>
            </a:r>
            <a:r>
              <a:rPr sz="4267" spc="-120" dirty="0">
                <a:latin typeface="Calibri"/>
                <a:cs typeface="Calibri"/>
              </a:rPr>
              <a:t> </a:t>
            </a:r>
            <a:r>
              <a:rPr sz="4267" dirty="0">
                <a:latin typeface="Calibri"/>
                <a:cs typeface="Calibri"/>
              </a:rPr>
              <a:t>of</a:t>
            </a:r>
            <a:r>
              <a:rPr sz="4267" spc="-47" dirty="0">
                <a:latin typeface="Calibri"/>
                <a:cs typeface="Calibri"/>
              </a:rPr>
              <a:t> </a:t>
            </a:r>
            <a:r>
              <a:rPr sz="4267" spc="-67" dirty="0">
                <a:latin typeface="Calibri"/>
                <a:cs typeface="Calibri"/>
              </a:rPr>
              <a:t>a </a:t>
            </a:r>
            <a:r>
              <a:rPr sz="4267" spc="-13" dirty="0">
                <a:latin typeface="Calibri"/>
                <a:cs typeface="Calibri"/>
              </a:rPr>
              <a:t>sequence,</a:t>
            </a:r>
            <a:endParaRPr sz="4267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4155" y="2688519"/>
            <a:ext cx="6576907" cy="2142788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398770" marR="6773" indent="-382684">
              <a:lnSpc>
                <a:spcPct val="114799"/>
              </a:lnSpc>
              <a:spcBef>
                <a:spcPts val="127"/>
              </a:spcBef>
              <a:buFont typeface="Arial MT"/>
              <a:buChar char="–"/>
              <a:tabLst>
                <a:tab pos="401310" algn="l"/>
              </a:tabLst>
            </a:pPr>
            <a:r>
              <a:rPr sz="3733" dirty="0">
                <a:latin typeface="Calibri"/>
                <a:cs typeface="Calibri"/>
              </a:rPr>
              <a:t>output</a:t>
            </a:r>
            <a:r>
              <a:rPr sz="3733" spc="-40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from</a:t>
            </a:r>
            <a:r>
              <a:rPr sz="3733" spc="-80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one</a:t>
            </a:r>
            <a:r>
              <a:rPr sz="3733" spc="-60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element</a:t>
            </a:r>
            <a:r>
              <a:rPr sz="3733" spc="-67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of</a:t>
            </a:r>
            <a:r>
              <a:rPr sz="3733" spc="-60" dirty="0">
                <a:latin typeface="Calibri"/>
                <a:cs typeface="Calibri"/>
              </a:rPr>
              <a:t> </a:t>
            </a:r>
            <a:r>
              <a:rPr sz="3733" spc="-33" dirty="0">
                <a:latin typeface="Calibri"/>
                <a:cs typeface="Calibri"/>
              </a:rPr>
              <a:t>the 	</a:t>
            </a:r>
            <a:r>
              <a:rPr sz="3733" dirty="0">
                <a:latin typeface="Calibri"/>
                <a:cs typeface="Calibri"/>
              </a:rPr>
              <a:t>sequence</a:t>
            </a:r>
            <a:r>
              <a:rPr sz="3733" spc="-93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is</a:t>
            </a:r>
            <a:r>
              <a:rPr sz="3733" spc="-20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input</a:t>
            </a:r>
            <a:r>
              <a:rPr sz="3733" spc="-53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to</a:t>
            </a:r>
            <a:r>
              <a:rPr sz="3733" spc="-7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the</a:t>
            </a:r>
            <a:r>
              <a:rPr sz="3733" spc="-47" dirty="0">
                <a:latin typeface="Calibri"/>
                <a:cs typeface="Calibri"/>
              </a:rPr>
              <a:t> </a:t>
            </a:r>
            <a:r>
              <a:rPr sz="3733" spc="-13" dirty="0">
                <a:latin typeface="Calibri"/>
                <a:cs typeface="Calibri"/>
              </a:rPr>
              <a:t>next.</a:t>
            </a:r>
            <a:endParaRPr sz="3733">
              <a:latin typeface="Calibri"/>
              <a:cs typeface="Calibri"/>
            </a:endParaRPr>
          </a:p>
          <a:p>
            <a:pPr marL="399617" indent="-382684">
              <a:spcBef>
                <a:spcPts val="1767"/>
              </a:spcBef>
              <a:buFont typeface="Arial MT"/>
              <a:buChar char="–"/>
              <a:tabLst>
                <a:tab pos="399617" algn="l"/>
              </a:tabLst>
            </a:pPr>
            <a:r>
              <a:rPr sz="3733" spc="-13" dirty="0">
                <a:latin typeface="Calibri"/>
                <a:cs typeface="Calibri"/>
              </a:rPr>
              <a:t>Example:</a:t>
            </a:r>
            <a:endParaRPr sz="3733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41664" y="3023615"/>
            <a:ext cx="1822873" cy="448841"/>
          </a:xfrm>
          <a:prstGeom prst="rect">
            <a:avLst/>
          </a:prstGeom>
          <a:solidFill>
            <a:srgbClr val="00CC99"/>
          </a:solidFill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80797">
              <a:lnSpc>
                <a:spcPts val="3507"/>
              </a:lnSpc>
            </a:pPr>
            <a:r>
              <a:rPr sz="3200" b="1" spc="-27" dirty="0">
                <a:solidFill>
                  <a:srgbClr val="FFFF00"/>
                </a:solidFill>
                <a:latin typeface="Calibri"/>
                <a:cs typeface="Calibri"/>
              </a:rPr>
              <a:t>sort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741664" y="3779519"/>
            <a:ext cx="1822873" cy="548640"/>
          </a:xfrm>
          <a:custGeom>
            <a:avLst/>
            <a:gdLst/>
            <a:ahLst/>
            <a:cxnLst/>
            <a:rect l="l" t="t" r="r" b="b"/>
            <a:pathLst>
              <a:path w="1367154" h="411480">
                <a:moveTo>
                  <a:pt x="1367027" y="0"/>
                </a:moveTo>
                <a:lnTo>
                  <a:pt x="0" y="0"/>
                </a:lnTo>
                <a:lnTo>
                  <a:pt x="0" y="411480"/>
                </a:lnTo>
                <a:lnTo>
                  <a:pt x="1367027" y="411480"/>
                </a:lnTo>
                <a:lnTo>
                  <a:pt x="1367027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 txBox="1"/>
          <p:nvPr/>
        </p:nvSpPr>
        <p:spPr>
          <a:xfrm>
            <a:off x="8741664" y="3779519"/>
            <a:ext cx="1822873" cy="448841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61518">
              <a:lnSpc>
                <a:spcPts val="3507"/>
              </a:lnSpc>
            </a:pPr>
            <a:r>
              <a:rPr sz="3200" b="1" spc="-13" dirty="0">
                <a:solidFill>
                  <a:srgbClr val="FFFF00"/>
                </a:solidFill>
                <a:latin typeface="Calibri"/>
                <a:cs typeface="Calibri"/>
              </a:rPr>
              <a:t>search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741664" y="4529329"/>
            <a:ext cx="1822873" cy="555412"/>
          </a:xfrm>
          <a:custGeom>
            <a:avLst/>
            <a:gdLst/>
            <a:ahLst/>
            <a:cxnLst/>
            <a:rect l="l" t="t" r="r" b="b"/>
            <a:pathLst>
              <a:path w="1367154" h="416560">
                <a:moveTo>
                  <a:pt x="1367027" y="0"/>
                </a:moveTo>
                <a:lnTo>
                  <a:pt x="0" y="0"/>
                </a:lnTo>
                <a:lnTo>
                  <a:pt x="0" y="416051"/>
                </a:lnTo>
                <a:lnTo>
                  <a:pt x="1367027" y="416051"/>
                </a:lnTo>
                <a:lnTo>
                  <a:pt x="1367027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 txBox="1"/>
          <p:nvPr/>
        </p:nvSpPr>
        <p:spPr>
          <a:xfrm>
            <a:off x="8741664" y="4529328"/>
            <a:ext cx="1822873" cy="448841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18339">
              <a:lnSpc>
                <a:spcPts val="3547"/>
              </a:lnSpc>
            </a:pPr>
            <a:r>
              <a:rPr sz="3200" b="1" spc="-13" dirty="0">
                <a:solidFill>
                  <a:srgbClr val="FFFF00"/>
                </a:solidFill>
                <a:latin typeface="Calibri"/>
                <a:cs typeface="Calibri"/>
              </a:rPr>
              <a:t>display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9571396" y="3596639"/>
            <a:ext cx="169333" cy="1036320"/>
            <a:chOff x="7178547" y="2697479"/>
            <a:chExt cx="127000" cy="77724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78547" y="2697479"/>
              <a:ext cx="127000" cy="21031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78547" y="3264407"/>
              <a:ext cx="127000" cy="2103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94428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5836" y="369871"/>
            <a:ext cx="5100320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dirty="0"/>
              <a:t>Functional</a:t>
            </a:r>
            <a:r>
              <a:rPr spc="-227" dirty="0"/>
              <a:t> </a:t>
            </a:r>
            <a:r>
              <a:rPr spc="-13" dirty="0"/>
              <a:t>cohesion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9354" y="932462"/>
            <a:ext cx="11269980" cy="4267834"/>
          </a:xfrm>
          <a:prstGeom prst="rect">
            <a:avLst/>
          </a:prstGeom>
        </p:spPr>
        <p:txBody>
          <a:bodyPr vert="horz" wrap="square" lIns="0" tIns="307339" rIns="0" bIns="0" rtlCol="0">
            <a:spAutoFit/>
          </a:bodyPr>
          <a:lstStyle/>
          <a:p>
            <a:pPr marL="474121" indent="-457189">
              <a:spcBef>
                <a:spcPts val="2419"/>
              </a:spcBef>
              <a:buFont typeface="Arial MT"/>
              <a:buChar char="•"/>
              <a:tabLst>
                <a:tab pos="474121" algn="l"/>
              </a:tabLst>
            </a:pPr>
            <a:r>
              <a:rPr sz="4000" spc="-27" dirty="0">
                <a:latin typeface="Calibri"/>
                <a:cs typeface="Calibri"/>
              </a:rPr>
              <a:t>Different</a:t>
            </a:r>
            <a:r>
              <a:rPr sz="4000" spc="-6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elements</a:t>
            </a:r>
            <a:r>
              <a:rPr sz="4000" spc="-4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of</a:t>
            </a:r>
            <a:r>
              <a:rPr sz="4000" spc="-8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a</a:t>
            </a:r>
            <a:r>
              <a:rPr sz="4000" spc="-14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module</a:t>
            </a:r>
            <a:r>
              <a:rPr sz="4000" spc="-87" dirty="0">
                <a:latin typeface="Calibri"/>
                <a:cs typeface="Calibri"/>
              </a:rPr>
              <a:t> </a:t>
            </a:r>
            <a:r>
              <a:rPr sz="4000" spc="-13" dirty="0">
                <a:latin typeface="Calibri"/>
                <a:cs typeface="Calibri"/>
              </a:rPr>
              <a:t>cooperate:</a:t>
            </a:r>
            <a:endParaRPr sz="4000">
              <a:latin typeface="Calibri"/>
              <a:cs typeface="Calibri"/>
            </a:endParaRPr>
          </a:p>
          <a:p>
            <a:pPr marL="1009201" lvl="1" indent="-382684">
              <a:spcBef>
                <a:spcPts val="2087"/>
              </a:spcBef>
              <a:buFont typeface="Arial MT"/>
              <a:buChar char="–"/>
              <a:tabLst>
                <a:tab pos="1009201" algn="l"/>
              </a:tabLst>
            </a:pPr>
            <a:r>
              <a:rPr sz="3600" dirty="0">
                <a:latin typeface="Calibri"/>
                <a:cs typeface="Calibri"/>
              </a:rPr>
              <a:t>to</a:t>
            </a:r>
            <a:r>
              <a:rPr sz="3600" spc="-53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achieve</a:t>
            </a:r>
            <a:r>
              <a:rPr sz="3600" spc="-93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</a:t>
            </a:r>
            <a:r>
              <a:rPr sz="3600" spc="-73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single </a:t>
            </a:r>
            <a:r>
              <a:rPr sz="3600" spc="-13" dirty="0">
                <a:latin typeface="Calibri"/>
                <a:cs typeface="Calibri"/>
              </a:rPr>
              <a:t>function,</a:t>
            </a:r>
            <a:endParaRPr sz="3600">
              <a:latin typeface="Calibri"/>
              <a:cs typeface="Calibri"/>
            </a:endParaRPr>
          </a:p>
          <a:p>
            <a:pPr marL="1009201" lvl="1" indent="-382684">
              <a:spcBef>
                <a:spcPts val="2020"/>
              </a:spcBef>
              <a:buFont typeface="Arial MT"/>
              <a:buChar char="–"/>
              <a:tabLst>
                <a:tab pos="1009201" algn="l"/>
              </a:tabLst>
            </a:pPr>
            <a:r>
              <a:rPr sz="3600" dirty="0">
                <a:latin typeface="Calibri"/>
                <a:cs typeface="Calibri"/>
              </a:rPr>
              <a:t>e.g.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managing</a:t>
            </a:r>
            <a:r>
              <a:rPr sz="3600" spc="-27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an</a:t>
            </a:r>
            <a:r>
              <a:rPr sz="3600" spc="-8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employee's</a:t>
            </a:r>
            <a:r>
              <a:rPr sz="3600" spc="-73" dirty="0">
                <a:latin typeface="Calibri"/>
                <a:cs typeface="Calibri"/>
              </a:rPr>
              <a:t> </a:t>
            </a:r>
            <a:r>
              <a:rPr sz="3600" spc="-27" dirty="0">
                <a:latin typeface="Calibri"/>
                <a:cs typeface="Calibri"/>
              </a:rPr>
              <a:t>pay-</a:t>
            </a:r>
            <a:r>
              <a:rPr sz="3600" spc="-13" dirty="0">
                <a:latin typeface="Calibri"/>
                <a:cs typeface="Calibri"/>
              </a:rPr>
              <a:t>roll.</a:t>
            </a:r>
            <a:endParaRPr sz="3600">
              <a:latin typeface="Calibri"/>
              <a:cs typeface="Calibri"/>
            </a:endParaRPr>
          </a:p>
          <a:p>
            <a:pPr marL="474121" indent="-457189">
              <a:spcBef>
                <a:spcPts val="2053"/>
              </a:spcBef>
              <a:buFont typeface="Arial MT"/>
              <a:buChar char="•"/>
              <a:tabLst>
                <a:tab pos="474121" algn="l"/>
              </a:tabLst>
            </a:pPr>
            <a:r>
              <a:rPr sz="4000" dirty="0">
                <a:latin typeface="Calibri"/>
                <a:cs typeface="Calibri"/>
              </a:rPr>
              <a:t>When</a:t>
            </a:r>
            <a:r>
              <a:rPr sz="4000" spc="-10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a</a:t>
            </a:r>
            <a:r>
              <a:rPr sz="4000" spc="-10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module</a:t>
            </a:r>
            <a:r>
              <a:rPr sz="4000" spc="-133" dirty="0">
                <a:latin typeface="Calibri"/>
                <a:cs typeface="Calibri"/>
              </a:rPr>
              <a:t> </a:t>
            </a:r>
            <a:r>
              <a:rPr sz="4000" spc="-13" dirty="0">
                <a:latin typeface="Calibri"/>
                <a:cs typeface="Calibri"/>
              </a:rPr>
              <a:t>displays</a:t>
            </a:r>
            <a:r>
              <a:rPr sz="4000" spc="-8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functional</a:t>
            </a:r>
            <a:r>
              <a:rPr sz="4000" spc="-100" dirty="0">
                <a:latin typeface="Calibri"/>
                <a:cs typeface="Calibri"/>
              </a:rPr>
              <a:t> </a:t>
            </a:r>
            <a:r>
              <a:rPr sz="4000" spc="-13" dirty="0">
                <a:latin typeface="Calibri"/>
                <a:cs typeface="Calibri"/>
              </a:rPr>
              <a:t>cohesion,</a:t>
            </a:r>
            <a:endParaRPr sz="4000">
              <a:latin typeface="Calibri"/>
              <a:cs typeface="Calibri"/>
            </a:endParaRPr>
          </a:p>
          <a:p>
            <a:pPr marL="1009201" lvl="1" indent="-382684">
              <a:spcBef>
                <a:spcPts val="2087"/>
              </a:spcBef>
              <a:buFont typeface="Arial MT"/>
              <a:buChar char="–"/>
              <a:tabLst>
                <a:tab pos="1009201" algn="l"/>
                <a:tab pos="2546710" algn="l"/>
                <a:tab pos="6793483" algn="l"/>
              </a:tabLst>
            </a:pPr>
            <a:r>
              <a:rPr sz="3600" b="1" dirty="0">
                <a:solidFill>
                  <a:srgbClr val="0000FF"/>
                </a:solidFill>
                <a:latin typeface="Calibri"/>
                <a:cs typeface="Calibri"/>
              </a:rPr>
              <a:t>we</a:t>
            </a:r>
            <a:r>
              <a:rPr sz="3600" b="1" spc="-5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600" b="1" spc="-33" dirty="0">
                <a:solidFill>
                  <a:srgbClr val="0000FF"/>
                </a:solidFill>
                <a:latin typeface="Calibri"/>
                <a:cs typeface="Calibri"/>
              </a:rPr>
              <a:t>can</a:t>
            </a:r>
            <a:r>
              <a:rPr sz="3600" b="1" dirty="0">
                <a:solidFill>
                  <a:srgbClr val="0000FF"/>
                </a:solidFill>
                <a:latin typeface="Calibri"/>
                <a:cs typeface="Calibri"/>
              </a:rPr>
              <a:t>	describe</a:t>
            </a:r>
            <a:r>
              <a:rPr sz="3600" b="1" spc="-7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000FF"/>
                </a:solidFill>
                <a:latin typeface="Calibri"/>
                <a:cs typeface="Calibri"/>
              </a:rPr>
              <a:t>the</a:t>
            </a:r>
            <a:r>
              <a:rPr sz="3600" b="1" spc="-47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600" b="1" spc="-13" dirty="0">
                <a:solidFill>
                  <a:srgbClr val="0000FF"/>
                </a:solidFill>
                <a:latin typeface="Calibri"/>
                <a:cs typeface="Calibri"/>
              </a:rPr>
              <a:t>function</a:t>
            </a:r>
            <a:r>
              <a:rPr sz="3600" b="1" dirty="0">
                <a:solidFill>
                  <a:srgbClr val="0000FF"/>
                </a:solidFill>
                <a:latin typeface="Calibri"/>
                <a:cs typeface="Calibri"/>
              </a:rPr>
              <a:t>	using</a:t>
            </a:r>
            <a:r>
              <a:rPr sz="3600" b="1" spc="-3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000FF"/>
                </a:solidFill>
                <a:latin typeface="Calibri"/>
                <a:cs typeface="Calibri"/>
              </a:rPr>
              <a:t>a</a:t>
            </a:r>
            <a:r>
              <a:rPr sz="3600" b="1" spc="-47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000FF"/>
                </a:solidFill>
                <a:latin typeface="Calibri"/>
                <a:cs typeface="Calibri"/>
              </a:rPr>
              <a:t>single</a:t>
            </a:r>
            <a:r>
              <a:rPr sz="3600" b="1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600" b="1" spc="-13" dirty="0">
                <a:solidFill>
                  <a:srgbClr val="0000FF"/>
                </a:solidFill>
                <a:latin typeface="Calibri"/>
                <a:cs typeface="Calibri"/>
              </a:rPr>
              <a:t>sentence.</a:t>
            </a:r>
            <a:endParaRPr sz="36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09296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23631" y="1499615"/>
            <a:ext cx="4419600" cy="1140459"/>
          </a:xfrm>
          <a:custGeom>
            <a:avLst/>
            <a:gdLst/>
            <a:ahLst/>
            <a:cxnLst/>
            <a:rect l="l" t="t" r="r" b="b"/>
            <a:pathLst>
              <a:path w="3314700" h="855344">
                <a:moveTo>
                  <a:pt x="3314700" y="0"/>
                </a:moveTo>
                <a:lnTo>
                  <a:pt x="0" y="0"/>
                </a:lnTo>
                <a:lnTo>
                  <a:pt x="0" y="854963"/>
                </a:lnTo>
                <a:lnTo>
                  <a:pt x="3314700" y="854963"/>
                </a:lnTo>
                <a:lnTo>
                  <a:pt x="331470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8401643" y="1366113"/>
            <a:ext cx="3064933" cy="132869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6933" marR="6773" indent="109217">
              <a:lnSpc>
                <a:spcPct val="100400"/>
              </a:lnSpc>
              <a:spcBef>
                <a:spcPts val="120"/>
              </a:spcBef>
            </a:pPr>
            <a:r>
              <a:rPr sz="4267" b="1" spc="-13" dirty="0">
                <a:latin typeface="Calibri"/>
                <a:cs typeface="Calibri"/>
              </a:rPr>
              <a:t>Determining Cohesiveness</a:t>
            </a:r>
            <a:endParaRPr sz="4267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88382" y="728266"/>
            <a:ext cx="10059245" cy="571096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3600" dirty="0">
                <a:latin typeface="Calibri"/>
                <a:cs typeface="Calibri"/>
              </a:rPr>
              <a:t>Write</a:t>
            </a:r>
            <a:r>
              <a:rPr sz="3600" spc="-8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down</a:t>
            </a:r>
            <a:r>
              <a:rPr sz="3600" spc="-127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</a:t>
            </a:r>
            <a:r>
              <a:rPr sz="3600" spc="-67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sentence</a:t>
            </a:r>
            <a:r>
              <a:rPr sz="3600" spc="-33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to</a:t>
            </a:r>
            <a:r>
              <a:rPr sz="3600" spc="-47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describe</a:t>
            </a:r>
            <a:r>
              <a:rPr sz="3600" spc="-33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the</a:t>
            </a:r>
            <a:r>
              <a:rPr sz="3600" spc="-33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function</a:t>
            </a:r>
            <a:r>
              <a:rPr sz="3600" spc="-8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of</a:t>
            </a:r>
            <a:r>
              <a:rPr sz="3600" spc="-100" dirty="0">
                <a:latin typeface="Calibri"/>
                <a:cs typeface="Calibri"/>
              </a:rPr>
              <a:t> </a:t>
            </a:r>
            <a:r>
              <a:rPr sz="3600" spc="-33" dirty="0">
                <a:latin typeface="Calibri"/>
                <a:cs typeface="Calibri"/>
              </a:rPr>
              <a:t>the</a:t>
            </a:r>
            <a:endParaRPr sz="36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8382" y="1059485"/>
            <a:ext cx="5339080" cy="1515800"/>
          </a:xfrm>
          <a:prstGeom prst="rect">
            <a:avLst/>
          </a:prstGeom>
        </p:spPr>
        <p:txBody>
          <a:bodyPr vert="horz" wrap="square" lIns="0" tIns="248920" rIns="0" bIns="0" rtlCol="0">
            <a:spAutoFit/>
          </a:bodyPr>
          <a:lstStyle/>
          <a:p>
            <a:pPr marL="16933">
              <a:spcBef>
                <a:spcPts val="1960"/>
              </a:spcBef>
            </a:pPr>
            <a:r>
              <a:rPr sz="3600" spc="-13" dirty="0">
                <a:latin typeface="Calibri"/>
                <a:cs typeface="Calibri"/>
              </a:rPr>
              <a:t>module</a:t>
            </a:r>
            <a:endParaRPr sz="3600" dirty="0">
              <a:latin typeface="Calibri"/>
              <a:cs typeface="Calibri"/>
            </a:endParaRPr>
          </a:p>
          <a:p>
            <a:pPr marL="169329">
              <a:spcBef>
                <a:spcPts val="1653"/>
              </a:spcBef>
            </a:pPr>
            <a:r>
              <a:rPr sz="3200" dirty="0">
                <a:solidFill>
                  <a:srgbClr val="0000FF"/>
                </a:solidFill>
                <a:latin typeface="Arial MT"/>
                <a:cs typeface="Arial MT"/>
              </a:rPr>
              <a:t>–</a:t>
            </a:r>
            <a:r>
              <a:rPr sz="3200" spc="26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0000FF"/>
                </a:solidFill>
                <a:latin typeface="Calibri"/>
                <a:cs typeface="Calibri"/>
              </a:rPr>
              <a:t>If</a:t>
            </a:r>
            <a:r>
              <a:rPr sz="3200" spc="-5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00FF"/>
                </a:solidFill>
                <a:latin typeface="Calibri"/>
                <a:cs typeface="Calibri"/>
              </a:rPr>
              <a:t>the</a:t>
            </a:r>
            <a:r>
              <a:rPr sz="3200" spc="-3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00FF"/>
                </a:solidFill>
                <a:latin typeface="Calibri"/>
                <a:cs typeface="Calibri"/>
              </a:rPr>
              <a:t>sentence</a:t>
            </a:r>
            <a:r>
              <a:rPr sz="3200" spc="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00FF"/>
                </a:solidFill>
                <a:latin typeface="Calibri"/>
                <a:cs typeface="Calibri"/>
              </a:rPr>
              <a:t>is</a:t>
            </a:r>
            <a:r>
              <a:rPr sz="3200" spc="-5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spc="-13" dirty="0">
                <a:solidFill>
                  <a:srgbClr val="0000FF"/>
                </a:solidFill>
                <a:latin typeface="Calibri"/>
                <a:cs typeface="Calibri"/>
              </a:rPr>
              <a:t>compound</a:t>
            </a:r>
            <a:r>
              <a:rPr sz="3200" spc="-13" dirty="0">
                <a:latin typeface="Calibri"/>
                <a:cs typeface="Calibri"/>
              </a:rPr>
              <a:t>,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8382" y="2575285"/>
            <a:ext cx="8991600" cy="3286242"/>
          </a:xfrm>
          <a:prstGeom prst="rect">
            <a:avLst/>
          </a:prstGeom>
        </p:spPr>
        <p:txBody>
          <a:bodyPr vert="horz" wrap="square" lIns="0" tIns="193887" rIns="0" bIns="0" rtlCol="0">
            <a:spAutoFit/>
          </a:bodyPr>
          <a:lstStyle/>
          <a:p>
            <a:pPr marL="931310" indent="-304792">
              <a:spcBef>
                <a:spcPts val="1527"/>
              </a:spcBef>
              <a:buFont typeface="Arial MT"/>
              <a:buChar char="•"/>
              <a:tabLst>
                <a:tab pos="931310" algn="l"/>
              </a:tabLst>
            </a:pPr>
            <a:r>
              <a:rPr sz="2733" dirty="0">
                <a:latin typeface="Calibri"/>
                <a:cs typeface="Calibri"/>
              </a:rPr>
              <a:t>it</a:t>
            </a:r>
            <a:r>
              <a:rPr sz="2733" spc="40" dirty="0">
                <a:latin typeface="Calibri"/>
                <a:cs typeface="Calibri"/>
              </a:rPr>
              <a:t> </a:t>
            </a:r>
            <a:r>
              <a:rPr sz="2733" dirty="0">
                <a:latin typeface="Calibri"/>
                <a:cs typeface="Calibri"/>
              </a:rPr>
              <a:t>has</a:t>
            </a:r>
            <a:r>
              <a:rPr sz="2733" spc="93" dirty="0">
                <a:latin typeface="Calibri"/>
                <a:cs typeface="Calibri"/>
              </a:rPr>
              <a:t> </a:t>
            </a:r>
            <a:r>
              <a:rPr sz="2733" dirty="0">
                <a:latin typeface="Calibri"/>
                <a:cs typeface="Calibri"/>
              </a:rPr>
              <a:t>a</a:t>
            </a:r>
            <a:r>
              <a:rPr sz="2733" spc="47" dirty="0">
                <a:latin typeface="Calibri"/>
                <a:cs typeface="Calibri"/>
              </a:rPr>
              <a:t> </a:t>
            </a:r>
            <a:r>
              <a:rPr sz="2733" dirty="0">
                <a:latin typeface="Calibri"/>
                <a:cs typeface="Calibri"/>
              </a:rPr>
              <a:t>sequential</a:t>
            </a:r>
            <a:r>
              <a:rPr sz="2733" spc="160" dirty="0">
                <a:latin typeface="Calibri"/>
                <a:cs typeface="Calibri"/>
              </a:rPr>
              <a:t> </a:t>
            </a:r>
            <a:r>
              <a:rPr sz="2733" dirty="0">
                <a:latin typeface="Calibri"/>
                <a:cs typeface="Calibri"/>
              </a:rPr>
              <a:t>or</a:t>
            </a:r>
            <a:r>
              <a:rPr sz="2733" spc="67" dirty="0">
                <a:latin typeface="Calibri"/>
                <a:cs typeface="Calibri"/>
              </a:rPr>
              <a:t> </a:t>
            </a:r>
            <a:r>
              <a:rPr sz="2733" dirty="0">
                <a:latin typeface="Calibri"/>
                <a:cs typeface="Calibri"/>
              </a:rPr>
              <a:t>communicational</a:t>
            </a:r>
            <a:r>
              <a:rPr sz="2733" spc="167" dirty="0">
                <a:latin typeface="Calibri"/>
                <a:cs typeface="Calibri"/>
              </a:rPr>
              <a:t> </a:t>
            </a:r>
            <a:r>
              <a:rPr sz="2733" spc="-13" dirty="0">
                <a:latin typeface="Calibri"/>
                <a:cs typeface="Calibri"/>
              </a:rPr>
              <a:t>cohesion.</a:t>
            </a:r>
            <a:endParaRPr sz="2733" dirty="0">
              <a:latin typeface="Calibri"/>
              <a:cs typeface="Calibri"/>
            </a:endParaRPr>
          </a:p>
          <a:p>
            <a:pPr marL="400463" indent="-383530">
              <a:spcBef>
                <a:spcPts val="1587"/>
              </a:spcBef>
              <a:buFont typeface="Arial MT"/>
              <a:buChar char="–"/>
              <a:tabLst>
                <a:tab pos="400463" algn="l"/>
              </a:tabLst>
            </a:pPr>
            <a:r>
              <a:rPr sz="3200" dirty="0">
                <a:solidFill>
                  <a:srgbClr val="0000FF"/>
                </a:solidFill>
                <a:latin typeface="Calibri"/>
                <a:cs typeface="Calibri"/>
              </a:rPr>
              <a:t>If</a:t>
            </a:r>
            <a:r>
              <a:rPr sz="3200" spc="-10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00FF"/>
                </a:solidFill>
                <a:latin typeface="Calibri"/>
                <a:cs typeface="Calibri"/>
              </a:rPr>
              <a:t>it</a:t>
            </a:r>
            <a:r>
              <a:rPr sz="3200" spc="-7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00FF"/>
                </a:solidFill>
                <a:latin typeface="Calibri"/>
                <a:cs typeface="Calibri"/>
              </a:rPr>
              <a:t>has</a:t>
            </a:r>
            <a:r>
              <a:rPr sz="3200" spc="-147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00FF"/>
                </a:solidFill>
                <a:latin typeface="Calibri"/>
                <a:cs typeface="Calibri"/>
              </a:rPr>
              <a:t>words</a:t>
            </a:r>
            <a:r>
              <a:rPr sz="3200" spc="-67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00FF"/>
                </a:solidFill>
                <a:latin typeface="Calibri"/>
                <a:cs typeface="Calibri"/>
              </a:rPr>
              <a:t>like</a:t>
            </a:r>
            <a:r>
              <a:rPr sz="3200" spc="-67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spc="-33" dirty="0">
                <a:solidFill>
                  <a:srgbClr val="0000FF"/>
                </a:solidFill>
                <a:latin typeface="Calibri"/>
                <a:cs typeface="Calibri"/>
              </a:rPr>
              <a:t>“first”,</a:t>
            </a:r>
            <a:r>
              <a:rPr sz="3200" spc="-87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spc="-27" dirty="0">
                <a:solidFill>
                  <a:srgbClr val="0000FF"/>
                </a:solidFill>
                <a:latin typeface="Calibri"/>
                <a:cs typeface="Calibri"/>
              </a:rPr>
              <a:t>“next”,</a:t>
            </a:r>
            <a:r>
              <a:rPr sz="3200" spc="-8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spc="-33" dirty="0">
                <a:solidFill>
                  <a:srgbClr val="0000FF"/>
                </a:solidFill>
                <a:latin typeface="Calibri"/>
                <a:cs typeface="Calibri"/>
              </a:rPr>
              <a:t>“after”,</a:t>
            </a:r>
            <a:r>
              <a:rPr sz="3200" spc="-8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spc="-40" dirty="0">
                <a:solidFill>
                  <a:srgbClr val="0000FF"/>
                </a:solidFill>
                <a:latin typeface="Calibri"/>
                <a:cs typeface="Calibri"/>
              </a:rPr>
              <a:t>“then”,</a:t>
            </a:r>
            <a:r>
              <a:rPr sz="3200" spc="-127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spc="-27" dirty="0">
                <a:solidFill>
                  <a:srgbClr val="0000FF"/>
                </a:solidFill>
                <a:latin typeface="Calibri"/>
                <a:cs typeface="Calibri"/>
              </a:rPr>
              <a:t>etc.</a:t>
            </a:r>
            <a:endParaRPr sz="3200" dirty="0">
              <a:latin typeface="Calibri"/>
              <a:cs typeface="Calibri"/>
            </a:endParaRPr>
          </a:p>
          <a:p>
            <a:pPr marL="931310" lvl="1" indent="-304792">
              <a:spcBef>
                <a:spcPts val="1720"/>
              </a:spcBef>
              <a:buFont typeface="Arial MT"/>
              <a:buChar char="•"/>
              <a:tabLst>
                <a:tab pos="931310" algn="l"/>
                <a:tab pos="3451774" algn="l"/>
              </a:tabLst>
            </a:pPr>
            <a:r>
              <a:rPr sz="2733" dirty="0">
                <a:latin typeface="Calibri"/>
                <a:cs typeface="Calibri"/>
              </a:rPr>
              <a:t>it</a:t>
            </a:r>
            <a:r>
              <a:rPr sz="2733" spc="27" dirty="0">
                <a:latin typeface="Calibri"/>
                <a:cs typeface="Calibri"/>
              </a:rPr>
              <a:t> </a:t>
            </a:r>
            <a:r>
              <a:rPr sz="2733" dirty="0">
                <a:latin typeface="Calibri"/>
                <a:cs typeface="Calibri"/>
              </a:rPr>
              <a:t>has</a:t>
            </a:r>
            <a:r>
              <a:rPr sz="2733" spc="80" dirty="0">
                <a:latin typeface="Calibri"/>
                <a:cs typeface="Calibri"/>
              </a:rPr>
              <a:t> </a:t>
            </a:r>
            <a:r>
              <a:rPr sz="2733" spc="-13" dirty="0">
                <a:latin typeface="Calibri"/>
                <a:cs typeface="Calibri"/>
              </a:rPr>
              <a:t>sequential</a:t>
            </a:r>
            <a:r>
              <a:rPr sz="2733" dirty="0">
                <a:latin typeface="Calibri"/>
                <a:cs typeface="Calibri"/>
              </a:rPr>
              <a:t>	or</a:t>
            </a:r>
            <a:r>
              <a:rPr sz="2733" spc="13" dirty="0">
                <a:latin typeface="Calibri"/>
                <a:cs typeface="Calibri"/>
              </a:rPr>
              <a:t> </a:t>
            </a:r>
            <a:r>
              <a:rPr sz="2733" dirty="0">
                <a:latin typeface="Calibri"/>
                <a:cs typeface="Calibri"/>
              </a:rPr>
              <a:t>temporal</a:t>
            </a:r>
            <a:r>
              <a:rPr sz="2733" spc="147" dirty="0">
                <a:latin typeface="Calibri"/>
                <a:cs typeface="Calibri"/>
              </a:rPr>
              <a:t> </a:t>
            </a:r>
            <a:r>
              <a:rPr sz="2733" spc="-13" dirty="0">
                <a:latin typeface="Calibri"/>
                <a:cs typeface="Calibri"/>
              </a:rPr>
              <a:t>cohesion.</a:t>
            </a:r>
            <a:endParaRPr sz="2733" dirty="0">
              <a:latin typeface="Calibri"/>
              <a:cs typeface="Calibri"/>
            </a:endParaRPr>
          </a:p>
          <a:p>
            <a:pPr marL="400463" indent="-383530">
              <a:spcBef>
                <a:spcPts val="1587"/>
              </a:spcBef>
              <a:buFont typeface="Arial MT"/>
              <a:buChar char="–"/>
              <a:tabLst>
                <a:tab pos="400463" algn="l"/>
              </a:tabLst>
            </a:pPr>
            <a:r>
              <a:rPr sz="3200" dirty="0">
                <a:solidFill>
                  <a:srgbClr val="0000FF"/>
                </a:solidFill>
                <a:latin typeface="Calibri"/>
                <a:cs typeface="Calibri"/>
              </a:rPr>
              <a:t>If</a:t>
            </a:r>
            <a:r>
              <a:rPr sz="3200" spc="-87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00FF"/>
                </a:solidFill>
                <a:latin typeface="Calibri"/>
                <a:cs typeface="Calibri"/>
              </a:rPr>
              <a:t>it</a:t>
            </a:r>
            <a:r>
              <a:rPr sz="3200" spc="-5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00FF"/>
                </a:solidFill>
                <a:latin typeface="Calibri"/>
                <a:cs typeface="Calibri"/>
              </a:rPr>
              <a:t>has</a:t>
            </a:r>
            <a:r>
              <a:rPr sz="3200" spc="-1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00FF"/>
                </a:solidFill>
                <a:latin typeface="Calibri"/>
                <a:cs typeface="Calibri"/>
              </a:rPr>
              <a:t>words</a:t>
            </a:r>
            <a:r>
              <a:rPr sz="3200" spc="-5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00FF"/>
                </a:solidFill>
                <a:latin typeface="Calibri"/>
                <a:cs typeface="Calibri"/>
              </a:rPr>
              <a:t>like</a:t>
            </a:r>
            <a:r>
              <a:rPr sz="3200" spc="-5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spc="-13" dirty="0">
                <a:solidFill>
                  <a:srgbClr val="0000FF"/>
                </a:solidFill>
                <a:latin typeface="Calibri"/>
                <a:cs typeface="Calibri"/>
              </a:rPr>
              <a:t>initialize</a:t>
            </a:r>
            <a:r>
              <a:rPr sz="3200" spc="-13" dirty="0">
                <a:latin typeface="Calibri"/>
                <a:cs typeface="Calibri"/>
              </a:rPr>
              <a:t>,</a:t>
            </a:r>
            <a:endParaRPr sz="3200" dirty="0">
              <a:latin typeface="Calibri"/>
              <a:cs typeface="Calibri"/>
            </a:endParaRPr>
          </a:p>
          <a:p>
            <a:pPr marL="931310" lvl="1" indent="-304792">
              <a:spcBef>
                <a:spcPts val="1647"/>
              </a:spcBef>
              <a:buFont typeface="Arial MT"/>
              <a:buChar char="•"/>
              <a:tabLst>
                <a:tab pos="931310" algn="l"/>
              </a:tabLst>
            </a:pPr>
            <a:r>
              <a:rPr sz="2800" dirty="0">
                <a:latin typeface="Calibri"/>
                <a:cs typeface="Calibri"/>
              </a:rPr>
              <a:t>it</a:t>
            </a:r>
            <a:r>
              <a:rPr sz="2800" spc="-107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probably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3" dirty="0">
                <a:latin typeface="Calibri"/>
                <a:cs typeface="Calibri"/>
              </a:rPr>
              <a:t>temporal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3" dirty="0">
                <a:latin typeface="Calibri"/>
                <a:cs typeface="Calibri"/>
              </a:rPr>
              <a:t>cohesion.</a:t>
            </a:r>
            <a:endParaRPr sz="2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49957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83421" y="369871"/>
            <a:ext cx="2266527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13" dirty="0"/>
              <a:t>Coupling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7754" y="754817"/>
            <a:ext cx="10670540" cy="4284079"/>
          </a:xfrm>
          <a:prstGeom prst="rect">
            <a:avLst/>
          </a:prstGeom>
        </p:spPr>
        <p:txBody>
          <a:bodyPr vert="horz" wrap="square" lIns="0" tIns="381847" rIns="0" bIns="0" rtlCol="0">
            <a:spAutoFit/>
          </a:bodyPr>
          <a:lstStyle/>
          <a:p>
            <a:pPr marL="473275" indent="-456342">
              <a:spcBef>
                <a:spcPts val="3007"/>
              </a:spcBef>
              <a:buFont typeface="Arial MT"/>
              <a:buChar char="•"/>
              <a:tabLst>
                <a:tab pos="473275" algn="l"/>
              </a:tabLst>
            </a:pPr>
            <a:r>
              <a:rPr sz="4400" dirty="0">
                <a:latin typeface="Calibri"/>
                <a:cs typeface="Calibri"/>
              </a:rPr>
              <a:t>Coupling</a:t>
            </a:r>
            <a:r>
              <a:rPr sz="4400" spc="-80" dirty="0">
                <a:latin typeface="Calibri"/>
                <a:cs typeface="Calibri"/>
              </a:rPr>
              <a:t> </a:t>
            </a:r>
            <a:r>
              <a:rPr sz="4400" spc="-13" dirty="0">
                <a:latin typeface="Calibri"/>
                <a:cs typeface="Calibri"/>
              </a:rPr>
              <a:t>indicates:</a:t>
            </a:r>
            <a:endParaRPr sz="4400">
              <a:latin typeface="Calibri"/>
              <a:cs typeface="Calibri"/>
            </a:endParaRPr>
          </a:p>
          <a:p>
            <a:pPr marL="1010895" marR="1165830" lvl="1" indent="-384377">
              <a:lnSpc>
                <a:spcPct val="110100"/>
              </a:lnSpc>
              <a:spcBef>
                <a:spcPts val="2080"/>
              </a:spcBef>
              <a:buFont typeface="Arial MT"/>
              <a:buChar char="–"/>
              <a:tabLst>
                <a:tab pos="1010895" algn="l"/>
              </a:tabLst>
            </a:pPr>
            <a:r>
              <a:rPr sz="4000" dirty="0">
                <a:latin typeface="Calibri"/>
                <a:cs typeface="Calibri"/>
              </a:rPr>
              <a:t>how</a:t>
            </a:r>
            <a:r>
              <a:rPr sz="4000" spc="-127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closely</a:t>
            </a:r>
            <a:r>
              <a:rPr sz="4000" spc="-6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two</a:t>
            </a:r>
            <a:r>
              <a:rPr sz="4000" spc="-113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modules</a:t>
            </a:r>
            <a:r>
              <a:rPr sz="4000" spc="-53" dirty="0">
                <a:latin typeface="Calibri"/>
                <a:cs typeface="Calibri"/>
              </a:rPr>
              <a:t> </a:t>
            </a:r>
            <a:r>
              <a:rPr sz="4000" spc="-13" dirty="0">
                <a:latin typeface="Calibri"/>
                <a:cs typeface="Calibri"/>
              </a:rPr>
              <a:t>interact</a:t>
            </a:r>
            <a:r>
              <a:rPr sz="4000" spc="-107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or</a:t>
            </a:r>
            <a:r>
              <a:rPr sz="4000" spc="-100" dirty="0">
                <a:latin typeface="Calibri"/>
                <a:cs typeface="Calibri"/>
              </a:rPr>
              <a:t> </a:t>
            </a:r>
            <a:r>
              <a:rPr sz="4000" spc="-33" dirty="0">
                <a:latin typeface="Calibri"/>
                <a:cs typeface="Calibri"/>
              </a:rPr>
              <a:t>how </a:t>
            </a:r>
            <a:r>
              <a:rPr sz="4000" spc="-13" dirty="0">
                <a:latin typeface="Calibri"/>
                <a:cs typeface="Calibri"/>
              </a:rPr>
              <a:t>interdependent</a:t>
            </a:r>
            <a:r>
              <a:rPr sz="4000" spc="-127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they</a:t>
            </a:r>
            <a:r>
              <a:rPr sz="4000" spc="-127" dirty="0">
                <a:latin typeface="Calibri"/>
                <a:cs typeface="Calibri"/>
              </a:rPr>
              <a:t> </a:t>
            </a:r>
            <a:r>
              <a:rPr sz="4000" spc="-27" dirty="0">
                <a:latin typeface="Calibri"/>
                <a:cs typeface="Calibri"/>
              </a:rPr>
              <a:t>are.</a:t>
            </a:r>
            <a:endParaRPr sz="4000">
              <a:latin typeface="Calibri"/>
              <a:cs typeface="Calibri"/>
            </a:endParaRPr>
          </a:p>
          <a:p>
            <a:pPr marL="1010895" marR="6773" lvl="1" indent="-384377">
              <a:lnSpc>
                <a:spcPct val="110100"/>
              </a:lnSpc>
              <a:spcBef>
                <a:spcPts val="1920"/>
              </a:spcBef>
              <a:buFont typeface="Arial MT"/>
              <a:buChar char="–"/>
              <a:tabLst>
                <a:tab pos="1010895" algn="l"/>
              </a:tabLst>
            </a:pP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The</a:t>
            </a:r>
            <a:r>
              <a:rPr sz="4000" b="1" spc="-107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degree</a:t>
            </a:r>
            <a:r>
              <a:rPr sz="4000" b="1" spc="-10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of</a:t>
            </a:r>
            <a:r>
              <a:rPr sz="4000" b="1" spc="-11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coupling</a:t>
            </a:r>
            <a:r>
              <a:rPr sz="4000" b="1" spc="-167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between</a:t>
            </a:r>
            <a:r>
              <a:rPr sz="4000" b="1" spc="-9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two</a:t>
            </a:r>
            <a:r>
              <a:rPr sz="4000" b="1" spc="-107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spc="-13" dirty="0">
                <a:solidFill>
                  <a:srgbClr val="0000FF"/>
                </a:solidFill>
                <a:latin typeface="Calibri"/>
                <a:cs typeface="Calibri"/>
              </a:rPr>
              <a:t>modules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depends</a:t>
            </a:r>
            <a:r>
              <a:rPr sz="4000" b="1" spc="-1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on</a:t>
            </a:r>
            <a:r>
              <a:rPr sz="4000" b="1" spc="-8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their</a:t>
            </a:r>
            <a:r>
              <a:rPr sz="4000" b="1" spc="-1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spc="-13" dirty="0">
                <a:solidFill>
                  <a:srgbClr val="0000FF"/>
                </a:solidFill>
                <a:latin typeface="Calibri"/>
                <a:cs typeface="Calibri"/>
              </a:rPr>
              <a:t>interface</a:t>
            </a:r>
            <a:r>
              <a:rPr sz="4000" b="1" spc="-11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spc="-13" dirty="0">
                <a:solidFill>
                  <a:srgbClr val="0000FF"/>
                </a:solidFill>
                <a:latin typeface="Calibri"/>
                <a:cs typeface="Calibri"/>
              </a:rPr>
              <a:t>complexity.</a:t>
            </a:r>
            <a:endParaRPr sz="40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58359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37118" y="280395"/>
            <a:ext cx="3087798" cy="851515"/>
          </a:xfrm>
          <a:prstGeom prst="rect">
            <a:avLst/>
          </a:prstGeom>
        </p:spPr>
        <p:txBody>
          <a:bodyPr vert="horz" wrap="square" lIns="0" tIns="20320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60"/>
              </a:spcBef>
            </a:pPr>
            <a:r>
              <a:rPr sz="5400" spc="-13" dirty="0"/>
              <a:t>Coupling</a:t>
            </a:r>
            <a:endParaRPr sz="5400" dirty="0"/>
          </a:p>
        </p:txBody>
      </p:sp>
      <p:sp>
        <p:nvSpPr>
          <p:cNvPr id="3" name="object 3"/>
          <p:cNvSpPr txBox="1"/>
          <p:nvPr/>
        </p:nvSpPr>
        <p:spPr>
          <a:xfrm>
            <a:off x="648929" y="1049440"/>
            <a:ext cx="10883178" cy="4752412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474121" marR="125304" indent="-457189">
              <a:lnSpc>
                <a:spcPct val="120200"/>
              </a:lnSpc>
              <a:spcBef>
                <a:spcPts val="127"/>
              </a:spcBef>
              <a:buFont typeface="Arial MT"/>
              <a:buChar char="•"/>
              <a:tabLst>
                <a:tab pos="474121" algn="l"/>
                <a:tab pos="1393578" algn="l"/>
              </a:tabLst>
            </a:pPr>
            <a:r>
              <a:rPr sz="3600" dirty="0">
                <a:latin typeface="Calibri"/>
                <a:cs typeface="Calibri"/>
              </a:rPr>
              <a:t>There</a:t>
            </a:r>
            <a:r>
              <a:rPr sz="3600" spc="-12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are</a:t>
            </a:r>
            <a:r>
              <a:rPr sz="3600" spc="-113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no</a:t>
            </a:r>
            <a:r>
              <a:rPr sz="3600" spc="-87" dirty="0">
                <a:latin typeface="Calibri"/>
                <a:cs typeface="Calibri"/>
              </a:rPr>
              <a:t> </a:t>
            </a:r>
            <a:r>
              <a:rPr sz="3600" spc="-13" dirty="0">
                <a:latin typeface="Calibri"/>
                <a:cs typeface="Calibri"/>
              </a:rPr>
              <a:t>ways</a:t>
            </a:r>
            <a:r>
              <a:rPr sz="3600" spc="-152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to</a:t>
            </a:r>
            <a:r>
              <a:rPr sz="3600" spc="-87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precisely</a:t>
            </a:r>
            <a:r>
              <a:rPr sz="3600" spc="-53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measure</a:t>
            </a:r>
            <a:r>
              <a:rPr sz="3600" spc="-73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coupling</a:t>
            </a:r>
            <a:r>
              <a:rPr sz="3600" spc="-73" dirty="0">
                <a:latin typeface="Calibri"/>
                <a:cs typeface="Calibri"/>
              </a:rPr>
              <a:t> </a:t>
            </a:r>
            <a:r>
              <a:rPr sz="3600" spc="-13" dirty="0">
                <a:latin typeface="Calibri"/>
                <a:cs typeface="Calibri"/>
              </a:rPr>
              <a:t>between </a:t>
            </a:r>
            <a:r>
              <a:rPr sz="3600" spc="-33" dirty="0" smtClean="0">
                <a:latin typeface="Calibri"/>
                <a:cs typeface="Calibri"/>
              </a:rPr>
              <a:t>two</a:t>
            </a:r>
            <a:r>
              <a:rPr lang="en-US" sz="3600" dirty="0">
                <a:latin typeface="Calibri"/>
                <a:cs typeface="Calibri"/>
              </a:rPr>
              <a:t> </a:t>
            </a:r>
            <a:r>
              <a:rPr sz="3600" spc="-13" dirty="0" smtClean="0">
                <a:latin typeface="Calibri"/>
                <a:cs typeface="Calibri"/>
              </a:rPr>
              <a:t>modules</a:t>
            </a:r>
            <a:r>
              <a:rPr sz="3600" spc="-13" dirty="0">
                <a:latin typeface="Calibri"/>
                <a:cs typeface="Calibri"/>
              </a:rPr>
              <a:t>:</a:t>
            </a:r>
            <a:endParaRPr sz="3600" dirty="0">
              <a:latin typeface="Calibri"/>
              <a:cs typeface="Calibri"/>
            </a:endParaRPr>
          </a:p>
          <a:p>
            <a:pPr marL="1010895" marR="105831" indent="-385224">
              <a:lnSpc>
                <a:spcPct val="120100"/>
              </a:lnSpc>
              <a:spcBef>
                <a:spcPts val="1700"/>
              </a:spcBef>
              <a:tabLst>
                <a:tab pos="8330992" algn="l"/>
                <a:tab pos="10420513" algn="l"/>
              </a:tabLst>
            </a:pPr>
            <a:r>
              <a:rPr sz="3200" dirty="0">
                <a:solidFill>
                  <a:srgbClr val="0000FF"/>
                </a:solidFill>
                <a:latin typeface="Arial MT"/>
                <a:cs typeface="Arial MT"/>
              </a:rPr>
              <a:t>–</a:t>
            </a:r>
            <a:r>
              <a:rPr sz="3200" spc="30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3200" b="1" spc="-13" dirty="0">
                <a:solidFill>
                  <a:srgbClr val="0000FF"/>
                </a:solidFill>
                <a:latin typeface="Calibri"/>
                <a:cs typeface="Calibri"/>
              </a:rPr>
              <a:t>classification</a:t>
            </a:r>
            <a:r>
              <a:rPr sz="3200" b="1" spc="-3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0000FF"/>
                </a:solidFill>
                <a:latin typeface="Calibri"/>
                <a:cs typeface="Calibri"/>
              </a:rPr>
              <a:t>of</a:t>
            </a:r>
            <a:r>
              <a:rPr sz="3200" b="1" spc="-3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b="1" spc="-13" dirty="0">
                <a:solidFill>
                  <a:srgbClr val="0000FF"/>
                </a:solidFill>
                <a:latin typeface="Calibri"/>
                <a:cs typeface="Calibri"/>
              </a:rPr>
              <a:t>different</a:t>
            </a:r>
            <a:r>
              <a:rPr sz="3200" b="1" spc="-3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0000FF"/>
                </a:solidFill>
                <a:latin typeface="Calibri"/>
                <a:cs typeface="Calibri"/>
              </a:rPr>
              <a:t>types</a:t>
            </a:r>
            <a:r>
              <a:rPr sz="3200" b="1" spc="-67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0000FF"/>
                </a:solidFill>
                <a:latin typeface="Calibri"/>
                <a:cs typeface="Calibri"/>
              </a:rPr>
              <a:t>of</a:t>
            </a:r>
            <a:r>
              <a:rPr sz="3200" b="1" spc="-3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b="1" spc="-13" dirty="0">
                <a:solidFill>
                  <a:srgbClr val="0000FF"/>
                </a:solidFill>
                <a:latin typeface="Calibri"/>
                <a:cs typeface="Calibri"/>
              </a:rPr>
              <a:t>coupling</a:t>
            </a:r>
            <a:r>
              <a:rPr sz="3200" b="1" dirty="0">
                <a:solidFill>
                  <a:srgbClr val="0000FF"/>
                </a:solidFill>
                <a:latin typeface="Calibri"/>
                <a:cs typeface="Calibri"/>
              </a:rPr>
              <a:t>	will</a:t>
            </a:r>
            <a:r>
              <a:rPr sz="3200" b="1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0000FF"/>
                </a:solidFill>
                <a:latin typeface="Calibri"/>
                <a:cs typeface="Calibri"/>
              </a:rPr>
              <a:t>help</a:t>
            </a:r>
            <a:r>
              <a:rPr sz="3200" b="1" spc="-9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b="1" spc="-33" dirty="0">
                <a:solidFill>
                  <a:srgbClr val="0000FF"/>
                </a:solidFill>
                <a:latin typeface="Calibri"/>
                <a:cs typeface="Calibri"/>
              </a:rPr>
              <a:t>us</a:t>
            </a:r>
            <a:r>
              <a:rPr sz="3200" b="1" dirty="0">
                <a:solidFill>
                  <a:srgbClr val="0000FF"/>
                </a:solidFill>
                <a:latin typeface="Calibri"/>
                <a:cs typeface="Calibri"/>
              </a:rPr>
              <a:t>	</a:t>
            </a:r>
            <a:r>
              <a:rPr sz="3200" b="1" spc="-33" dirty="0">
                <a:solidFill>
                  <a:srgbClr val="0000FF"/>
                </a:solidFill>
                <a:latin typeface="Calibri"/>
                <a:cs typeface="Calibri"/>
              </a:rPr>
              <a:t>to </a:t>
            </a:r>
            <a:r>
              <a:rPr sz="3200" b="1" spc="-27" dirty="0">
                <a:solidFill>
                  <a:srgbClr val="0000FF"/>
                </a:solidFill>
                <a:latin typeface="Calibri"/>
                <a:cs typeface="Calibri"/>
              </a:rPr>
              <a:t>approximately</a:t>
            </a:r>
            <a:r>
              <a:rPr sz="3200" b="1" spc="-13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b="1" spc="-13" dirty="0">
                <a:solidFill>
                  <a:srgbClr val="0000FF"/>
                </a:solidFill>
                <a:latin typeface="Calibri"/>
                <a:cs typeface="Calibri"/>
              </a:rPr>
              <a:t>estimate</a:t>
            </a:r>
            <a:r>
              <a:rPr sz="3200" b="1" spc="-3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0000FF"/>
                </a:solidFill>
                <a:latin typeface="Calibri"/>
                <a:cs typeface="Calibri"/>
              </a:rPr>
              <a:t>the</a:t>
            </a:r>
            <a:r>
              <a:rPr sz="3200" b="1" spc="-3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0000FF"/>
                </a:solidFill>
                <a:latin typeface="Calibri"/>
                <a:cs typeface="Calibri"/>
              </a:rPr>
              <a:t>degree</a:t>
            </a:r>
            <a:r>
              <a:rPr sz="3200" b="1" spc="-13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0000FF"/>
                </a:solidFill>
                <a:latin typeface="Calibri"/>
                <a:cs typeface="Calibri"/>
              </a:rPr>
              <a:t>of</a:t>
            </a:r>
            <a:r>
              <a:rPr sz="3200" b="1" spc="-5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0000FF"/>
                </a:solidFill>
                <a:latin typeface="Calibri"/>
                <a:cs typeface="Calibri"/>
              </a:rPr>
              <a:t>coupling</a:t>
            </a:r>
            <a:r>
              <a:rPr sz="3200" b="1" spc="-127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0000FF"/>
                </a:solidFill>
                <a:latin typeface="Calibri"/>
                <a:cs typeface="Calibri"/>
              </a:rPr>
              <a:t>between</a:t>
            </a:r>
            <a:r>
              <a:rPr sz="3200" b="1" spc="-9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b="1" spc="-33" dirty="0">
                <a:solidFill>
                  <a:srgbClr val="0000FF"/>
                </a:solidFill>
                <a:latin typeface="Calibri"/>
                <a:cs typeface="Calibri"/>
              </a:rPr>
              <a:t>two </a:t>
            </a:r>
            <a:r>
              <a:rPr sz="3200" b="1" spc="-13" dirty="0">
                <a:solidFill>
                  <a:srgbClr val="0000FF"/>
                </a:solidFill>
                <a:latin typeface="Calibri"/>
                <a:cs typeface="Calibri"/>
              </a:rPr>
              <a:t>modules.</a:t>
            </a:r>
            <a:endParaRPr sz="3200" dirty="0">
              <a:latin typeface="Calibri"/>
              <a:cs typeface="Calibri"/>
            </a:endParaRPr>
          </a:p>
          <a:p>
            <a:pPr marL="473275" indent="-456342">
              <a:spcBef>
                <a:spcPts val="2440"/>
              </a:spcBef>
              <a:buFont typeface="Arial MT"/>
              <a:buChar char="•"/>
              <a:tabLst>
                <a:tab pos="473275" algn="l"/>
              </a:tabLst>
            </a:pPr>
            <a:r>
              <a:rPr sz="3600" dirty="0">
                <a:latin typeface="Calibri"/>
                <a:cs typeface="Calibri"/>
              </a:rPr>
              <a:t>Five</a:t>
            </a:r>
            <a:r>
              <a:rPr sz="3600" spc="-67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types</a:t>
            </a:r>
            <a:r>
              <a:rPr sz="3600" spc="-67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of</a:t>
            </a:r>
            <a:r>
              <a:rPr sz="3600" spc="-127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coupling</a:t>
            </a:r>
            <a:r>
              <a:rPr sz="3600" spc="-27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can</a:t>
            </a:r>
            <a:r>
              <a:rPr sz="3600" spc="-107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exist</a:t>
            </a:r>
            <a:r>
              <a:rPr sz="3600" spc="-53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between</a:t>
            </a:r>
            <a:r>
              <a:rPr sz="3600" spc="-107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any</a:t>
            </a:r>
            <a:r>
              <a:rPr sz="3600" spc="-87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two</a:t>
            </a:r>
            <a:r>
              <a:rPr sz="3600" spc="-120" dirty="0">
                <a:latin typeface="Calibri"/>
                <a:cs typeface="Calibri"/>
              </a:rPr>
              <a:t> </a:t>
            </a:r>
            <a:r>
              <a:rPr sz="3600" spc="-13" dirty="0">
                <a:latin typeface="Calibri"/>
                <a:cs typeface="Calibri"/>
              </a:rPr>
              <a:t>modules.</a:t>
            </a:r>
            <a:endParaRPr sz="36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22778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32348" y="312889"/>
            <a:ext cx="9088284" cy="696772"/>
          </a:xfrm>
          <a:prstGeom prst="rect">
            <a:avLst/>
          </a:prstGeom>
        </p:spPr>
        <p:txBody>
          <a:bodyPr vert="horz" wrap="square" lIns="0" tIns="19473" rIns="0" bIns="0" rtlCol="0" anchor="ctr">
            <a:spAutoFit/>
          </a:bodyPr>
          <a:lstStyle/>
          <a:p>
            <a:pPr marL="1507876">
              <a:lnSpc>
                <a:spcPct val="100000"/>
              </a:lnSpc>
              <a:spcBef>
                <a:spcPts val="153"/>
              </a:spcBef>
            </a:pPr>
            <a:r>
              <a:rPr dirty="0"/>
              <a:t>Classes</a:t>
            </a:r>
            <a:r>
              <a:rPr spc="-93" dirty="0"/>
              <a:t> </a:t>
            </a:r>
            <a:r>
              <a:rPr dirty="0"/>
              <a:t>of</a:t>
            </a:r>
            <a:r>
              <a:rPr spc="-13" dirty="0"/>
              <a:t> coupling</a:t>
            </a:r>
            <a:endParaRPr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431711" y="1597151"/>
          <a:ext cx="3754967" cy="36499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549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28133">
                <a:tc>
                  <a:txBody>
                    <a:bodyPr/>
                    <a:lstStyle/>
                    <a:p>
                      <a:pPr marL="56388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3600" b="1" spc="-20" dirty="0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data</a:t>
                      </a:r>
                      <a:endParaRPr sz="3600">
                        <a:latin typeface="Comic Sans MS"/>
                        <a:cs typeface="Comic Sans MS"/>
                      </a:endParaRPr>
                    </a:p>
                  </a:txBody>
                  <a:tcPr marL="0" marR="0" marT="38945" marB="0">
                    <a:lnL w="12700">
                      <a:solidFill>
                        <a:srgbClr val="003300"/>
                      </a:solidFill>
                      <a:prstDash val="solid"/>
                    </a:lnL>
                    <a:lnR w="12700">
                      <a:solidFill>
                        <a:srgbClr val="003300"/>
                      </a:solidFill>
                      <a:prstDash val="solid"/>
                    </a:lnR>
                    <a:lnT w="9525">
                      <a:solidFill>
                        <a:srgbClr val="003300"/>
                      </a:solidFill>
                      <a:prstDash val="solid"/>
                    </a:lnT>
                    <a:lnB w="19050">
                      <a:solidFill>
                        <a:srgbClr val="003300"/>
                      </a:solidFill>
                      <a:prstDash val="solid"/>
                    </a:lnB>
                    <a:solidFill>
                      <a:srgbClr val="99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563880">
                        <a:lnSpc>
                          <a:spcPts val="2775"/>
                        </a:lnSpc>
                      </a:pPr>
                      <a:r>
                        <a:rPr sz="3600" b="1" spc="-10" dirty="0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stamp</a:t>
                      </a:r>
                      <a:endParaRPr sz="360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2700">
                      <a:solidFill>
                        <a:srgbClr val="003300"/>
                      </a:solidFill>
                      <a:prstDash val="solid"/>
                    </a:lnL>
                    <a:lnR w="12700">
                      <a:solidFill>
                        <a:srgbClr val="003300"/>
                      </a:solidFill>
                      <a:prstDash val="solid"/>
                    </a:lnR>
                    <a:lnT w="19050">
                      <a:solidFill>
                        <a:srgbClr val="003300"/>
                      </a:solidFill>
                      <a:prstDash val="solid"/>
                    </a:lnT>
                    <a:lnB w="19050">
                      <a:solidFill>
                        <a:srgbClr val="003300"/>
                      </a:solidFill>
                      <a:prstDash val="solid"/>
                    </a:lnB>
                    <a:solidFill>
                      <a:srgbClr val="99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0673">
                <a:tc>
                  <a:txBody>
                    <a:bodyPr/>
                    <a:lstStyle/>
                    <a:p>
                      <a:pPr marL="563880">
                        <a:lnSpc>
                          <a:spcPts val="2780"/>
                        </a:lnSpc>
                      </a:pPr>
                      <a:r>
                        <a:rPr sz="3600" b="1" spc="-10" dirty="0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control</a:t>
                      </a:r>
                      <a:endParaRPr sz="3600" dirty="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2700">
                      <a:solidFill>
                        <a:srgbClr val="003300"/>
                      </a:solidFill>
                      <a:prstDash val="solid"/>
                    </a:lnL>
                    <a:lnR w="12700">
                      <a:solidFill>
                        <a:srgbClr val="003300"/>
                      </a:solidFill>
                      <a:prstDash val="solid"/>
                    </a:lnR>
                    <a:lnT w="19050">
                      <a:solidFill>
                        <a:srgbClr val="003300"/>
                      </a:solidFill>
                      <a:prstDash val="solid"/>
                    </a:lnT>
                    <a:lnB w="19050">
                      <a:solidFill>
                        <a:srgbClr val="003300"/>
                      </a:solidFill>
                      <a:prstDash val="solid"/>
                    </a:lnB>
                    <a:solidFill>
                      <a:srgbClr val="99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563880">
                        <a:lnSpc>
                          <a:spcPts val="2785"/>
                        </a:lnSpc>
                      </a:pPr>
                      <a:r>
                        <a:rPr sz="3600" b="1" spc="-10" dirty="0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common</a:t>
                      </a:r>
                      <a:endParaRPr sz="360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2700">
                      <a:solidFill>
                        <a:srgbClr val="003300"/>
                      </a:solidFill>
                      <a:prstDash val="solid"/>
                    </a:lnL>
                    <a:lnR w="12700">
                      <a:solidFill>
                        <a:srgbClr val="003300"/>
                      </a:solidFill>
                      <a:prstDash val="solid"/>
                    </a:lnR>
                    <a:lnT w="19050">
                      <a:solidFill>
                        <a:srgbClr val="003300"/>
                      </a:solidFill>
                      <a:prstDash val="solid"/>
                    </a:lnT>
                    <a:lnB w="19050">
                      <a:solidFill>
                        <a:srgbClr val="003300"/>
                      </a:solidFill>
                      <a:prstDash val="solid"/>
                    </a:lnB>
                    <a:solidFill>
                      <a:srgbClr val="99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8133">
                <a:tc>
                  <a:txBody>
                    <a:bodyPr/>
                    <a:lstStyle/>
                    <a:p>
                      <a:pPr marL="563880">
                        <a:lnSpc>
                          <a:spcPts val="2790"/>
                        </a:lnSpc>
                      </a:pPr>
                      <a:r>
                        <a:rPr sz="3600" b="1" spc="-10" dirty="0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content</a:t>
                      </a:r>
                      <a:endParaRPr sz="3600" dirty="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2700">
                      <a:solidFill>
                        <a:srgbClr val="003300"/>
                      </a:solidFill>
                      <a:prstDash val="solid"/>
                    </a:lnL>
                    <a:lnR w="12700">
                      <a:solidFill>
                        <a:srgbClr val="003300"/>
                      </a:solidFill>
                      <a:prstDash val="solid"/>
                    </a:lnR>
                    <a:lnT w="19050">
                      <a:solidFill>
                        <a:srgbClr val="003300"/>
                      </a:solidFill>
                      <a:prstDash val="solid"/>
                    </a:lnT>
                    <a:lnB w="9525">
                      <a:solidFill>
                        <a:srgbClr val="003300"/>
                      </a:solidFill>
                      <a:prstDash val="solid"/>
                    </a:lnB>
                    <a:solidFill>
                      <a:srgbClr val="99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6736079" y="1606296"/>
            <a:ext cx="396240" cy="3657600"/>
          </a:xfrm>
          <a:custGeom>
            <a:avLst/>
            <a:gdLst/>
            <a:ahLst/>
            <a:cxnLst/>
            <a:rect l="l" t="t" r="r" b="b"/>
            <a:pathLst>
              <a:path w="297179" h="2743200">
                <a:moveTo>
                  <a:pt x="118872" y="2446019"/>
                </a:moveTo>
                <a:lnTo>
                  <a:pt x="0" y="2446019"/>
                </a:lnTo>
                <a:lnTo>
                  <a:pt x="148589" y="2743200"/>
                </a:lnTo>
                <a:lnTo>
                  <a:pt x="282320" y="2475738"/>
                </a:lnTo>
                <a:lnTo>
                  <a:pt x="118872" y="2475738"/>
                </a:lnTo>
                <a:lnTo>
                  <a:pt x="118872" y="2446019"/>
                </a:lnTo>
                <a:close/>
              </a:path>
              <a:path w="297179" h="2743200">
                <a:moveTo>
                  <a:pt x="178307" y="0"/>
                </a:moveTo>
                <a:lnTo>
                  <a:pt x="118872" y="0"/>
                </a:lnTo>
                <a:lnTo>
                  <a:pt x="118872" y="2475738"/>
                </a:lnTo>
                <a:lnTo>
                  <a:pt x="178307" y="2475738"/>
                </a:lnTo>
                <a:lnTo>
                  <a:pt x="178307" y="0"/>
                </a:lnTo>
                <a:close/>
              </a:path>
              <a:path w="297179" h="2743200">
                <a:moveTo>
                  <a:pt x="297179" y="2446019"/>
                </a:moveTo>
                <a:lnTo>
                  <a:pt x="178307" y="2446019"/>
                </a:lnTo>
                <a:lnTo>
                  <a:pt x="178307" y="2475738"/>
                </a:lnTo>
                <a:lnTo>
                  <a:pt x="282320" y="2475738"/>
                </a:lnTo>
                <a:lnTo>
                  <a:pt x="297179" y="2446019"/>
                </a:lnTo>
                <a:close/>
              </a:path>
            </a:pathLst>
          </a:custGeom>
          <a:solidFill>
            <a:srgbClr val="FF66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 txBox="1"/>
          <p:nvPr/>
        </p:nvSpPr>
        <p:spPr>
          <a:xfrm>
            <a:off x="6932846" y="2799567"/>
            <a:ext cx="2015913" cy="1099618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 marR="6773">
              <a:lnSpc>
                <a:spcPct val="110100"/>
              </a:lnSpc>
              <a:spcBef>
                <a:spcPts val="127"/>
              </a:spcBef>
            </a:pPr>
            <a:r>
              <a:rPr sz="3200" b="1" dirty="0">
                <a:latin typeface="Comic Sans MS"/>
                <a:cs typeface="Comic Sans MS"/>
              </a:rPr>
              <a:t>Degree</a:t>
            </a:r>
            <a:r>
              <a:rPr sz="3200" b="1" spc="-87" dirty="0">
                <a:latin typeface="Comic Sans MS"/>
                <a:cs typeface="Comic Sans MS"/>
              </a:rPr>
              <a:t> </a:t>
            </a:r>
            <a:r>
              <a:rPr sz="3200" b="1" spc="-33" dirty="0">
                <a:latin typeface="Comic Sans MS"/>
                <a:cs typeface="Comic Sans MS"/>
              </a:rPr>
              <a:t>of </a:t>
            </a:r>
            <a:r>
              <a:rPr sz="3200" b="1" spc="-13" dirty="0">
                <a:latin typeface="Comic Sans MS"/>
                <a:cs typeface="Comic Sans MS"/>
              </a:rPr>
              <a:t>coupling</a:t>
            </a:r>
            <a:endParaRPr sz="320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1253025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4076" y="374509"/>
            <a:ext cx="10371679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953211">
              <a:lnSpc>
                <a:spcPct val="100000"/>
              </a:lnSpc>
              <a:spcBef>
                <a:spcPts val="133"/>
              </a:spcBef>
            </a:pPr>
            <a:r>
              <a:rPr dirty="0"/>
              <a:t>Data</a:t>
            </a:r>
            <a:r>
              <a:rPr spc="-187" dirty="0"/>
              <a:t> </a:t>
            </a:r>
            <a:r>
              <a:rPr spc="-13" dirty="0"/>
              <a:t>coupling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61560" y="1288316"/>
            <a:ext cx="7953587" cy="459100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473275" indent="-456342">
              <a:spcBef>
                <a:spcPts val="120"/>
              </a:spcBef>
              <a:buFont typeface="Arial MT"/>
              <a:buChar char="•"/>
              <a:tabLst>
                <a:tab pos="473275" algn="l"/>
              </a:tabLst>
            </a:pPr>
            <a:r>
              <a:rPr sz="4000" spc="-13" dirty="0">
                <a:latin typeface="Calibri"/>
                <a:cs typeface="Calibri"/>
              </a:rPr>
              <a:t>Two</a:t>
            </a:r>
            <a:r>
              <a:rPr sz="4000" spc="-93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modules</a:t>
            </a:r>
            <a:r>
              <a:rPr sz="4000" spc="-127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are</a:t>
            </a:r>
            <a:r>
              <a:rPr sz="4000" spc="-16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data</a:t>
            </a:r>
            <a:r>
              <a:rPr sz="4000" spc="-167" dirty="0">
                <a:latin typeface="Calibri"/>
                <a:cs typeface="Calibri"/>
              </a:rPr>
              <a:t> </a:t>
            </a:r>
            <a:r>
              <a:rPr sz="4000" spc="-13" dirty="0">
                <a:latin typeface="Calibri"/>
                <a:cs typeface="Calibri"/>
              </a:rPr>
              <a:t>coupled,</a:t>
            </a:r>
            <a:endParaRPr sz="4000" dirty="0">
              <a:latin typeface="Calibri"/>
              <a:cs typeface="Calibri"/>
            </a:endParaRPr>
          </a:p>
          <a:p>
            <a:pPr marL="1010048" lvl="1" indent="-383530">
              <a:spcBef>
                <a:spcPts val="2567"/>
              </a:spcBef>
              <a:buFont typeface="Arial MT"/>
              <a:buChar char="–"/>
              <a:tabLst>
                <a:tab pos="1010048" algn="l"/>
              </a:tabLst>
            </a:pPr>
            <a:r>
              <a:rPr sz="3600" dirty="0">
                <a:solidFill>
                  <a:srgbClr val="0000FF"/>
                </a:solidFill>
                <a:latin typeface="Calibri"/>
                <a:cs typeface="Calibri"/>
              </a:rPr>
              <a:t>if</a:t>
            </a:r>
            <a:r>
              <a:rPr sz="3600" spc="-7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000FF"/>
                </a:solidFill>
                <a:latin typeface="Calibri"/>
                <a:cs typeface="Calibri"/>
              </a:rPr>
              <a:t>they</a:t>
            </a:r>
            <a:r>
              <a:rPr sz="3600" spc="-67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600" spc="-13" dirty="0">
                <a:solidFill>
                  <a:srgbClr val="0000FF"/>
                </a:solidFill>
                <a:latin typeface="Calibri"/>
                <a:cs typeface="Calibri"/>
              </a:rPr>
              <a:t>communicate</a:t>
            </a:r>
            <a:r>
              <a:rPr sz="3600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000FF"/>
                </a:solidFill>
                <a:latin typeface="Calibri"/>
                <a:cs typeface="Calibri"/>
              </a:rPr>
              <a:t>via</a:t>
            </a:r>
            <a:r>
              <a:rPr sz="3600" spc="-67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000FF"/>
                </a:solidFill>
                <a:latin typeface="Calibri"/>
                <a:cs typeface="Calibri"/>
              </a:rPr>
              <a:t>a</a:t>
            </a:r>
            <a:r>
              <a:rPr sz="3600" spc="-67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600" spc="-13" dirty="0">
                <a:solidFill>
                  <a:srgbClr val="0000FF"/>
                </a:solidFill>
                <a:latin typeface="Calibri"/>
                <a:cs typeface="Calibri"/>
              </a:rPr>
              <a:t>parameter:</a:t>
            </a:r>
            <a:endParaRPr sz="3600" dirty="0">
              <a:latin typeface="Calibri"/>
              <a:cs typeface="Calibri"/>
            </a:endParaRPr>
          </a:p>
          <a:p>
            <a:pPr marL="1632333" lvl="2" indent="-396230">
              <a:spcBef>
                <a:spcPts val="2327"/>
              </a:spcBef>
              <a:buFont typeface="Arial MT"/>
              <a:buChar char="•"/>
              <a:tabLst>
                <a:tab pos="1632333" algn="l"/>
              </a:tabLst>
            </a:pPr>
            <a:r>
              <a:rPr sz="3200" dirty="0">
                <a:solidFill>
                  <a:srgbClr val="0000FF"/>
                </a:solidFill>
                <a:latin typeface="Calibri"/>
                <a:cs typeface="Calibri"/>
              </a:rPr>
              <a:t>an</a:t>
            </a:r>
            <a:r>
              <a:rPr sz="3200" spc="-13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00FF"/>
                </a:solidFill>
                <a:latin typeface="Calibri"/>
                <a:cs typeface="Calibri"/>
              </a:rPr>
              <a:t>elementary</a:t>
            </a:r>
            <a:r>
              <a:rPr sz="3200" spc="-67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00FF"/>
                </a:solidFill>
                <a:latin typeface="Calibri"/>
                <a:cs typeface="Calibri"/>
              </a:rPr>
              <a:t>data</a:t>
            </a:r>
            <a:r>
              <a:rPr sz="3200" spc="-127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spc="-27" dirty="0">
                <a:solidFill>
                  <a:srgbClr val="0000FF"/>
                </a:solidFill>
                <a:latin typeface="Calibri"/>
                <a:cs typeface="Calibri"/>
              </a:rPr>
              <a:t>item,</a:t>
            </a:r>
            <a:endParaRPr sz="3200" dirty="0">
              <a:latin typeface="Calibri"/>
              <a:cs typeface="Calibri"/>
            </a:endParaRPr>
          </a:p>
          <a:p>
            <a:pPr marL="1540048" lvl="2" indent="-303946">
              <a:spcBef>
                <a:spcPts val="2120"/>
              </a:spcBef>
              <a:buFont typeface="Arial MT"/>
              <a:buChar char="•"/>
              <a:tabLst>
                <a:tab pos="1540048" algn="l"/>
              </a:tabLst>
            </a:pPr>
            <a:r>
              <a:rPr sz="3200" dirty="0">
                <a:latin typeface="Calibri"/>
                <a:cs typeface="Calibri"/>
              </a:rPr>
              <a:t>e.g</a:t>
            </a:r>
            <a:r>
              <a:rPr sz="3200" spc="-87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</a:t>
            </a:r>
            <a:r>
              <a:rPr sz="3200" spc="-67" dirty="0">
                <a:latin typeface="Calibri"/>
                <a:cs typeface="Calibri"/>
              </a:rPr>
              <a:t> </a:t>
            </a:r>
            <a:r>
              <a:rPr sz="3200" spc="-40" dirty="0">
                <a:latin typeface="Calibri"/>
                <a:cs typeface="Calibri"/>
              </a:rPr>
              <a:t>integer,</a:t>
            </a:r>
            <a:r>
              <a:rPr sz="3200" spc="27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113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float,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40" dirty="0">
                <a:latin typeface="Calibri"/>
                <a:cs typeface="Calibri"/>
              </a:rPr>
              <a:t>character,</a:t>
            </a:r>
            <a:r>
              <a:rPr sz="3200" spc="-27" dirty="0">
                <a:latin typeface="Calibri"/>
                <a:cs typeface="Calibri"/>
              </a:rPr>
              <a:t> </a:t>
            </a:r>
            <a:r>
              <a:rPr sz="2000" spc="-27" dirty="0">
                <a:latin typeface="Calibri"/>
                <a:cs typeface="Calibri"/>
              </a:rPr>
              <a:t>etc.</a:t>
            </a:r>
            <a:endParaRPr sz="2000" dirty="0">
              <a:latin typeface="Calibri"/>
              <a:cs typeface="Calibri"/>
            </a:endParaRPr>
          </a:p>
          <a:p>
            <a:pPr marL="1010048" lvl="1" indent="-383530">
              <a:spcBef>
                <a:spcPts val="2120"/>
              </a:spcBef>
              <a:buFont typeface="Arial MT"/>
              <a:buChar char="–"/>
              <a:tabLst>
                <a:tab pos="1010048" algn="l"/>
              </a:tabLst>
            </a:pPr>
            <a:r>
              <a:rPr sz="3200" dirty="0">
                <a:latin typeface="Calibri"/>
                <a:cs typeface="Calibri"/>
              </a:rPr>
              <a:t>The</a:t>
            </a:r>
            <a:r>
              <a:rPr sz="3200" spc="-107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data</a:t>
            </a:r>
            <a:r>
              <a:rPr sz="3200" spc="-53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item</a:t>
            </a:r>
            <a:r>
              <a:rPr sz="3200" spc="-67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should</a:t>
            </a:r>
            <a:r>
              <a:rPr sz="3200" spc="-93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be</a:t>
            </a:r>
            <a:r>
              <a:rPr sz="3200" spc="-67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problem</a:t>
            </a:r>
            <a:r>
              <a:rPr sz="3200" spc="-67" dirty="0">
                <a:latin typeface="Calibri"/>
                <a:cs typeface="Calibri"/>
              </a:rPr>
              <a:t> </a:t>
            </a:r>
            <a:r>
              <a:rPr sz="3200" spc="-13" dirty="0">
                <a:latin typeface="Calibri"/>
                <a:cs typeface="Calibri"/>
              </a:rPr>
              <a:t>related:</a:t>
            </a:r>
            <a:endParaRPr sz="3200" dirty="0">
              <a:latin typeface="Calibri"/>
              <a:cs typeface="Calibri"/>
            </a:endParaRPr>
          </a:p>
          <a:p>
            <a:pPr marL="1540048" lvl="2" indent="-303946">
              <a:spcBef>
                <a:spcPts val="2113"/>
              </a:spcBef>
              <a:buFont typeface="Arial MT"/>
              <a:buChar char="•"/>
              <a:tabLst>
                <a:tab pos="1540048" algn="l"/>
              </a:tabLst>
            </a:pPr>
            <a:r>
              <a:rPr sz="3200" dirty="0">
                <a:latin typeface="Calibri"/>
                <a:cs typeface="Calibri"/>
              </a:rPr>
              <a:t>not</a:t>
            </a:r>
            <a:r>
              <a:rPr sz="3200" spc="-107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used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for</a:t>
            </a:r>
            <a:r>
              <a:rPr sz="3200" spc="-107" dirty="0">
                <a:latin typeface="Calibri"/>
                <a:cs typeface="Calibri"/>
              </a:rPr>
              <a:t> </a:t>
            </a:r>
            <a:r>
              <a:rPr sz="3200" spc="-13" dirty="0">
                <a:latin typeface="Calibri"/>
                <a:cs typeface="Calibri"/>
              </a:rPr>
              <a:t>control</a:t>
            </a:r>
            <a:r>
              <a:rPr sz="3200" spc="-27" dirty="0">
                <a:latin typeface="Calibri"/>
                <a:cs typeface="Calibri"/>
              </a:rPr>
              <a:t> </a:t>
            </a:r>
            <a:r>
              <a:rPr sz="3200" spc="-13" dirty="0">
                <a:latin typeface="Calibri"/>
                <a:cs typeface="Calibri"/>
              </a:rPr>
              <a:t>purpose.</a:t>
            </a:r>
            <a:endParaRPr sz="32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70084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1122" y="433502"/>
            <a:ext cx="10312401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733930">
              <a:lnSpc>
                <a:spcPct val="100000"/>
              </a:lnSpc>
              <a:spcBef>
                <a:spcPts val="133"/>
              </a:spcBef>
            </a:pPr>
            <a:r>
              <a:rPr dirty="0"/>
              <a:t>Stamp</a:t>
            </a:r>
            <a:r>
              <a:rPr spc="-47" dirty="0"/>
              <a:t> </a:t>
            </a:r>
            <a:r>
              <a:rPr spc="-13" dirty="0"/>
              <a:t>coupling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6786" y="1717645"/>
            <a:ext cx="10645140" cy="2825559"/>
          </a:xfrm>
          <a:prstGeom prst="rect">
            <a:avLst/>
          </a:prstGeom>
        </p:spPr>
        <p:txBody>
          <a:bodyPr vert="horz" wrap="square" lIns="0" tIns="19473" rIns="0" bIns="0" rtlCol="0">
            <a:spAutoFit/>
          </a:bodyPr>
          <a:lstStyle/>
          <a:p>
            <a:pPr marL="473275" indent="-456342">
              <a:spcBef>
                <a:spcPts val="153"/>
              </a:spcBef>
              <a:buFont typeface="Arial MT"/>
              <a:buChar char="•"/>
              <a:tabLst>
                <a:tab pos="473275" algn="l"/>
              </a:tabLst>
            </a:pPr>
            <a:r>
              <a:rPr sz="4400" spc="-13" dirty="0">
                <a:latin typeface="Calibri"/>
                <a:cs typeface="Calibri"/>
              </a:rPr>
              <a:t>Two</a:t>
            </a:r>
            <a:r>
              <a:rPr sz="4400" spc="-113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modules</a:t>
            </a:r>
            <a:r>
              <a:rPr sz="4400" spc="-173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are</a:t>
            </a:r>
            <a:r>
              <a:rPr sz="4400" spc="-120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stamp</a:t>
            </a:r>
            <a:r>
              <a:rPr sz="4400" spc="-180" dirty="0">
                <a:latin typeface="Calibri"/>
                <a:cs typeface="Calibri"/>
              </a:rPr>
              <a:t> </a:t>
            </a:r>
            <a:r>
              <a:rPr sz="4400" spc="-13" dirty="0">
                <a:latin typeface="Calibri"/>
                <a:cs typeface="Calibri"/>
              </a:rPr>
              <a:t>coupled,</a:t>
            </a:r>
            <a:endParaRPr sz="4400" dirty="0">
              <a:latin typeface="Calibri"/>
              <a:cs typeface="Calibri"/>
            </a:endParaRPr>
          </a:p>
          <a:p>
            <a:pPr marL="1010895" lvl="1" indent="-384377">
              <a:spcBef>
                <a:spcPts val="3573"/>
              </a:spcBef>
              <a:buFont typeface="Arial MT"/>
              <a:buChar char="–"/>
              <a:tabLst>
                <a:tab pos="1010895" algn="l"/>
              </a:tabLst>
            </a:pPr>
            <a:r>
              <a:rPr sz="4000" dirty="0">
                <a:solidFill>
                  <a:srgbClr val="0000FF"/>
                </a:solidFill>
                <a:latin typeface="Calibri"/>
                <a:cs typeface="Calibri"/>
              </a:rPr>
              <a:t>if</a:t>
            </a:r>
            <a:r>
              <a:rPr sz="4000" spc="-13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0000FF"/>
                </a:solidFill>
                <a:latin typeface="Calibri"/>
                <a:cs typeface="Calibri"/>
              </a:rPr>
              <a:t>they</a:t>
            </a:r>
            <a:r>
              <a:rPr sz="4000" spc="-9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spc="-13" dirty="0">
                <a:solidFill>
                  <a:srgbClr val="0000FF"/>
                </a:solidFill>
                <a:latin typeface="Calibri"/>
                <a:cs typeface="Calibri"/>
              </a:rPr>
              <a:t>communicate</a:t>
            </a:r>
            <a:r>
              <a:rPr sz="4000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0000FF"/>
                </a:solidFill>
                <a:latin typeface="Calibri"/>
                <a:cs typeface="Calibri"/>
              </a:rPr>
              <a:t>via</a:t>
            </a:r>
            <a:r>
              <a:rPr sz="4000" spc="-9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0000FF"/>
                </a:solidFill>
                <a:latin typeface="Calibri"/>
                <a:cs typeface="Calibri"/>
              </a:rPr>
              <a:t>a</a:t>
            </a:r>
            <a:r>
              <a:rPr sz="4000" spc="-10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0000FF"/>
                </a:solidFill>
                <a:latin typeface="Calibri"/>
                <a:cs typeface="Calibri"/>
              </a:rPr>
              <a:t>composite</a:t>
            </a:r>
            <a:r>
              <a:rPr sz="4000" spc="-3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0000FF"/>
                </a:solidFill>
                <a:latin typeface="Calibri"/>
                <a:cs typeface="Calibri"/>
              </a:rPr>
              <a:t>data</a:t>
            </a:r>
            <a:r>
              <a:rPr sz="4000" spc="-13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spc="-27" dirty="0">
                <a:solidFill>
                  <a:srgbClr val="0000FF"/>
                </a:solidFill>
                <a:latin typeface="Calibri"/>
                <a:cs typeface="Calibri"/>
              </a:rPr>
              <a:t>item</a:t>
            </a:r>
            <a:endParaRPr sz="4000" dirty="0">
              <a:latin typeface="Calibri"/>
              <a:cs typeface="Calibri"/>
            </a:endParaRPr>
          </a:p>
          <a:p>
            <a:pPr marL="1540048" lvl="2" indent="-303946">
              <a:spcBef>
                <a:spcPts val="3367"/>
              </a:spcBef>
              <a:buFont typeface="Arial MT"/>
              <a:buChar char="•"/>
              <a:tabLst>
                <a:tab pos="1540048" algn="l"/>
              </a:tabLst>
            </a:pPr>
            <a:r>
              <a:rPr sz="4000" dirty="0">
                <a:solidFill>
                  <a:srgbClr val="0000FF"/>
                </a:solidFill>
                <a:latin typeface="Calibri"/>
                <a:cs typeface="Calibri"/>
              </a:rPr>
              <a:t>or</a:t>
            </a:r>
            <a:r>
              <a:rPr sz="4000" spc="-9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0000FF"/>
                </a:solidFill>
                <a:latin typeface="Calibri"/>
                <a:cs typeface="Calibri"/>
              </a:rPr>
              <a:t>an</a:t>
            </a:r>
            <a:r>
              <a:rPr sz="4000" spc="-1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0000FF"/>
                </a:solidFill>
                <a:latin typeface="Calibri"/>
                <a:cs typeface="Calibri"/>
              </a:rPr>
              <a:t>array</a:t>
            </a:r>
            <a:r>
              <a:rPr sz="4000" spc="-3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0000FF"/>
                </a:solidFill>
                <a:latin typeface="Calibri"/>
                <a:cs typeface="Calibri"/>
              </a:rPr>
              <a:t>or</a:t>
            </a:r>
            <a:r>
              <a:rPr sz="4000" spc="-9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0000FF"/>
                </a:solidFill>
                <a:latin typeface="Calibri"/>
                <a:cs typeface="Calibri"/>
              </a:rPr>
              <a:t>structure</a:t>
            </a:r>
            <a:r>
              <a:rPr sz="4000" spc="-107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0000FF"/>
                </a:solidFill>
                <a:latin typeface="Calibri"/>
                <a:cs typeface="Calibri"/>
              </a:rPr>
              <a:t>in</a:t>
            </a:r>
            <a:r>
              <a:rPr sz="4000" spc="-8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spc="-33" dirty="0">
                <a:solidFill>
                  <a:srgbClr val="0000FF"/>
                </a:solidFill>
                <a:latin typeface="Calibri"/>
                <a:cs typeface="Calibri"/>
              </a:rPr>
              <a:t>C.</a:t>
            </a:r>
            <a:endParaRPr sz="4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77528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13819" y="369871"/>
            <a:ext cx="4207087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dirty="0"/>
              <a:t>Control</a:t>
            </a:r>
            <a:r>
              <a:rPr spc="-160" dirty="0"/>
              <a:t> </a:t>
            </a:r>
            <a:r>
              <a:rPr spc="-13" dirty="0"/>
              <a:t>coupling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7753" y="918099"/>
            <a:ext cx="9898379" cy="4202583"/>
          </a:xfrm>
          <a:prstGeom prst="rect">
            <a:avLst/>
          </a:prstGeom>
        </p:spPr>
        <p:txBody>
          <a:bodyPr vert="horz" wrap="square" lIns="0" tIns="318347" rIns="0" bIns="0" rtlCol="0">
            <a:spAutoFit/>
          </a:bodyPr>
          <a:lstStyle/>
          <a:p>
            <a:pPr marL="473275" indent="-456342">
              <a:spcBef>
                <a:spcPts val="2507"/>
              </a:spcBef>
              <a:buFont typeface="Arial MT"/>
              <a:buChar char="•"/>
              <a:tabLst>
                <a:tab pos="473275" algn="l"/>
              </a:tabLst>
            </a:pPr>
            <a:r>
              <a:rPr sz="4267" dirty="0">
                <a:latin typeface="Calibri"/>
                <a:cs typeface="Calibri"/>
              </a:rPr>
              <a:t>Data</a:t>
            </a:r>
            <a:r>
              <a:rPr sz="4267" spc="-93" dirty="0">
                <a:latin typeface="Calibri"/>
                <a:cs typeface="Calibri"/>
              </a:rPr>
              <a:t> </a:t>
            </a:r>
            <a:r>
              <a:rPr sz="4267" dirty="0">
                <a:latin typeface="Calibri"/>
                <a:cs typeface="Calibri"/>
              </a:rPr>
              <a:t>from</a:t>
            </a:r>
            <a:r>
              <a:rPr sz="4267" spc="-60" dirty="0">
                <a:latin typeface="Calibri"/>
                <a:cs typeface="Calibri"/>
              </a:rPr>
              <a:t> </a:t>
            </a:r>
            <a:r>
              <a:rPr sz="4267" dirty="0">
                <a:latin typeface="Calibri"/>
                <a:cs typeface="Calibri"/>
              </a:rPr>
              <a:t>one</a:t>
            </a:r>
            <a:r>
              <a:rPr sz="4267" spc="-80" dirty="0">
                <a:latin typeface="Calibri"/>
                <a:cs typeface="Calibri"/>
              </a:rPr>
              <a:t> </a:t>
            </a:r>
            <a:r>
              <a:rPr sz="4267" dirty="0">
                <a:latin typeface="Calibri"/>
                <a:cs typeface="Calibri"/>
              </a:rPr>
              <a:t>module</a:t>
            </a:r>
            <a:r>
              <a:rPr sz="4267" spc="-27" dirty="0">
                <a:latin typeface="Calibri"/>
                <a:cs typeface="Calibri"/>
              </a:rPr>
              <a:t> </a:t>
            </a:r>
            <a:r>
              <a:rPr sz="4267" dirty="0">
                <a:latin typeface="Calibri"/>
                <a:cs typeface="Calibri"/>
              </a:rPr>
              <a:t>is</a:t>
            </a:r>
            <a:r>
              <a:rPr sz="4267" spc="-60" dirty="0">
                <a:latin typeface="Calibri"/>
                <a:cs typeface="Calibri"/>
              </a:rPr>
              <a:t> </a:t>
            </a:r>
            <a:r>
              <a:rPr sz="4267" dirty="0">
                <a:latin typeface="Calibri"/>
                <a:cs typeface="Calibri"/>
              </a:rPr>
              <a:t>used</a:t>
            </a:r>
            <a:r>
              <a:rPr sz="4267" spc="-60" dirty="0">
                <a:latin typeface="Calibri"/>
                <a:cs typeface="Calibri"/>
              </a:rPr>
              <a:t> </a:t>
            </a:r>
            <a:r>
              <a:rPr sz="4267" dirty="0">
                <a:latin typeface="Calibri"/>
                <a:cs typeface="Calibri"/>
              </a:rPr>
              <a:t>to</a:t>
            </a:r>
            <a:r>
              <a:rPr sz="4267" spc="-60" dirty="0">
                <a:latin typeface="Calibri"/>
                <a:cs typeface="Calibri"/>
              </a:rPr>
              <a:t> </a:t>
            </a:r>
            <a:r>
              <a:rPr sz="4267" spc="-13" dirty="0">
                <a:latin typeface="Calibri"/>
                <a:cs typeface="Calibri"/>
              </a:rPr>
              <a:t>direct</a:t>
            </a:r>
            <a:endParaRPr sz="4267">
              <a:latin typeface="Calibri"/>
              <a:cs typeface="Calibri"/>
            </a:endParaRPr>
          </a:p>
          <a:p>
            <a:pPr marL="1009201" lvl="1" indent="-382684">
              <a:spcBef>
                <a:spcPts val="2093"/>
              </a:spcBef>
              <a:buFont typeface="Arial MT"/>
              <a:buChar char="–"/>
              <a:tabLst>
                <a:tab pos="1009201" algn="l"/>
              </a:tabLst>
            </a:pPr>
            <a:r>
              <a:rPr sz="3733" dirty="0">
                <a:solidFill>
                  <a:srgbClr val="0000FF"/>
                </a:solidFill>
                <a:latin typeface="Calibri"/>
                <a:cs typeface="Calibri"/>
              </a:rPr>
              <a:t>order</a:t>
            </a:r>
            <a:r>
              <a:rPr sz="3733" spc="-9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733" dirty="0">
                <a:solidFill>
                  <a:srgbClr val="0000FF"/>
                </a:solidFill>
                <a:latin typeface="Calibri"/>
                <a:cs typeface="Calibri"/>
              </a:rPr>
              <a:t>of</a:t>
            </a:r>
            <a:r>
              <a:rPr sz="3733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733" dirty="0">
                <a:solidFill>
                  <a:srgbClr val="0000FF"/>
                </a:solidFill>
                <a:latin typeface="Calibri"/>
                <a:cs typeface="Calibri"/>
              </a:rPr>
              <a:t>instruction</a:t>
            </a:r>
            <a:r>
              <a:rPr sz="3733" spc="-1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733" spc="-13" dirty="0">
                <a:solidFill>
                  <a:srgbClr val="0000FF"/>
                </a:solidFill>
                <a:latin typeface="Calibri"/>
                <a:cs typeface="Calibri"/>
              </a:rPr>
              <a:t>execution</a:t>
            </a:r>
            <a:r>
              <a:rPr sz="3733" spc="-127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733" dirty="0">
                <a:solidFill>
                  <a:srgbClr val="0000FF"/>
                </a:solidFill>
                <a:latin typeface="Calibri"/>
                <a:cs typeface="Calibri"/>
              </a:rPr>
              <a:t>in</a:t>
            </a:r>
            <a:r>
              <a:rPr sz="3733" spc="-3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733" spc="-13" dirty="0">
                <a:solidFill>
                  <a:srgbClr val="0000FF"/>
                </a:solidFill>
                <a:latin typeface="Calibri"/>
                <a:cs typeface="Calibri"/>
              </a:rPr>
              <a:t>another.</a:t>
            </a:r>
            <a:endParaRPr sz="3733">
              <a:latin typeface="Calibri"/>
              <a:cs typeface="Calibri"/>
            </a:endParaRPr>
          </a:p>
          <a:p>
            <a:pPr marL="473275" indent="-456342">
              <a:spcBef>
                <a:spcPts val="1907"/>
              </a:spcBef>
              <a:buFont typeface="Arial MT"/>
              <a:buChar char="•"/>
              <a:tabLst>
                <a:tab pos="473275" algn="l"/>
              </a:tabLst>
            </a:pPr>
            <a:r>
              <a:rPr sz="4267" dirty="0">
                <a:latin typeface="Calibri"/>
                <a:cs typeface="Calibri"/>
              </a:rPr>
              <a:t>Example</a:t>
            </a:r>
            <a:r>
              <a:rPr sz="4267" spc="-60" dirty="0">
                <a:latin typeface="Calibri"/>
                <a:cs typeface="Calibri"/>
              </a:rPr>
              <a:t> </a:t>
            </a:r>
            <a:r>
              <a:rPr sz="4267" dirty="0">
                <a:latin typeface="Calibri"/>
                <a:cs typeface="Calibri"/>
              </a:rPr>
              <a:t>of</a:t>
            </a:r>
            <a:r>
              <a:rPr sz="4267" spc="-73" dirty="0">
                <a:latin typeface="Calibri"/>
                <a:cs typeface="Calibri"/>
              </a:rPr>
              <a:t> </a:t>
            </a:r>
            <a:r>
              <a:rPr sz="4267" dirty="0">
                <a:latin typeface="Calibri"/>
                <a:cs typeface="Calibri"/>
              </a:rPr>
              <a:t>control</a:t>
            </a:r>
            <a:r>
              <a:rPr sz="4267" spc="-140" dirty="0">
                <a:latin typeface="Calibri"/>
                <a:cs typeface="Calibri"/>
              </a:rPr>
              <a:t> </a:t>
            </a:r>
            <a:r>
              <a:rPr sz="4267" spc="-13" dirty="0">
                <a:latin typeface="Calibri"/>
                <a:cs typeface="Calibri"/>
              </a:rPr>
              <a:t>coupling:</a:t>
            </a:r>
            <a:endParaRPr sz="4267">
              <a:latin typeface="Calibri"/>
              <a:cs typeface="Calibri"/>
            </a:endParaRPr>
          </a:p>
          <a:p>
            <a:pPr marL="1009201" marR="6773" lvl="1" indent="-382684">
              <a:lnSpc>
                <a:spcPct val="110500"/>
              </a:lnSpc>
              <a:spcBef>
                <a:spcPts val="1620"/>
              </a:spcBef>
              <a:buFont typeface="Arial MT"/>
              <a:buChar char="–"/>
              <a:tabLst>
                <a:tab pos="1010895" algn="l"/>
              </a:tabLst>
            </a:pPr>
            <a:r>
              <a:rPr sz="3733" dirty="0">
                <a:latin typeface="Calibri"/>
                <a:cs typeface="Calibri"/>
              </a:rPr>
              <a:t>a</a:t>
            </a:r>
            <a:r>
              <a:rPr sz="3733" spc="-33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flag</a:t>
            </a:r>
            <a:r>
              <a:rPr sz="3733" spc="-100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set</a:t>
            </a:r>
            <a:r>
              <a:rPr sz="3733" spc="-67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in</a:t>
            </a:r>
            <a:r>
              <a:rPr sz="3733" spc="-53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one</a:t>
            </a:r>
            <a:r>
              <a:rPr sz="3733" spc="-20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module</a:t>
            </a:r>
            <a:r>
              <a:rPr sz="3733" spc="-53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and</a:t>
            </a:r>
            <a:r>
              <a:rPr sz="3733" spc="-53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tested</a:t>
            </a:r>
            <a:r>
              <a:rPr sz="3733" spc="-60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in</a:t>
            </a:r>
            <a:r>
              <a:rPr sz="3733" spc="-7" dirty="0">
                <a:latin typeface="Calibri"/>
                <a:cs typeface="Calibri"/>
              </a:rPr>
              <a:t> </a:t>
            </a:r>
            <a:r>
              <a:rPr sz="3733" spc="-13" dirty="0">
                <a:latin typeface="Calibri"/>
                <a:cs typeface="Calibri"/>
              </a:rPr>
              <a:t>another 	module.</a:t>
            </a:r>
            <a:endParaRPr sz="3733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89184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17600" y="1023438"/>
            <a:ext cx="14020800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361406">
              <a:lnSpc>
                <a:spcPct val="100000"/>
              </a:lnSpc>
              <a:spcBef>
                <a:spcPts val="133"/>
              </a:spcBef>
            </a:pPr>
            <a:r>
              <a:rPr dirty="0"/>
              <a:t>Common</a:t>
            </a:r>
            <a:r>
              <a:rPr spc="-107" dirty="0"/>
              <a:t> </a:t>
            </a:r>
            <a:r>
              <a:rPr spc="-13" dirty="0"/>
              <a:t>Coupling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0955" y="1344494"/>
            <a:ext cx="9319260" cy="1952736"/>
          </a:xfrm>
          <a:prstGeom prst="rect">
            <a:avLst/>
          </a:prstGeom>
        </p:spPr>
        <p:txBody>
          <a:bodyPr vert="horz" wrap="square" lIns="0" tIns="298027" rIns="0" bIns="0" rtlCol="0">
            <a:spAutoFit/>
          </a:bodyPr>
          <a:lstStyle/>
          <a:p>
            <a:pPr marL="474121" indent="-457189">
              <a:spcBef>
                <a:spcPts val="2347"/>
              </a:spcBef>
              <a:buFont typeface="Arial MT"/>
              <a:buChar char="•"/>
              <a:tabLst>
                <a:tab pos="474121" algn="l"/>
              </a:tabLst>
            </a:pPr>
            <a:r>
              <a:rPr sz="4800" spc="-27" dirty="0">
                <a:latin typeface="Calibri"/>
                <a:cs typeface="Calibri"/>
              </a:rPr>
              <a:t>Two</a:t>
            </a:r>
            <a:r>
              <a:rPr sz="4800" spc="-100" dirty="0">
                <a:latin typeface="Calibri"/>
                <a:cs typeface="Calibri"/>
              </a:rPr>
              <a:t> </a:t>
            </a:r>
            <a:r>
              <a:rPr sz="4800" dirty="0">
                <a:latin typeface="Calibri"/>
                <a:cs typeface="Calibri"/>
              </a:rPr>
              <a:t>modules</a:t>
            </a:r>
            <a:r>
              <a:rPr sz="4800" spc="-160" dirty="0">
                <a:latin typeface="Calibri"/>
                <a:cs typeface="Calibri"/>
              </a:rPr>
              <a:t> </a:t>
            </a:r>
            <a:r>
              <a:rPr sz="4800" dirty="0">
                <a:latin typeface="Calibri"/>
                <a:cs typeface="Calibri"/>
              </a:rPr>
              <a:t>are</a:t>
            </a:r>
            <a:r>
              <a:rPr sz="4800" spc="-93" dirty="0">
                <a:latin typeface="Calibri"/>
                <a:cs typeface="Calibri"/>
              </a:rPr>
              <a:t> </a:t>
            </a:r>
            <a:r>
              <a:rPr sz="4800" dirty="0">
                <a:latin typeface="Calibri"/>
                <a:cs typeface="Calibri"/>
              </a:rPr>
              <a:t>common</a:t>
            </a:r>
            <a:r>
              <a:rPr sz="4800" spc="-93" dirty="0">
                <a:latin typeface="Calibri"/>
                <a:cs typeface="Calibri"/>
              </a:rPr>
              <a:t> </a:t>
            </a:r>
            <a:r>
              <a:rPr sz="4800" spc="-13" dirty="0">
                <a:latin typeface="Calibri"/>
                <a:cs typeface="Calibri"/>
              </a:rPr>
              <a:t>coupled,</a:t>
            </a:r>
            <a:endParaRPr sz="4800">
              <a:latin typeface="Calibri"/>
              <a:cs typeface="Calibri"/>
            </a:endParaRPr>
          </a:p>
          <a:p>
            <a:pPr marL="626518">
              <a:spcBef>
                <a:spcPts val="1980"/>
              </a:spcBef>
            </a:pPr>
            <a:r>
              <a:rPr sz="4267" dirty="0">
                <a:solidFill>
                  <a:srgbClr val="0000FF"/>
                </a:solidFill>
                <a:latin typeface="Arial MT"/>
                <a:cs typeface="Arial MT"/>
              </a:rPr>
              <a:t>–</a:t>
            </a:r>
            <a:r>
              <a:rPr sz="4267" spc="-54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4267" dirty="0">
                <a:solidFill>
                  <a:srgbClr val="0000FF"/>
                </a:solidFill>
                <a:latin typeface="Calibri"/>
                <a:cs typeface="Calibri"/>
              </a:rPr>
              <a:t>if</a:t>
            </a:r>
            <a:r>
              <a:rPr sz="4267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267" dirty="0">
                <a:solidFill>
                  <a:srgbClr val="0000FF"/>
                </a:solidFill>
                <a:latin typeface="Calibri"/>
                <a:cs typeface="Calibri"/>
              </a:rPr>
              <a:t>they</a:t>
            </a:r>
            <a:r>
              <a:rPr sz="4267" spc="-5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267" dirty="0">
                <a:solidFill>
                  <a:srgbClr val="0000FF"/>
                </a:solidFill>
                <a:latin typeface="Calibri"/>
                <a:cs typeface="Calibri"/>
              </a:rPr>
              <a:t>share</a:t>
            </a:r>
            <a:r>
              <a:rPr sz="4267" spc="-5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267" dirty="0">
                <a:solidFill>
                  <a:srgbClr val="0000FF"/>
                </a:solidFill>
                <a:latin typeface="Calibri"/>
                <a:cs typeface="Calibri"/>
              </a:rPr>
              <a:t>some</a:t>
            </a:r>
            <a:r>
              <a:rPr sz="4267" spc="-5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267" dirty="0">
                <a:solidFill>
                  <a:srgbClr val="0000FF"/>
                </a:solidFill>
                <a:latin typeface="Calibri"/>
                <a:cs typeface="Calibri"/>
              </a:rPr>
              <a:t>global</a:t>
            </a:r>
            <a:r>
              <a:rPr sz="4267" spc="-6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267" spc="-13" dirty="0">
                <a:solidFill>
                  <a:srgbClr val="0000FF"/>
                </a:solidFill>
                <a:latin typeface="Calibri"/>
                <a:cs typeface="Calibri"/>
              </a:rPr>
              <a:t>data.</a:t>
            </a:r>
            <a:endParaRPr sz="4267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41464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34570" y="369871"/>
            <a:ext cx="4360333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dirty="0"/>
              <a:t>Content</a:t>
            </a:r>
            <a:r>
              <a:rPr spc="-227" dirty="0"/>
              <a:t> </a:t>
            </a:r>
            <a:r>
              <a:rPr spc="-13" dirty="0"/>
              <a:t>coupling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6154" y="833640"/>
            <a:ext cx="11426613" cy="4458166"/>
          </a:xfrm>
          <a:prstGeom prst="rect">
            <a:avLst/>
          </a:prstGeom>
        </p:spPr>
        <p:txBody>
          <a:bodyPr vert="horz" wrap="square" lIns="0" tIns="325967" rIns="0" bIns="0" rtlCol="0">
            <a:spAutoFit/>
          </a:bodyPr>
          <a:lstStyle/>
          <a:p>
            <a:pPr marL="473275" indent="-456342">
              <a:spcBef>
                <a:spcPts val="2567"/>
              </a:spcBef>
              <a:buFont typeface="Arial MT"/>
              <a:buChar char="•"/>
              <a:tabLst>
                <a:tab pos="473275" algn="l"/>
              </a:tabLst>
            </a:pPr>
            <a:r>
              <a:rPr sz="3733" dirty="0">
                <a:latin typeface="Calibri"/>
                <a:cs typeface="Calibri"/>
              </a:rPr>
              <a:t>Content</a:t>
            </a:r>
            <a:r>
              <a:rPr sz="3733" spc="-133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coupling</a:t>
            </a:r>
            <a:r>
              <a:rPr sz="3733" spc="-93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exists</a:t>
            </a:r>
            <a:r>
              <a:rPr sz="3733" spc="-140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between</a:t>
            </a:r>
            <a:r>
              <a:rPr sz="3733" spc="-152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two</a:t>
            </a:r>
            <a:r>
              <a:rPr sz="3733" spc="-107" dirty="0">
                <a:latin typeface="Calibri"/>
                <a:cs typeface="Calibri"/>
              </a:rPr>
              <a:t> </a:t>
            </a:r>
            <a:r>
              <a:rPr sz="3733" spc="-13" dirty="0">
                <a:latin typeface="Calibri"/>
                <a:cs typeface="Calibri"/>
              </a:rPr>
              <a:t>modules:</a:t>
            </a:r>
            <a:endParaRPr sz="3733">
              <a:latin typeface="Calibri"/>
              <a:cs typeface="Calibri"/>
            </a:endParaRPr>
          </a:p>
          <a:p>
            <a:pPr marL="1009201" lvl="1" indent="-382684">
              <a:spcBef>
                <a:spcPts val="2440"/>
              </a:spcBef>
              <a:buFont typeface="Arial MT"/>
              <a:buChar char="–"/>
              <a:tabLst>
                <a:tab pos="1009201" algn="l"/>
                <a:tab pos="1479090" algn="l"/>
              </a:tabLst>
            </a:pPr>
            <a:r>
              <a:rPr sz="3733" spc="-33" dirty="0">
                <a:solidFill>
                  <a:srgbClr val="0000FF"/>
                </a:solidFill>
                <a:latin typeface="Calibri"/>
                <a:cs typeface="Calibri"/>
              </a:rPr>
              <a:t>if</a:t>
            </a:r>
            <a:r>
              <a:rPr sz="3733" dirty="0">
                <a:solidFill>
                  <a:srgbClr val="0000FF"/>
                </a:solidFill>
                <a:latin typeface="Calibri"/>
                <a:cs typeface="Calibri"/>
              </a:rPr>
              <a:t>	they</a:t>
            </a:r>
            <a:r>
              <a:rPr sz="3733" spc="-9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733" dirty="0">
                <a:solidFill>
                  <a:srgbClr val="0000FF"/>
                </a:solidFill>
                <a:latin typeface="Calibri"/>
                <a:cs typeface="Calibri"/>
              </a:rPr>
              <a:t>share</a:t>
            </a:r>
            <a:r>
              <a:rPr sz="3733" spc="-67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733" spc="-13" dirty="0">
                <a:solidFill>
                  <a:srgbClr val="0000FF"/>
                </a:solidFill>
                <a:latin typeface="Calibri"/>
                <a:cs typeface="Calibri"/>
              </a:rPr>
              <a:t>code,</a:t>
            </a:r>
            <a:endParaRPr sz="3733">
              <a:latin typeface="Calibri"/>
              <a:cs typeface="Calibri"/>
            </a:endParaRPr>
          </a:p>
          <a:p>
            <a:pPr marL="1009201" lvl="1" indent="-382684">
              <a:spcBef>
                <a:spcPts val="2485"/>
              </a:spcBef>
              <a:buFont typeface="Arial MT"/>
              <a:buChar char="–"/>
              <a:tabLst>
                <a:tab pos="1009201" algn="l"/>
              </a:tabLst>
            </a:pPr>
            <a:r>
              <a:rPr sz="3733" dirty="0">
                <a:latin typeface="Calibri"/>
                <a:cs typeface="Calibri"/>
              </a:rPr>
              <a:t>e.g,</a:t>
            </a:r>
            <a:r>
              <a:rPr sz="3733" spc="-100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branching</a:t>
            </a:r>
            <a:r>
              <a:rPr sz="3733" spc="-60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from</a:t>
            </a:r>
            <a:r>
              <a:rPr sz="3733" spc="-87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one</a:t>
            </a:r>
            <a:r>
              <a:rPr sz="3733" spc="-20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module</a:t>
            </a:r>
            <a:r>
              <a:rPr sz="3733" spc="-60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into</a:t>
            </a:r>
            <a:r>
              <a:rPr sz="3733" spc="-73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another</a:t>
            </a:r>
            <a:r>
              <a:rPr sz="3733" spc="-27" dirty="0">
                <a:latin typeface="Calibri"/>
                <a:cs typeface="Calibri"/>
              </a:rPr>
              <a:t> </a:t>
            </a:r>
            <a:r>
              <a:rPr sz="3733" spc="-13" dirty="0">
                <a:latin typeface="Calibri"/>
                <a:cs typeface="Calibri"/>
              </a:rPr>
              <a:t>module.</a:t>
            </a:r>
            <a:endParaRPr sz="3733">
              <a:latin typeface="Calibri"/>
              <a:cs typeface="Calibri"/>
            </a:endParaRPr>
          </a:p>
          <a:p>
            <a:pPr marL="473275" indent="-456342">
              <a:spcBef>
                <a:spcPts val="2485"/>
              </a:spcBef>
              <a:buFont typeface="Arial MT"/>
              <a:buChar char="•"/>
              <a:tabLst>
                <a:tab pos="473275" algn="l"/>
              </a:tabLst>
            </a:pPr>
            <a:r>
              <a:rPr sz="3733" dirty="0">
                <a:latin typeface="Calibri"/>
                <a:cs typeface="Calibri"/>
              </a:rPr>
              <a:t>The</a:t>
            </a:r>
            <a:r>
              <a:rPr sz="3733" spc="-73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degree</a:t>
            </a:r>
            <a:r>
              <a:rPr sz="3733" spc="-87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of</a:t>
            </a:r>
            <a:r>
              <a:rPr sz="3733" spc="-60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coupling</a:t>
            </a:r>
            <a:r>
              <a:rPr sz="3733" spc="-53" dirty="0">
                <a:latin typeface="Calibri"/>
                <a:cs typeface="Calibri"/>
              </a:rPr>
              <a:t> </a:t>
            </a:r>
            <a:r>
              <a:rPr sz="3733" spc="-13" dirty="0">
                <a:latin typeface="Calibri"/>
                <a:cs typeface="Calibri"/>
              </a:rPr>
              <a:t>increases</a:t>
            </a:r>
            <a:endParaRPr sz="3733">
              <a:latin typeface="Calibri"/>
              <a:cs typeface="Calibri"/>
            </a:endParaRPr>
          </a:p>
          <a:p>
            <a:pPr marL="1009201" lvl="1" indent="-382684">
              <a:spcBef>
                <a:spcPts val="2440"/>
              </a:spcBef>
              <a:buFont typeface="Arial MT"/>
              <a:buChar char="–"/>
              <a:tabLst>
                <a:tab pos="1009201" algn="l"/>
              </a:tabLst>
            </a:pPr>
            <a:r>
              <a:rPr sz="3733" dirty="0">
                <a:latin typeface="Calibri"/>
                <a:cs typeface="Calibri"/>
              </a:rPr>
              <a:t>from</a:t>
            </a:r>
            <a:r>
              <a:rPr sz="3733" spc="-167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data</a:t>
            </a:r>
            <a:r>
              <a:rPr sz="3733" spc="-73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coupling</a:t>
            </a:r>
            <a:r>
              <a:rPr sz="3733" spc="-160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to</a:t>
            </a:r>
            <a:r>
              <a:rPr sz="3733" spc="-107" dirty="0">
                <a:latin typeface="Calibri"/>
                <a:cs typeface="Calibri"/>
              </a:rPr>
              <a:t> </a:t>
            </a:r>
            <a:r>
              <a:rPr sz="3733" dirty="0">
                <a:latin typeface="Calibri"/>
                <a:cs typeface="Calibri"/>
              </a:rPr>
              <a:t>content</a:t>
            </a:r>
            <a:r>
              <a:rPr sz="3733" spc="-53" dirty="0">
                <a:latin typeface="Calibri"/>
                <a:cs typeface="Calibri"/>
              </a:rPr>
              <a:t> </a:t>
            </a:r>
            <a:r>
              <a:rPr sz="3733" spc="-13" dirty="0">
                <a:latin typeface="Calibri"/>
                <a:cs typeface="Calibri"/>
              </a:rPr>
              <a:t>coupling.</a:t>
            </a:r>
            <a:endParaRPr sz="3733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26067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Software Design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Software design model consists of 4 designs:</a:t>
            </a:r>
          </a:p>
          <a:p>
            <a:pPr lvl="1"/>
            <a:r>
              <a:rPr lang="en-US" altLang="en-US"/>
              <a:t>Data/class Design</a:t>
            </a:r>
          </a:p>
          <a:p>
            <a:pPr lvl="1"/>
            <a:r>
              <a:rPr lang="en-US" altLang="en-US"/>
              <a:t>Architectural Design</a:t>
            </a:r>
          </a:p>
          <a:p>
            <a:pPr lvl="1"/>
            <a:r>
              <a:rPr lang="en-US" altLang="en-US"/>
              <a:t>Interface Design</a:t>
            </a:r>
          </a:p>
          <a:p>
            <a:pPr lvl="1"/>
            <a:r>
              <a:rPr lang="en-US" altLang="en-US"/>
              <a:t>Component Design</a:t>
            </a:r>
          </a:p>
        </p:txBody>
      </p:sp>
    </p:spTree>
    <p:extLst>
      <p:ext uri="{BB962C8B-B14F-4D97-AF65-F5344CB8AC3E}">
        <p14:creationId xmlns:p14="http://schemas.microsoft.com/office/powerpoint/2010/main" val="901732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Content Placeholder 4" descr="Analysis_Design"/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52600" y="1524000"/>
            <a:ext cx="8610600" cy="5181600"/>
          </a:xfrm>
          <a:noFill/>
        </p:spPr>
      </p:pic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2098675" y="304801"/>
            <a:ext cx="8001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Translating Analysis </a:t>
            </a:r>
            <a:r>
              <a:rPr lang="en-US" altLang="en-US">
                <a:sym typeface="Wingdings" panose="05000000000000000000" pitchFamily="2" charset="2"/>
              </a:rPr>
              <a:t> Design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5504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737419"/>
            <a:ext cx="10515600" cy="5439544"/>
          </a:xfrm>
        </p:spPr>
        <p:txBody>
          <a:bodyPr>
            <a:normAutofit/>
          </a:bodyPr>
          <a:lstStyle/>
          <a:p>
            <a:pPr algn="just">
              <a:lnSpc>
                <a:spcPct val="90000"/>
              </a:lnSpc>
              <a:spcAft>
                <a:spcPct val="20000"/>
              </a:spcAft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Data/class design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Created by transforming the analysis model class-based elements into classes and data structures required to implement the software </a:t>
            </a:r>
          </a:p>
          <a:p>
            <a:pPr algn="just">
              <a:lnSpc>
                <a:spcPct val="90000"/>
              </a:lnSpc>
              <a:spcAft>
                <a:spcPct val="20000"/>
              </a:spcAft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Architectural design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defines the relationships among the major structural elements of the software, it is derived from the class-based elements and flow-oriented elements of the analysis model</a:t>
            </a:r>
          </a:p>
          <a:p>
            <a:pPr algn="just">
              <a:lnSpc>
                <a:spcPct val="90000"/>
              </a:lnSpc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design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describes how the software elements, hardware elements, and end-users communicate with one another, it is derived from the analysis model scenario-based elements, flow-oriented elements, and behavioral elements</a:t>
            </a:r>
          </a:p>
          <a:p>
            <a:pPr algn="just">
              <a:lnSpc>
                <a:spcPct val="90000"/>
              </a:lnSpc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Component-level design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created by transforming the structural elements defined by the software architecture into a procedural description of the software components using information obtained from the analysis model class-based elements, flow-oriented elements, and behavioral elements</a:t>
            </a:r>
          </a:p>
        </p:txBody>
      </p:sp>
    </p:spTree>
    <p:extLst>
      <p:ext uri="{BB962C8B-B14F-4D97-AF65-F5344CB8AC3E}">
        <p14:creationId xmlns:p14="http://schemas.microsoft.com/office/powerpoint/2010/main" val="554867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2603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72700-31C1-F6E4-4BF3-668D250F4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65987F-1D74-4646-DC9C-9088DD888B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62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05C7683-34CE-BE62-BCAF-70C3F16F0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622" y="673962"/>
            <a:ext cx="3706907" cy="664682"/>
          </a:xfrm>
        </p:spPr>
        <p:txBody>
          <a:bodyPr>
            <a:no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4800" i="0" u="none" strike="noStrike" dirty="0">
                <a:solidFill>
                  <a:srgbClr val="A32837"/>
                </a:solidFill>
                <a:effectLst/>
              </a:rPr>
              <a:t>Thank You!</a:t>
            </a:r>
            <a:endParaRPr lang="en-US" sz="48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F718C2-37F5-1210-38ED-D70A376E8BE5}"/>
              </a:ext>
            </a:extLst>
          </p:cNvPr>
          <p:cNvCxnSpPr>
            <a:cxnSpLocks/>
          </p:cNvCxnSpPr>
          <p:nvPr/>
        </p:nvCxnSpPr>
        <p:spPr>
          <a:xfrm>
            <a:off x="838200" y="1495245"/>
            <a:ext cx="3498011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713CB39-7A1C-41DE-AC01-301A5E16497D}"/>
              </a:ext>
            </a:extLst>
          </p:cNvPr>
          <p:cNvCxnSpPr>
            <a:cxnSpLocks/>
          </p:cNvCxnSpPr>
          <p:nvPr/>
        </p:nvCxnSpPr>
        <p:spPr>
          <a:xfrm>
            <a:off x="4312307" y="1495245"/>
            <a:ext cx="2760262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DA488-75F2-9186-1D02-A747C47DB0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+mj-lt"/>
              </a:rPr>
              <a:t>For any query/suggestions pls mail us at </a:t>
            </a:r>
            <a:endParaRPr lang="en-US" sz="3200" b="0" dirty="0">
              <a:effectLst/>
              <a:latin typeface="+mj-lt"/>
            </a:endParaRPr>
          </a:p>
          <a:p>
            <a:pPr mar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sng" strike="noStrike" dirty="0">
                <a:solidFill>
                  <a:srgbClr val="000000"/>
                </a:solidFill>
                <a:effectLst/>
                <a:latin typeface="+mj-lt"/>
                <a:hlinkClick r:id="rId2"/>
              </a:rPr>
              <a:t>suggestions@medicaps.ac.in</a:t>
            </a:r>
            <a:endParaRPr lang="en-US" sz="3200" b="0" dirty="0">
              <a:effectLst/>
              <a:latin typeface="+mj-lt"/>
            </a:endParaRPr>
          </a:p>
          <a:p>
            <a:pPr marL="0" indent="0">
              <a:buNone/>
            </a:pPr>
            <a:r>
              <a:rPr lang="en-US" sz="4000" dirty="0">
                <a:latin typeface="+mj-lt"/>
              </a:rPr>
              <a:t/>
            </a:r>
            <a:br>
              <a:rPr lang="en-US" sz="4000" dirty="0">
                <a:latin typeface="+mj-lt"/>
              </a:rPr>
            </a:br>
            <a:endParaRPr lang="en-US" sz="4000" dirty="0">
              <a:latin typeface="+mj-lt"/>
            </a:endParaRPr>
          </a:p>
          <a:p>
            <a:pPr marL="0" indent="0">
              <a:buNone/>
            </a:pPr>
            <a:endParaRPr lang="en-US" sz="2500" dirty="0"/>
          </a:p>
          <a:p>
            <a:pPr marL="0" indent="0">
              <a:buNone/>
            </a:pPr>
            <a:endParaRPr lang="en-US" sz="2500" dirty="0"/>
          </a:p>
          <a:p>
            <a:pPr marL="0" indent="0">
              <a:buNone/>
            </a:pPr>
            <a:endParaRPr lang="en-US" sz="2500" dirty="0"/>
          </a:p>
          <a:p>
            <a:pPr marL="0" indent="0">
              <a:buNone/>
            </a:pP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1243924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PT template (1)">
  <a:themeElements>
    <a:clrScheme name="Custom 5">
      <a:dk1>
        <a:srgbClr val="000000"/>
      </a:dk1>
      <a:lt1>
        <a:sysClr val="window" lastClr="FFFFFF"/>
      </a:lt1>
      <a:dk2>
        <a:srgbClr val="293786"/>
      </a:dk2>
      <a:lt2>
        <a:srgbClr val="A21D2E"/>
      </a:lt2>
      <a:accent1>
        <a:srgbClr val="A6AFE4"/>
      </a:accent1>
      <a:accent2>
        <a:srgbClr val="F4BEC4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edicaps">
      <a:majorFont>
        <a:latin typeface="Metropolis Semi Bold"/>
        <a:ea typeface=""/>
        <a:cs typeface=""/>
      </a:majorFont>
      <a:minorFont>
        <a:latin typeface="Metropoli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 template" id="{617A8B78-F622-4C57-A45F-FE0E80141807}" vid="{1E4079A0-7BD4-493D-B6C3-8779881B8C2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 template (1)</Template>
  <TotalTime>1207</TotalTime>
  <Words>2168</Words>
  <Application>Microsoft Office PowerPoint</Application>
  <PresentationFormat>Widescreen</PresentationFormat>
  <Paragraphs>354</Paragraphs>
  <Slides>62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72" baseType="lpstr">
      <vt:lpstr>Arial</vt:lpstr>
      <vt:lpstr>Arial MT</vt:lpstr>
      <vt:lpstr>Calibri</vt:lpstr>
      <vt:lpstr>Comic Sans MS</vt:lpstr>
      <vt:lpstr>Metropolis</vt:lpstr>
      <vt:lpstr>Metropolis Semi Bold</vt:lpstr>
      <vt:lpstr>Times New Roman</vt:lpstr>
      <vt:lpstr>Wingdings</vt:lpstr>
      <vt:lpstr>Zilla Slab</vt:lpstr>
      <vt:lpstr>PPT template (1)</vt:lpstr>
      <vt:lpstr>Unit-3</vt:lpstr>
      <vt:lpstr>Contents</vt:lpstr>
      <vt:lpstr>What is Achieved during design phase?</vt:lpstr>
      <vt:lpstr>Items Designed During Design Phase</vt:lpstr>
      <vt:lpstr>Design Principles</vt:lpstr>
      <vt:lpstr>Design Principles</vt:lpstr>
      <vt:lpstr>Design Principles</vt:lpstr>
      <vt:lpstr>Module</vt:lpstr>
      <vt:lpstr>Module Structure</vt:lpstr>
      <vt:lpstr>Iterative Nature of Design</vt:lpstr>
      <vt:lpstr>Stages in Design</vt:lpstr>
      <vt:lpstr>High-level design</vt:lpstr>
      <vt:lpstr>PowerPoint Presentation</vt:lpstr>
      <vt:lpstr>High-level Design</vt:lpstr>
      <vt:lpstr>Detailed design</vt:lpstr>
      <vt:lpstr>A fundamental question</vt:lpstr>
      <vt:lpstr>Good and bad designs</vt:lpstr>
      <vt:lpstr>What Is a Good Software Design?</vt:lpstr>
      <vt:lpstr>What Is Good Software Design?</vt:lpstr>
      <vt:lpstr>What Is a Good Software Design?</vt:lpstr>
      <vt:lpstr>Design concepts</vt:lpstr>
      <vt:lpstr>How to Improve Understandability?</vt:lpstr>
      <vt:lpstr>Modularity</vt:lpstr>
      <vt:lpstr>Modularity</vt:lpstr>
      <vt:lpstr>Layering</vt:lpstr>
      <vt:lpstr>PowerPoint Presentation</vt:lpstr>
      <vt:lpstr>Modularity</vt:lpstr>
      <vt:lpstr>Modularity</vt:lpstr>
      <vt:lpstr>Coupling: Degree of dependence among components</vt:lpstr>
      <vt:lpstr>Cohesion and Coupling</vt:lpstr>
      <vt:lpstr>Cohesion and Coupling</vt:lpstr>
      <vt:lpstr>Advantages of Functional Independence</vt:lpstr>
      <vt:lpstr>PowerPoint Presentation</vt:lpstr>
      <vt:lpstr>PowerPoint Presentation</vt:lpstr>
      <vt:lpstr>Measuring Functional Independence</vt:lpstr>
      <vt:lpstr>Classification of Cohesiveness</vt:lpstr>
      <vt:lpstr>PowerPoint Presentation</vt:lpstr>
      <vt:lpstr>Coincidental cohesion</vt:lpstr>
      <vt:lpstr>Coincidental Cohesion - example</vt:lpstr>
      <vt:lpstr>Logical cohesion</vt:lpstr>
      <vt:lpstr>Logical Cohesion</vt:lpstr>
      <vt:lpstr>Temporal cohesion</vt:lpstr>
      <vt:lpstr>init() {</vt:lpstr>
      <vt:lpstr>Procedural cohesion</vt:lpstr>
      <vt:lpstr>Communicational cohesion</vt:lpstr>
      <vt:lpstr>Communicational Cohesion</vt:lpstr>
      <vt:lpstr>Sequential cohesion</vt:lpstr>
      <vt:lpstr>Functional cohesion</vt:lpstr>
      <vt:lpstr>Write down a sentence to describe the function of the</vt:lpstr>
      <vt:lpstr>Coupling</vt:lpstr>
      <vt:lpstr>Coupling</vt:lpstr>
      <vt:lpstr>Classes of coupling</vt:lpstr>
      <vt:lpstr>Data coupling</vt:lpstr>
      <vt:lpstr>Stamp coupling</vt:lpstr>
      <vt:lpstr>Control coupling</vt:lpstr>
      <vt:lpstr>Common Coupling</vt:lpstr>
      <vt:lpstr>Content coupling</vt:lpstr>
      <vt:lpstr>Software Design</vt:lpstr>
      <vt:lpstr>PowerPoint Presentation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the Literature Review</dc:title>
  <dc:creator>as</dc:creator>
  <cp:lastModifiedBy>Sachin</cp:lastModifiedBy>
  <cp:revision>95</cp:revision>
  <dcterms:created xsi:type="dcterms:W3CDTF">2025-05-22T11:03:37Z</dcterms:created>
  <dcterms:modified xsi:type="dcterms:W3CDTF">2025-10-15T06:20:10Z</dcterms:modified>
</cp:coreProperties>
</file>